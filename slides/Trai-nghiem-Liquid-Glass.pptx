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 dirty="0"/>
              <a:t>LÀM</a:t>
            </a:r>
          </a:p>
          <a:p>
            <a:r>
              <a:rPr lang="vi-VN" dirty="0"/>
              <a:t>• Cắm iPhone, bật mirroring và Focus.</a:t>
            </a:r>
          </a:p>
          <a:p>
            <a:r>
              <a:rPr lang="vi-VN" dirty="0"/>
              <a:t>• Mở LiquidGlassAdvanced, Xcode chia đôi màn hình.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 dirty="0"/>
              <a:t>0:00</a:t>
            </a:r>
          </a:p>
          <a:p>
            <a:endParaRPr lang="vi-VN" dirty="0"/>
          </a:p>
          <a:p>
            <a:r>
              <a:rPr lang="vi-VN" dirty="0"/>
              <a:t>NÓI</a:t>
            </a:r>
          </a:p>
          <a:p>
            <a:r>
              <a:rPr lang="vi-VN" dirty="0"/>
              <a:t>• Bài đi lần lượt 4 level, mỗi level thêm một lớp phản hồi.</a:t>
            </a:r>
          </a:p>
          <a:p>
            <a:r>
              <a:rPr lang="vi-VN" dirty="0"/>
              <a:t>• Mỗi slide có khoá demo ở góc phải: mở app bằng -demo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 dirty="0"/>
              <a:t>0:30</a:t>
            </a:r>
          </a:p>
          <a:p>
            <a:endParaRPr lang="vi-VN" dirty="0"/>
          </a:p>
          <a:p>
            <a:r>
              <a:rPr lang="vi-VN" dirty="0"/>
              <a:t>NÓI</a:t>
            </a:r>
          </a:p>
          <a:p>
            <a:r>
              <a:rPr lang="vi-VN" dirty="0"/>
              <a:t>• Level 1: mỗi lần chạm phải có phản hồi nhìn thấy và cảm nhận được.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 dirty="0"/>
              <a:t>1:00–5:00 · Demo 1</a:t>
            </a:r>
          </a:p>
          <a:p>
            <a:endParaRPr lang="vi-VN" dirty="0"/>
          </a:p>
          <a:p>
            <a:r>
              <a:rPr lang="vi-VN" dirty="0"/>
              <a:t>NÓI</a:t>
            </a:r>
          </a:p>
          <a:p>
            <a:r>
              <a:rPr lang="vi-VN" dirty="0"/>
              <a:t>• .buttonStyle(.glass) có sẵn highlight. View tự vẽ cần .glassEffect(.regular.interactive()).</a:t>
            </a:r>
          </a:p>
          <a:p>
            <a:r>
              <a:rPr lang="vi-VN" dirty="0"/>
              <a:t>• sensoryFeedback phát khi giá trị trigger đổi, không phát theo cử chỉ.</a:t>
            </a:r>
          </a:p>
          <a:p>
            <a:endParaRPr lang="vi-VN" dirty="0"/>
          </a:p>
          <a:p>
            <a:r>
              <a:rPr lang="vi-VN" dirty="0"/>
              <a:t>LÀM</a:t>
            </a:r>
          </a:p>
          <a:p>
            <a:r>
              <a:rPr lang="vi-VN" dirty="0"/>
              <a:t>• Bật/tắt .interactive(), đổi loại haptic.</a:t>
            </a:r>
          </a:p>
          <a:p>
            <a:r>
              <a:rPr lang="vi-VN" dirty="0"/>
              <a:t>• Tắt “Chạm thì đổi trigger”: vẫn highlight nhưng mất haptic.</a:t>
            </a:r>
          </a:p>
          <a:p>
            <a:endParaRPr lang="vi-VN" dirty="0"/>
          </a:p>
          <a:p>
            <a:r>
              <a:rPr lang="vi-VN" dirty="0"/>
              <a:t>BẪY</a:t>
            </a:r>
          </a:p>
          <a:p>
            <a:r>
              <a:rPr lang="vi-VN" dirty="0"/>
              <a:t>• Haptic không chạy trên simulator.</a:t>
            </a:r>
          </a:p>
          <a:p>
            <a:endParaRPr lang="vi-VN" dirty="0"/>
          </a:p>
          <a:p>
            <a:r>
              <a:rPr lang="vi-VN" dirty="0"/>
              <a:t>XCODE</a:t>
            </a:r>
          </a:p>
          <a:p>
            <a:r>
              <a:rPr lang="vi-VN" dirty="0"/>
              <a:t>TouchFeedbackDemo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 dirty="0"/>
              <a:t>5:00</a:t>
            </a:r>
          </a:p>
          <a:p>
            <a:endParaRPr lang="vi-VN" dirty="0"/>
          </a:p>
          <a:p>
            <a:r>
              <a:rPr lang="vi-VN" dirty="0"/>
              <a:t>NÓI</a:t>
            </a:r>
          </a:p>
          <a:p>
            <a:r>
              <a:rPr lang="vi-VN" dirty="0"/>
              <a:t>• Level 2: đổi state thì morph liền mạch, không nhảy thẳng.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 dirty="0"/>
              <a:t>5:30–12:00 · Demo 2a · Live code tab Thêm / bớt</a:t>
            </a:r>
          </a:p>
          <a:p>
            <a:endParaRPr lang="vi-VN" dirty="0"/>
          </a:p>
          <a:p>
            <a:r>
              <a:rPr lang="vi-VN" dirty="0"/>
              <a:t>NÓI</a:t>
            </a:r>
          </a:p>
          <a:p>
            <a:r>
              <a:rPr lang="vi-VN" dirty="0"/>
              <a:t>• Hòa nhau: chung GlassEffectContainer, khoảng cách hai mép nhỏ hơn spacing.</a:t>
            </a:r>
          </a:p>
          <a:p>
            <a:r>
              <a:rPr lang="vi-VN" dirty="0"/>
              <a:t>• Thêm/bớt: chung container, glassEffectID cùng @Namespace, state đổi trong withAnimation.</a:t>
            </a:r>
          </a:p>
          <a:p>
            <a:r>
              <a:rPr lang="vi-VN" dirty="0"/>
              <a:t>• Đổi shape: cùng một view thì SwiftUI nội suy frame và cornerRadius, không cần ID.</a:t>
            </a:r>
          </a:p>
          <a:p>
            <a:endParaRPr lang="vi-VN" dirty="0"/>
          </a:p>
          <a:p>
            <a:r>
              <a:rPr lang="vi-VN" dirty="0"/>
              <a:t>LÀM</a:t>
            </a:r>
          </a:p>
          <a:p>
            <a:r>
              <a:rPr lang="vi-VN" dirty="0"/>
              <a:t>• Tab Hòa nhau: kéo nút phải lại gần, chỉnh spacing.</a:t>
            </a:r>
          </a:p>
          <a:p>
            <a:r>
              <a:rPr lang="vi-VN" dirty="0"/>
              <a:t>• Tab Thêm / bớt: live code body MorphMenu (20 dòng).</a:t>
            </a:r>
          </a:p>
          <a:p>
            <a:r>
              <a:rPr lang="vi-VN" dirty="0"/>
              <a:t>• Tab Đổi shape: chạm qua .circle → .card → .menu.</a:t>
            </a:r>
          </a:p>
          <a:p>
            <a:endParaRPr lang="vi-VN" dirty="0"/>
          </a:p>
          <a:p>
            <a:r>
              <a:rPr lang="vi-VN" dirty="0"/>
              <a:t>XCODE</a:t>
            </a:r>
          </a:p>
          <a:p>
            <a:r>
              <a:rPr lang="vi-VN" dirty="0"/>
              <a:t>Level2, MorphMenu, BlendingDemo, ShapeMorphDemo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 dirty="0"/>
              <a:t>12:00–17:00 · Demo 2b · Điểm nhấn</a:t>
            </a:r>
          </a:p>
          <a:p>
            <a:endParaRPr lang="vi-VN" dirty="0"/>
          </a:p>
          <a:p>
            <a:r>
              <a:rPr lang="vi-VN" dirty="0"/>
              <a:t>NÓI</a:t>
            </a:r>
          </a:p>
          <a:p>
            <a:r>
              <a:rPr lang="vi-VN" dirty="0"/>
              <a:t>• Morph hỏng: khác container, thiếu withAnimation, ID đổi theo state, khác @Namespace.</a:t>
            </a:r>
          </a:p>
          <a:p>
            <a:r>
              <a:rPr lang="vi-VN" dirty="0"/>
              <a:t>• Không nội suy: if/else đổi identity, thiếu animatableData, .animation đặt sai chỗ, Transaction bị ghi đè.</a:t>
            </a:r>
          </a:p>
          <a:p>
            <a:endParaRPr lang="vi-VN" dirty="0"/>
          </a:p>
          <a:p>
            <a:r>
              <a:rPr lang="vi-VN" dirty="0"/>
              <a:t>LÀM</a:t>
            </a:r>
          </a:p>
          <a:p>
            <a:r>
              <a:rPr lang="vi-VN" dirty="0"/>
              <a:t>• Tab Morph hỏng: bật lần lượt từng lỗi, chạm nút. Hỏi: “Ai từng gặp lỗi này?”</a:t>
            </a:r>
          </a:p>
          <a:p>
            <a:r>
              <a:rPr lang="vi-VN" dirty="0"/>
              <a:t>• Tab Không nội suy: chạm từng ô, bật “Sửa”. Chạy -logTransactions YES để in transaction.</a:t>
            </a:r>
          </a:p>
          <a:p>
            <a:endParaRPr lang="vi-VN" dirty="0"/>
          </a:p>
          <a:p>
            <a:r>
              <a:rPr lang="vi-VN" dirty="0"/>
              <a:t>XCODE</a:t>
            </a:r>
          </a:p>
          <a:p>
            <a:r>
              <a:rPr lang="vi-VN" dirty="0"/>
              <a:t>BrokenMorphDemo, NoInterpolationDemo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 dirty="0"/>
              <a:t>17:00</a:t>
            </a:r>
          </a:p>
          <a:p>
            <a:endParaRPr lang="vi-VN" dirty="0"/>
          </a:p>
          <a:p>
            <a:r>
              <a:rPr lang="vi-VN" dirty="0"/>
              <a:t>NÓI</a:t>
            </a:r>
          </a:p>
          <a:p>
            <a:r>
              <a:rPr lang="vi-VN" dirty="0"/>
              <a:t>• Level 3: chuyển động theo tay người dùng, bị ngắt giữa chừng vẫn mượt.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 dirty="0"/>
              <a:t>17:30–23:00 · Demo 3a · Bỏ phiếu</a:t>
            </a:r>
          </a:p>
          <a:p>
            <a:endParaRPr lang="vi-VN" dirty="0"/>
          </a:p>
          <a:p>
            <a:r>
              <a:rPr lang="vi-VN" dirty="0"/>
              <a:t>NÓI</a:t>
            </a:r>
          </a:p>
          <a:p>
            <a:r>
              <a:rPr lang="vi-VN" dirty="0"/>
              <a:t>• Spring nhận vị trí và vận tốc hiện tại khi bị ngắt (shouldMerge). Timing curve cộng dồn nên chững lại.</a:t>
            </a:r>
          </a:p>
          <a:p>
            <a:r>
              <a:rPr lang="vi-VN" dirty="0"/>
              <a:t>• Decay: Δ = v₀ / k để vận tốc đầu bằng vận tốc tay. k ≈ 2 /s như UIScrollView.</a:t>
            </a:r>
          </a:p>
          <a:p>
            <a:endParaRPr lang="vi-VN" dirty="0"/>
          </a:p>
          <a:p>
            <a:r>
              <a:rPr lang="vi-VN" dirty="0"/>
              <a:t>LÀM</a:t>
            </a:r>
          </a:p>
          <a:p>
            <a:r>
              <a:rPr lang="vi-VN" dirty="0"/>
              <a:t>• Tab Spring vs Ease: bấm A, B liên tục, bỏ phiếu, rồi bật “Hiện nhãn”.</a:t>
            </a:r>
          </a:p>
          <a:p>
            <a:r>
              <a:rPr lang="vi-VN" dirty="0"/>
              <a:t>• Tab Decay: kéo và thả với nhiều tốc độ. Chỉ vào struct Decay (13 dòng).</a:t>
            </a:r>
          </a:p>
          <a:p>
            <a:endParaRPr lang="vi-VN" dirty="0"/>
          </a:p>
          <a:p>
            <a:r>
              <a:rPr lang="vi-VN" dirty="0"/>
              <a:t>XCODE</a:t>
            </a:r>
          </a:p>
          <a:p>
            <a:r>
              <a:rPr lang="vi-VN" dirty="0"/>
              <a:t>Level3, SpringVsEaseDemo, Decay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 dirty="0"/>
              <a:t>23:00–25:00 · Demo 3b · Đọc code</a:t>
            </a:r>
          </a:p>
          <a:p>
            <a:endParaRPr lang="vi-VN" dirty="0"/>
          </a:p>
          <a:p>
            <a:r>
              <a:rPr lang="vi-VN" dirty="0"/>
              <a:t>NÓI</a:t>
            </a:r>
          </a:p>
          <a:p>
            <a:r>
              <a:rPr lang="vi-VN" dirty="0"/>
              <a:t>• Đổi offset: nội suy x, y tuyến tính nên đi đường thẳng.</a:t>
            </a:r>
          </a:p>
          <a:p>
            <a:r>
              <a:rPr lang="vi-VN" dirty="0"/>
              <a:t>• Layout + animatableData: placeSubviews tính vị trí theo cung mỗi frame.</a:t>
            </a:r>
          </a:p>
          <a:p>
            <a:endParaRPr lang="vi-VN" dirty="0"/>
          </a:p>
          <a:p>
            <a:r>
              <a:rPr lang="vi-VN" dirty="0"/>
              <a:t>LÀM</a:t>
            </a:r>
          </a:p>
          <a:p>
            <a:r>
              <a:rPr lang="vi-VN" dirty="0"/>
              <a:t>• Đổi Layout + spring với KeyframeAnimator, chạm + giữa chừng.</a:t>
            </a:r>
          </a:p>
          <a:p>
            <a:endParaRPr lang="vi-VN" dirty="0"/>
          </a:p>
          <a:p>
            <a:r>
              <a:rPr lang="vi-VN" dirty="0"/>
              <a:t>XCODE</a:t>
            </a:r>
          </a:p>
          <a:p>
            <a:r>
              <a:rPr lang="vi-VN" dirty="0"/>
              <a:t>ArcMenu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 dirty="0"/>
              <a:t>25:00</a:t>
            </a:r>
          </a:p>
          <a:p>
            <a:endParaRPr lang="vi-VN" dirty="0"/>
          </a:p>
          <a:p>
            <a:r>
              <a:rPr lang="vi-VN" dirty="0"/>
              <a:t>NÓI</a:t>
            </a:r>
          </a:p>
          <a:p>
            <a:r>
              <a:rPr lang="vi-VN" dirty="0"/>
              <a:t>• Level 4: nền gợn sóng, méo theo ngón tay bằng Metal shader.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 dirty="0"/>
              <a:t>25:30–31:00 · Demo 4a · Live code tab Ripple</a:t>
            </a:r>
          </a:p>
          <a:p>
            <a:endParaRPr lang="vi-VN" dirty="0"/>
          </a:p>
          <a:p>
            <a:r>
              <a:rPr lang="vi-VN" dirty="0"/>
              <a:t>NÓI</a:t>
            </a:r>
          </a:p>
          <a:p>
            <a:r>
              <a:rPr lang="vi-VN" dirty="0"/>
              <a:t>• colorEffect trả màu, distortionEffect trả vị trí nguồn, layerEffect đọc nhiều pixel.</a:t>
            </a:r>
          </a:p>
          <a:p>
            <a:r>
              <a:rPr lang="vi-VN" dirty="0"/>
              <a:t>• Ripple: shader là hàm thuần; keyframeAnimator đưa time 0 → 1,5 s.</a:t>
            </a:r>
          </a:p>
          <a:p>
            <a:r>
              <a:rPr lang="vi-VN" dirty="0"/>
              <a:t>• isEnabled tắt shader khi sóng đã tắt.</a:t>
            </a:r>
          </a:p>
          <a:p>
            <a:endParaRPr lang="vi-VN" dirty="0"/>
          </a:p>
          <a:p>
            <a:r>
              <a:rPr lang="vi-VN" dirty="0"/>
              <a:t>LÀM</a:t>
            </a:r>
          </a:p>
          <a:p>
            <a:r>
              <a:rPr lang="vi-VN" dirty="0"/>
              <a:t>• Tab 3 modifier: kéo slider.</a:t>
            </a:r>
          </a:p>
          <a:p>
            <a:r>
              <a:rPr lang="vi-VN" dirty="0"/>
              <a:t>• Tab Ripple: live code .metal + .layerEffect, chạm nền.</a:t>
            </a:r>
          </a:p>
          <a:p>
            <a:endParaRPr lang="vi-VN" dirty="0"/>
          </a:p>
          <a:p>
            <a:r>
              <a:rPr lang="vi-VN" dirty="0"/>
              <a:t>BẪY</a:t>
            </a:r>
          </a:p>
          <a:p>
            <a:r>
              <a:rPr lang="vi-VN" dirty="0"/>
              <a:t>• Closure keyframeAnimator là @Sendable: capture [origin] trước.</a:t>
            </a:r>
          </a:p>
          <a:p>
            <a:endParaRPr lang="vi-VN" dirty="0"/>
          </a:p>
          <a:p>
            <a:r>
              <a:rPr lang="vi-VN" dirty="0"/>
              <a:t>XCODE</a:t>
            </a:r>
          </a:p>
          <a:p>
            <a:r>
              <a:rPr lang="vi-VN" dirty="0"/>
              <a:t>Level4, ThreeModifiersDemo, Ripple, Shaders.metal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 dirty="0"/>
              <a:t>31:00–33:00 · Demo 4b · Chạy thử trên máy thật trước</a:t>
            </a:r>
          </a:p>
          <a:p>
            <a:endParaRPr lang="vi-VN" dirty="0"/>
          </a:p>
          <a:p>
            <a:r>
              <a:rPr lang="vi-VN" dirty="0"/>
              <a:t>NÓI</a:t>
            </a:r>
          </a:p>
          <a:p>
            <a:r>
              <a:rPr lang="vi-VN" dirty="0"/>
              <a:t>• Đặt distortionEffect trên nền: glass khúc xạ nền đã méo, giữ viền và highlight.</a:t>
            </a:r>
          </a:p>
          <a:p>
            <a:r>
              <a:rPr lang="vi-VN" dirty="0"/>
              <a:t>• Bọc cả nhóm glass: glass bị rasterize và biến mất (simulator iOS 27.1).</a:t>
            </a:r>
          </a:p>
          <a:p>
            <a:endParaRPr lang="vi-VN" dirty="0"/>
          </a:p>
          <a:p>
            <a:r>
              <a:rPr lang="vi-VN" dirty="0"/>
              <a:t>LÀM</a:t>
            </a:r>
          </a:p>
          <a:p>
            <a:r>
              <a:rPr lang="vi-VN" dirty="0"/>
              <a:t>• Kéo vùng méo, đổi dưới/trên, nghiêng máy.</a:t>
            </a:r>
          </a:p>
          <a:p>
            <a:endParaRPr lang="vi-VN" dirty="0"/>
          </a:p>
          <a:p>
            <a:r>
              <a:rPr lang="vi-VN" dirty="0"/>
              <a:t>XCODE</a:t>
            </a:r>
          </a:p>
          <a:p>
            <a:r>
              <a:rPr lang="vi-VN" dirty="0"/>
              <a:t>DistortionUnderGlassDemo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 dirty="0"/>
              <a:t>33:00–39:00 · Live build · Điểm nhấn</a:t>
            </a:r>
          </a:p>
          <a:p>
            <a:endParaRPr lang="vi-VN" dirty="0"/>
          </a:p>
          <a:p>
            <a:r>
              <a:rPr lang="vi-VN" dirty="0"/>
              <a:t>NÓI</a:t>
            </a:r>
          </a:p>
          <a:p>
            <a:r>
              <a:rPr lang="vi-VN" dirty="0"/>
              <a:t>• Chiếu số dòng: “Cả màn hình: 53 dòng.”</a:t>
            </a:r>
          </a:p>
          <a:p>
            <a:endParaRPr lang="vi-VN" dirty="0"/>
          </a:p>
          <a:p>
            <a:r>
              <a:rPr lang="vi-VN" dirty="0"/>
              <a:t>LÀM</a:t>
            </a:r>
          </a:p>
          <a:p>
            <a:r>
              <a:rPr lang="vi-VN" dirty="0"/>
              <a:t>• Viết từ file trống. Lỗi thì mở -demo cp1, cp2, cp3.</a:t>
            </a:r>
          </a:p>
          <a:p>
            <a:endParaRPr lang="vi-VN" dirty="0"/>
          </a:p>
          <a:p>
            <a:r>
              <a:rPr lang="vi-VN" dirty="0"/>
              <a:t>XCODE</a:t>
            </a:r>
          </a:p>
          <a:p>
            <a:r>
              <a:rPr lang="vi-VN" dirty="0"/>
              <a:t>Checkpoint1, Checkpoint2, Checkpoint3, Finale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 dirty="0"/>
              <a:t>39:00–42:00 · Instruments</a:t>
            </a:r>
          </a:p>
          <a:p>
            <a:endParaRPr lang="vi-VN" dirty="0"/>
          </a:p>
          <a:p>
            <a:r>
              <a:rPr lang="vi-VN" dirty="0"/>
              <a:t>NÓI</a:t>
            </a:r>
          </a:p>
          <a:p>
            <a:r>
              <a:rPr lang="vi-VN" dirty="0"/>
              <a:t>• Overlay chỉ đo main thread, không đo GPU.</a:t>
            </a:r>
          </a:p>
          <a:p>
            <a:r>
              <a:rPr lang="vi-VN" dirty="0"/>
              <a:t>• Chỉ dùng số trên máy thật, ghi rõ model.</a:t>
            </a:r>
          </a:p>
          <a:p>
            <a:endParaRPr lang="vi-VN" dirty="0"/>
          </a:p>
          <a:p>
            <a:r>
              <a:rPr lang="vi-VN" dirty="0"/>
              <a:t>LÀM</a:t>
            </a:r>
          </a:p>
          <a:p>
            <a:r>
              <a:rPr lang="vi-VN" dirty="0"/>
              <a:t>• Chọn 5, 20, 50 ở 3 chế độ. Mở Metal System Trace, Animation Hitches. Điền bảng.</a:t>
            </a:r>
          </a:p>
          <a:p>
            <a:endParaRPr lang="vi-VN" dirty="0"/>
          </a:p>
          <a:p>
            <a:r>
              <a:rPr lang="vi-VN" dirty="0"/>
              <a:t>XCODE</a:t>
            </a:r>
          </a:p>
          <a:p>
            <a:r>
              <a:rPr lang="vi-VN" dirty="0"/>
              <a:t>GlassStressDemo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 dirty="0"/>
              <a:t>42:00–45:00 · Demo notes</a:t>
            </a:r>
          </a:p>
          <a:p>
            <a:endParaRPr lang="vi-VN" dirty="0"/>
          </a:p>
          <a:p>
            <a:r>
              <a:rPr lang="vi-VN" dirty="0"/>
              <a:t>NÓI</a:t>
            </a:r>
          </a:p>
          <a:p>
            <a:r>
              <a:rPr lang="vi-VN" dirty="0"/>
              <a:t>• Glass khúc xạ và đổi theo nền; Material chỉ blur + tint.</a:t>
            </a:r>
          </a:p>
          <a:p>
            <a:r>
              <a:rPr lang="vi-VN" dirty="0"/>
              <a:t>• Glass hệ thống tự thích ứng trợ năng; shader tự viết phải đọc @Environment để tắt.</a:t>
            </a:r>
          </a:p>
          <a:p>
            <a:r>
              <a:rPr lang="vi-VN" dirty="0"/>
              <a:t>• Câu chốt: “Mỗi phần tử Liquid Glass phải trả lời được: chạm vào thì phản hồi gì?”</a:t>
            </a:r>
          </a:p>
          <a:p>
            <a:endParaRPr lang="vi-VN" dirty="0"/>
          </a:p>
          <a:p>
            <a:r>
              <a:rPr lang="vi-VN" dirty="0"/>
              <a:t>LÀM</a:t>
            </a:r>
          </a:p>
          <a:p>
            <a:r>
              <a:rPr lang="vi-VN" dirty="0"/>
              <a:t>• Tab Glass vs blur: bật “So với Material”.</a:t>
            </a:r>
          </a:p>
          <a:p>
            <a:r>
              <a:rPr lang="vi-VN" dirty="0"/>
              <a:t>• Tab Trợ năng: bật Reduce Motion trong Cài đặt.</a:t>
            </a:r>
          </a:p>
          <a:p>
            <a:r>
              <a:rPr lang="vi-VN" dirty="0"/>
              <a:t>• Tab Quy tắc: chạm để hiện từng quy tắc.</a:t>
            </a:r>
          </a:p>
          <a:p>
            <a:endParaRPr lang="vi-VN" dirty="0"/>
          </a:p>
          <a:p>
            <a:r>
              <a:rPr lang="vi-VN" dirty="0"/>
              <a:t>XCODE</a:t>
            </a:r>
          </a:p>
          <a:p>
            <a:r>
              <a:rPr lang="vi-VN" dirty="0"/>
              <a:t>Notes, GlassVariantsDemo, AccessibilityDemo, ShipRulesDemo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 dirty="0"/>
              <a:t>45:00</a:t>
            </a:r>
          </a:p>
          <a:p>
            <a:endParaRPr lang="vi-VN" dirty="0"/>
          </a:p>
          <a:p>
            <a:r>
              <a:rPr lang="vi-VN" dirty="0"/>
              <a:t>LÀM</a:t>
            </a:r>
          </a:p>
          <a:p>
            <a:r>
              <a:rPr lang="vi-VN" dirty="0"/>
              <a:t>• Mở link repo LiquidGlassAdvanced.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lg-cover-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44968" y="0"/>
            <a:ext cx="4446727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1325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5D657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IOS 26+ · SWIFTUI · METAL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777240" y="1737360"/>
            <a:ext cx="6675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5200" b="1" dirty="0">
                <a:solidFill>
                  <a:srgbClr val="12151C"/>
                </a:solidFill>
                <a:latin typeface="Bricolage Grotesque 96pt" pitchFamily="34" charset="0"/>
                <a:ea typeface="Bricolage Grotesque 96pt" pitchFamily="34" charset="-122"/>
                <a:cs typeface="Bricolage Grotesque 96pt" pitchFamily="34" charset="-120"/>
              </a:rPr>
              <a:t>Trải nghiệm người dùng xuất sắc với </a:t>
            </a:r>
            <a:pPr indent="0" marL="0">
              <a:lnSpc>
                <a:spcPct val="95000"/>
              </a:lnSpc>
              <a:buNone/>
            </a:pPr>
            <a:r>
              <a:rPr lang="en-US" sz="5200" b="1" dirty="0">
                <a:solidFill>
                  <a:srgbClr val="2457F5"/>
                </a:solidFill>
                <a:latin typeface="Bricolage Grotesque 96pt" pitchFamily="34" charset="0"/>
                <a:ea typeface="Bricolage Grotesque 96pt" pitchFamily="34" charset="-122"/>
                <a:cs typeface="Bricolage Grotesque 96pt" pitchFamily="34" charset="-120"/>
              </a:rPr>
              <a:t>Liquid Glass</a:t>
            </a:r>
            <a:endParaRPr lang="en-US" sz="5200" dirty="0"/>
          </a:p>
        </p:txBody>
      </p:sp>
      <p:sp>
        <p:nvSpPr>
          <p:cNvPr id="5" name="Text 2"/>
          <p:cNvSpPr/>
          <p:nvPr/>
        </p:nvSpPr>
        <p:spPr>
          <a:xfrm>
            <a:off x="777240" y="420624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D657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 level từ phản hồi chạm đến Metal shader.</a:t>
            </a:r>
            <a:endParaRPr lang="en-US" sz="1900" dirty="0"/>
          </a:p>
        </p:txBody>
      </p:sp>
      <p:sp>
        <p:nvSpPr>
          <p:cNvPr id="6" name="Shape 3"/>
          <p:cNvSpPr/>
          <p:nvPr/>
        </p:nvSpPr>
        <p:spPr>
          <a:xfrm>
            <a:off x="777240" y="5257800"/>
            <a:ext cx="946404" cy="365760"/>
          </a:xfrm>
          <a:prstGeom prst="roundRect">
            <a:avLst>
              <a:gd name="adj" fmla="val 20000"/>
            </a:avLst>
          </a:prstGeom>
          <a:solidFill>
            <a:srgbClr val="F6F7FA"/>
          </a:solidFill>
          <a:ln w="9525">
            <a:solidFill>
              <a:srgbClr val="E3E6E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5257800"/>
            <a:ext cx="9464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30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45 phút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1851660" y="5257800"/>
            <a:ext cx="946404" cy="365760"/>
          </a:xfrm>
          <a:prstGeom prst="roundRect">
            <a:avLst>
              <a:gd name="adj" fmla="val 20000"/>
            </a:avLst>
          </a:prstGeom>
          <a:solidFill>
            <a:srgbClr val="F6F7FA"/>
          </a:solidFill>
          <a:ln w="9525">
            <a:solidFill>
              <a:srgbClr val="E3E6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851660" y="5257800"/>
            <a:ext cx="9464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30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Dev iOS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926080" y="5257800"/>
            <a:ext cx="2674620" cy="365760"/>
          </a:xfrm>
          <a:prstGeom prst="roundRect">
            <a:avLst>
              <a:gd name="adj" fmla="val 20000"/>
            </a:avLst>
          </a:prstGeom>
          <a:solidFill>
            <a:srgbClr val="F6F7FA"/>
          </a:solidFill>
          <a:ln w="9525">
            <a:solidFill>
              <a:srgbClr val="E3E6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926080" y="5257800"/>
            <a:ext cx="26746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30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Demo: LiquidGlassAdvanced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846235"/>
            <a:ext cx="6537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2457F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LỘ TRÌNH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2358299"/>
            <a:ext cx="6537960" cy="5747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12151C"/>
                </a:solidFill>
                <a:latin typeface="Bricolage Grotesque 96pt" pitchFamily="34" charset="0"/>
                <a:ea typeface="Bricolage Grotesque 96pt" pitchFamily="34" charset="-122"/>
                <a:cs typeface="Bricolage Grotesque 96pt" pitchFamily="34" charset="-120"/>
              </a:rPr>
              <a:t>4 level, rồi ghép lại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3152485"/>
            <a:ext cx="54864" cy="451104"/>
          </a:xfrm>
          <a:prstGeom prst="rect">
            <a:avLst/>
          </a:prstGeom>
          <a:solidFill>
            <a:srgbClr val="2457F5"/>
          </a:solidFill>
          <a:ln/>
        </p:spPr>
      </p:sp>
      <p:sp>
        <p:nvSpPr>
          <p:cNvPr id="5" name="Text 3"/>
          <p:cNvSpPr/>
          <p:nvPr/>
        </p:nvSpPr>
        <p:spPr>
          <a:xfrm>
            <a:off x="786384" y="3152485"/>
            <a:ext cx="6318504" cy="451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2A303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Mỗi level thêm 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215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một lớp phản hồi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2A303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66928" y="3859621"/>
            <a:ext cx="292608" cy="292608"/>
          </a:xfrm>
          <a:prstGeom prst="ellipse">
            <a:avLst/>
          </a:prstGeom>
          <a:solidFill>
            <a:srgbClr val="2457F5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385962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05840" y="3823045"/>
            <a:ext cx="6099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215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Level 1</a:t>
            </a:r>
            <a:pPr indent="0" marL="0">
              <a:buNone/>
            </a:pPr>
            <a:r>
              <a:rPr lang="en-US" sz="15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Phản hồi chạm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4225381"/>
            <a:ext cx="292608" cy="292608"/>
          </a:xfrm>
          <a:prstGeom prst="ellipse">
            <a:avLst/>
          </a:prstGeom>
          <a:solidFill>
            <a:srgbClr val="2457F5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422538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05840" y="4188805"/>
            <a:ext cx="6099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215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Level 2</a:t>
            </a:r>
            <a:pPr indent="0" marL="0">
              <a:buNone/>
            </a:pPr>
            <a:r>
              <a:rPr lang="en-US" sz="15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Chuyển trạng thái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591141"/>
            <a:ext cx="292608" cy="292608"/>
          </a:xfrm>
          <a:prstGeom prst="ellipse">
            <a:avLst/>
          </a:prstGeom>
          <a:solidFill>
            <a:srgbClr val="2457F5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459114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05840" y="4554565"/>
            <a:ext cx="6099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215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Level 3</a:t>
            </a:r>
            <a:pPr indent="0" marL="0">
              <a:buNone/>
            </a:pPr>
            <a:r>
              <a:rPr lang="en-US" sz="15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Chuyển động vật lý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66928" y="4956901"/>
            <a:ext cx="292608" cy="292608"/>
          </a:xfrm>
          <a:prstGeom prst="ellipse">
            <a:avLst/>
          </a:prstGeom>
          <a:solidFill>
            <a:srgbClr val="2457F5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495690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05840" y="4920325"/>
            <a:ext cx="6099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215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Level 4</a:t>
            </a:r>
            <a:pPr indent="0" marL="0">
              <a:buNone/>
            </a:pPr>
            <a:r>
              <a:rPr lang="en-US" sz="15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Biến dạng tại điểm chạm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7635240" y="1143000"/>
            <a:ext cx="3986784" cy="148132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1C2433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635240" y="1344168"/>
            <a:ext cx="64008" cy="1078992"/>
          </a:xfrm>
          <a:prstGeom prst="rect">
            <a:avLst/>
          </a:prstGeom>
          <a:solidFill>
            <a:srgbClr val="2457F5"/>
          </a:solidFill>
          <a:ln/>
        </p:spPr>
      </p:sp>
      <p:sp>
        <p:nvSpPr>
          <p:cNvPr id="20" name="Text 18"/>
          <p:cNvSpPr/>
          <p:nvPr/>
        </p:nvSpPr>
        <p:spPr>
          <a:xfrm>
            <a:off x="7927848" y="1362456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457F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Tích hợp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927848" y="1783080"/>
            <a:ext cx="34838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Đủ 4 level trong 53 dòng.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35240" y="2825496"/>
            <a:ext cx="3986784" cy="148132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1C2433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635240" y="3026664"/>
            <a:ext cx="64008" cy="1078992"/>
          </a:xfrm>
          <a:prstGeom prst="rect">
            <a:avLst/>
          </a:prstGeom>
          <a:solidFill>
            <a:srgbClr val="2457F5"/>
          </a:solidFill>
          <a:ln/>
        </p:spPr>
      </p:sp>
      <p:sp>
        <p:nvSpPr>
          <p:cNvPr id="24" name="Text 22"/>
          <p:cNvSpPr/>
          <p:nvPr/>
        </p:nvSpPr>
        <p:spPr>
          <a:xfrm>
            <a:off x="7927848" y="304495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457F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Performance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927848" y="3465576"/>
            <a:ext cx="34838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Đo GPU trên máy thật.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635240" y="4507992"/>
            <a:ext cx="3986784" cy="148132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1C2433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635240" y="4709160"/>
            <a:ext cx="64008" cy="1078992"/>
          </a:xfrm>
          <a:prstGeom prst="rect">
            <a:avLst/>
          </a:prstGeom>
          <a:solidFill>
            <a:srgbClr val="2457F5"/>
          </a:solidFill>
          <a:ln/>
        </p:spPr>
      </p:sp>
      <p:sp>
        <p:nvSpPr>
          <p:cNvPr id="28" name="Text 26"/>
          <p:cNvSpPr/>
          <p:nvPr/>
        </p:nvSpPr>
        <p:spPr>
          <a:xfrm>
            <a:off x="7927848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457F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Lưu ý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927848" y="5148072"/>
            <a:ext cx="34838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Glass vs blur, trợ năng, quy tắc ship.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66928" y="2926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D657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Liquid Glass · Level by Level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023360" y="2926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Level 1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Level 2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Level 3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Level 4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Tích hợp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Performance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Lưu ý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457F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1234440"/>
            <a:ext cx="1143000" cy="1143000"/>
          </a:xfrm>
          <a:prstGeom prst="ellipse">
            <a:avLst/>
          </a:prstGeom>
          <a:solidFill>
            <a:srgbClr val="2457F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3444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Bricolage Grotesque 96pt" pitchFamily="34" charset="0"/>
                <a:ea typeface="Bricolage Grotesque 96pt" pitchFamily="34" charset="-122"/>
                <a:cs typeface="Bricolage Grotesque 96pt" pitchFamily="34" charset="-120"/>
              </a:rPr>
              <a:t>1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938528" y="129844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2457F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LEVEL 1 / 4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938528" y="1645920"/>
            <a:ext cx="5440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12151C"/>
                </a:solidFill>
                <a:latin typeface="Bricolage Grotesque 96pt" pitchFamily="34" charset="0"/>
                <a:ea typeface="Bricolage Grotesque 96pt" pitchFamily="34" charset="-122"/>
                <a:cs typeface="Bricolage Grotesque 96pt" pitchFamily="34" charset="-120"/>
              </a:rPr>
              <a:t>Phản hồi chạm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566928" y="2743200"/>
            <a:ext cx="54864" cy="868680"/>
          </a:xfrm>
          <a:prstGeom prst="rect">
            <a:avLst/>
          </a:prstGeom>
          <a:solidFill>
            <a:srgbClr val="2457F5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2743200"/>
            <a:ext cx="6309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A303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Chạm là phải </a:t>
            </a:r>
            <a:pPr indent="0" marL="0">
              <a:buNone/>
            </a:pPr>
            <a:r>
              <a:rPr lang="en-US" sz="1700" dirty="0">
                <a:solidFill>
                  <a:srgbClr val="1215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thấy</a:t>
            </a:r>
            <a:pPr indent="0" marL="0">
              <a:buNone/>
            </a:pPr>
            <a:r>
              <a:rPr lang="en-US" sz="1700" dirty="0">
                <a:solidFill>
                  <a:srgbClr val="2A303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và </a:t>
            </a:r>
            <a:pPr indent="0" marL="0">
              <a:buNone/>
            </a:pPr>
            <a:r>
              <a:rPr lang="en-US" sz="1700" dirty="0">
                <a:solidFill>
                  <a:srgbClr val="1215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cảm</a:t>
            </a:r>
            <a:pPr indent="0" marL="0">
              <a:buNone/>
            </a:pPr>
            <a:r>
              <a:rPr lang="en-US" sz="1700" dirty="0">
                <a:solidFill>
                  <a:srgbClr val="2A303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được.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66928" y="3886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5D657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NỘI DUNG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66928" y="4288536"/>
            <a:ext cx="274320" cy="274320"/>
          </a:xfrm>
          <a:prstGeom prst="ellipse">
            <a:avLst/>
          </a:prstGeom>
          <a:solidFill>
            <a:srgbClr val="2457F5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4288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987552" y="4251960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Highlight khi nhấn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66928" y="4709160"/>
            <a:ext cx="274320" cy="274320"/>
          </a:xfrm>
          <a:prstGeom prst="ellipse">
            <a:avLst/>
          </a:prstGeom>
          <a:solidFill>
            <a:srgbClr val="2457F5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4709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987552" y="4672584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Haptic khi state đổi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635240" y="1143000"/>
            <a:ext cx="3986784" cy="148132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1C2433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635240" y="1344168"/>
            <a:ext cx="64008" cy="1078992"/>
          </a:xfrm>
          <a:prstGeom prst="rect">
            <a:avLst/>
          </a:prstGeom>
          <a:solidFill>
            <a:srgbClr val="2457F5"/>
          </a:solidFill>
          <a:ln/>
        </p:spPr>
      </p:sp>
      <p:sp>
        <p:nvSpPr>
          <p:cNvPr id="18" name="Text 16"/>
          <p:cNvSpPr/>
          <p:nvPr/>
        </p:nvSpPr>
        <p:spPr>
          <a:xfrm>
            <a:off x="7927848" y="1362456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457F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.interactive()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927848" y="1783080"/>
            <a:ext cx="34838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Highlight cho view tự vẽ.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635240" y="2825496"/>
            <a:ext cx="3986784" cy="148132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1C2433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635240" y="3026664"/>
            <a:ext cx="64008" cy="1078992"/>
          </a:xfrm>
          <a:prstGeom prst="rect">
            <a:avLst/>
          </a:prstGeom>
          <a:solidFill>
            <a:srgbClr val="2457F5"/>
          </a:solidFill>
          <a:ln/>
        </p:spPr>
      </p:sp>
      <p:sp>
        <p:nvSpPr>
          <p:cNvPr id="22" name="Text 20"/>
          <p:cNvSpPr/>
          <p:nvPr/>
        </p:nvSpPr>
        <p:spPr>
          <a:xfrm>
            <a:off x="7927848" y="304495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457F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.buttonStyle(.glass)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927848" y="3465576"/>
            <a:ext cx="34838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Button có sẵn.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635240" y="4507992"/>
            <a:ext cx="3986784" cy="148132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1C2433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635240" y="4709160"/>
            <a:ext cx="64008" cy="1078992"/>
          </a:xfrm>
          <a:prstGeom prst="rect">
            <a:avLst/>
          </a:prstGeom>
          <a:solidFill>
            <a:srgbClr val="2457F5"/>
          </a:solidFill>
          <a:ln/>
        </p:spPr>
      </p:sp>
      <p:sp>
        <p:nvSpPr>
          <p:cNvPr id="26" name="Text 24"/>
          <p:cNvSpPr/>
          <p:nvPr/>
        </p:nvSpPr>
        <p:spPr>
          <a:xfrm>
            <a:off x="7927848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457F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sensoryFeedback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927848" y="5148072"/>
            <a:ext cx="34838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Haptic theo state.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66928" y="2926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D657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Liquid Glass · Level by Level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023360" y="2926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457F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Level 1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Level 2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Level 3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Level 4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Tích hợp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Performance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Lưu ý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66928" y="6400800"/>
            <a:ext cx="2377440" cy="45720"/>
          </a:xfrm>
          <a:prstGeom prst="rect">
            <a:avLst/>
          </a:prstGeom>
          <a:solidFill>
            <a:srgbClr val="2457F5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647395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457F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LEVEL 1  </a:t>
            </a:r>
            <a:pPr indent="0" marL="0">
              <a:buNone/>
            </a:pPr>
            <a:r>
              <a:rPr lang="en-US" sz="900" dirty="0">
                <a:solidFill>
                  <a:srgbClr val="2457F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Phản hồi chạm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054096" y="6400800"/>
            <a:ext cx="2377440" cy="45720"/>
          </a:xfrm>
          <a:prstGeom prst="rect">
            <a:avLst/>
          </a:prstGeom>
          <a:solidFill>
            <a:srgbClr val="E3E6EC"/>
          </a:solidFill>
          <a:ln/>
        </p:spPr>
      </p:sp>
      <p:sp>
        <p:nvSpPr>
          <p:cNvPr id="33" name="Text 31"/>
          <p:cNvSpPr/>
          <p:nvPr/>
        </p:nvSpPr>
        <p:spPr>
          <a:xfrm>
            <a:off x="3054096" y="647395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4A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LEVEL 2  </a:t>
            </a:r>
            <a:pPr indent="0" marL="0">
              <a:buNone/>
            </a:pPr>
            <a:r>
              <a:rPr lang="en-US" sz="9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 trạng thái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541264" y="6400800"/>
            <a:ext cx="2377440" cy="45720"/>
          </a:xfrm>
          <a:prstGeom prst="rect">
            <a:avLst/>
          </a:prstGeom>
          <a:solidFill>
            <a:srgbClr val="E3E6EC"/>
          </a:solidFill>
          <a:ln/>
        </p:spPr>
      </p:sp>
      <p:sp>
        <p:nvSpPr>
          <p:cNvPr id="35" name="Text 33"/>
          <p:cNvSpPr/>
          <p:nvPr/>
        </p:nvSpPr>
        <p:spPr>
          <a:xfrm>
            <a:off x="5541264" y="647395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4A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LEVEL 3  </a:t>
            </a:r>
            <a:pPr indent="0" marL="0">
              <a:buNone/>
            </a:pPr>
            <a:r>
              <a:rPr lang="en-US" sz="9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 động vật lý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8028432" y="6400800"/>
            <a:ext cx="2377440" cy="45720"/>
          </a:xfrm>
          <a:prstGeom prst="rect">
            <a:avLst/>
          </a:prstGeom>
          <a:solidFill>
            <a:srgbClr val="E3E6EC"/>
          </a:solidFill>
          <a:ln/>
        </p:spPr>
      </p:sp>
      <p:sp>
        <p:nvSpPr>
          <p:cNvPr id="37" name="Text 35"/>
          <p:cNvSpPr/>
          <p:nvPr/>
        </p:nvSpPr>
        <p:spPr>
          <a:xfrm>
            <a:off x="8028432" y="647395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4A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LEVEL 4  </a:t>
            </a:r>
            <a:pPr indent="0" marL="0">
              <a:buNone/>
            </a:pPr>
            <a:r>
              <a:rPr lang="en-US" sz="9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Biến dạng tại điểm chạm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067977"/>
            <a:ext cx="6537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2457F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LEVEL 1 · CÁCH LÀM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2580041"/>
            <a:ext cx="6537960" cy="5747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12151C"/>
                </a:solidFill>
                <a:latin typeface="Bricolage Grotesque 96pt" pitchFamily="34" charset="0"/>
                <a:ea typeface="Bricolage Grotesque 96pt" pitchFamily="34" charset="-122"/>
                <a:cs typeface="Bricolage Grotesque 96pt" pitchFamily="34" charset="-120"/>
              </a:rPr>
              <a:t>Highlight + haptic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3374227"/>
            <a:ext cx="54864" cy="451104"/>
          </a:xfrm>
          <a:prstGeom prst="rect">
            <a:avLst/>
          </a:prstGeom>
          <a:solidFill>
            <a:srgbClr val="2457F5"/>
          </a:solidFill>
          <a:ln/>
        </p:spPr>
      </p:sp>
      <p:sp>
        <p:nvSpPr>
          <p:cNvPr id="5" name="Text 3"/>
          <p:cNvSpPr/>
          <p:nvPr/>
        </p:nvSpPr>
        <p:spPr>
          <a:xfrm>
            <a:off x="786384" y="3374227"/>
            <a:ext cx="6318504" cy="451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215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Thị giác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2A303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: sáng, co giãn. 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215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Xúc giác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2A303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: rung khi state đổi.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03504" y="4136227"/>
            <a:ext cx="82296" cy="82296"/>
          </a:xfrm>
          <a:prstGeom prst="rect">
            <a:avLst/>
          </a:prstGeom>
          <a:solidFill>
            <a:srgbClr val="2457F5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4044787"/>
            <a:ext cx="6263640" cy="307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Haptic theo nghĩa: </a:t>
            </a:r>
            <a:pPr indent="0" marL="0">
              <a:buNone/>
            </a:pPr>
            <a:r>
              <a:rPr lang="en-US" sz="1204" dirty="0">
                <a:solidFill>
                  <a:srgbClr val="2A303C"/>
                </a:solidFill>
                <a:highlight>
                  <a:srgbClr val="EEF1F6"/>
                </a:highlight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.selection</a:t>
            </a:r>
            <a:pPr indent="0" marL="0">
              <a:buNone/>
            </a:pPr>
            <a:r>
              <a:rPr lang="en-US" sz="14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, </a:t>
            </a:r>
            <a:pPr indent="0" marL="0">
              <a:buNone/>
            </a:pPr>
            <a:r>
              <a:rPr lang="en-US" sz="1204" dirty="0">
                <a:solidFill>
                  <a:srgbClr val="2A303C"/>
                </a:solidFill>
                <a:highlight>
                  <a:srgbClr val="EEF1F6"/>
                </a:highlight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.impact</a:t>
            </a:r>
            <a:pPr indent="0" marL="0">
              <a:buNone/>
            </a:pPr>
            <a:r>
              <a:rPr lang="en-US" sz="14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, </a:t>
            </a:r>
            <a:pPr indent="0" marL="0">
              <a:buNone/>
            </a:pPr>
            <a:r>
              <a:rPr lang="en-US" sz="1204" dirty="0">
                <a:solidFill>
                  <a:srgbClr val="2A303C"/>
                </a:solidFill>
                <a:highlight>
                  <a:srgbClr val="EEF1F6"/>
                </a:highlight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.success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4572091"/>
            <a:ext cx="6537960" cy="492252"/>
          </a:xfrm>
          <a:prstGeom prst="roundRect">
            <a:avLst>
              <a:gd name="adj" fmla="val 18576"/>
            </a:avLst>
          </a:prstGeom>
          <a:solidFill>
            <a:srgbClr val="FFF3E2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0" y="4709251"/>
            <a:ext cx="566928" cy="256032"/>
          </a:xfrm>
          <a:prstGeom prst="roundRect">
            <a:avLst>
              <a:gd name="adj" fmla="val 21429"/>
            </a:avLst>
          </a:prstGeom>
          <a:solidFill>
            <a:srgbClr val="A64B00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4709251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BẪY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463040" y="4681819"/>
            <a:ext cx="5486400" cy="272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18" dirty="0">
                <a:solidFill>
                  <a:srgbClr val="A64B00"/>
                </a:solidFill>
                <a:highlight>
                  <a:srgbClr val="FBE6CC"/>
                </a:highlight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trigger</a:t>
            </a:r>
            <a:pPr indent="0" marL="0">
              <a:buNone/>
            </a:pPr>
            <a:r>
              <a:rPr lang="en-US" sz="1300" dirty="0">
                <a:solidFill>
                  <a:srgbClr val="A64B0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đổi giá trị thì không rung.</a:t>
            </a:r>
            <a:endParaRPr lang="en-US" sz="1118" dirty="0"/>
          </a:p>
        </p:txBody>
      </p:sp>
      <p:sp>
        <p:nvSpPr>
          <p:cNvPr id="12" name="Shape 10"/>
          <p:cNvSpPr/>
          <p:nvPr/>
        </p:nvSpPr>
        <p:spPr>
          <a:xfrm>
            <a:off x="7635240" y="1143000"/>
            <a:ext cx="3986784" cy="148132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1C2433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35240" y="1344168"/>
            <a:ext cx="64008" cy="1078992"/>
          </a:xfrm>
          <a:prstGeom prst="rect">
            <a:avLst/>
          </a:prstGeom>
          <a:solidFill>
            <a:srgbClr val="2457F5"/>
          </a:solidFill>
          <a:ln/>
        </p:spPr>
      </p:sp>
      <p:sp>
        <p:nvSpPr>
          <p:cNvPr id="14" name="Text 12"/>
          <p:cNvSpPr/>
          <p:nvPr/>
        </p:nvSpPr>
        <p:spPr>
          <a:xfrm>
            <a:off x="7927848" y="1362456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457F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.glassEffect(.regular.interactive())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927848" y="1783080"/>
            <a:ext cx="34838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View tự vẽ.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35240" y="2825496"/>
            <a:ext cx="3986784" cy="148132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1C2433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635240" y="3026664"/>
            <a:ext cx="64008" cy="1078992"/>
          </a:xfrm>
          <a:prstGeom prst="rect">
            <a:avLst/>
          </a:prstGeom>
          <a:solidFill>
            <a:srgbClr val="2457F5"/>
          </a:solidFill>
          <a:ln/>
        </p:spPr>
      </p:sp>
      <p:sp>
        <p:nvSpPr>
          <p:cNvPr id="18" name="Text 16"/>
          <p:cNvSpPr/>
          <p:nvPr/>
        </p:nvSpPr>
        <p:spPr>
          <a:xfrm>
            <a:off x="7927848" y="304495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457F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.buttonStyle(.glass)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927848" y="3465576"/>
            <a:ext cx="34838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cần thêm gì.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635240" y="4507992"/>
            <a:ext cx="3986784" cy="148132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1C2433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635240" y="4709160"/>
            <a:ext cx="64008" cy="1078992"/>
          </a:xfrm>
          <a:prstGeom prst="rect">
            <a:avLst/>
          </a:prstGeom>
          <a:solidFill>
            <a:srgbClr val="2457F5"/>
          </a:solidFill>
          <a:ln/>
        </p:spPr>
      </p:sp>
      <p:sp>
        <p:nvSpPr>
          <p:cNvPr id="22" name="Text 20"/>
          <p:cNvSpPr/>
          <p:nvPr/>
        </p:nvSpPr>
        <p:spPr>
          <a:xfrm>
            <a:off x="7927848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57F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sensoryFeedback(_:trigger:)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927848" y="5148072"/>
            <a:ext cx="34838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Phát khi </a:t>
            </a:r>
            <a:pPr indent="0" marL="0">
              <a:lnSpc>
                <a:spcPct val="115000"/>
              </a:lnSpc>
              <a:buNone/>
            </a:pPr>
            <a:r>
              <a:rPr lang="en-US" sz="1204" dirty="0">
                <a:solidFill>
                  <a:srgbClr val="2A303C"/>
                </a:solidFill>
                <a:highlight>
                  <a:srgbClr val="EEF1F6"/>
                </a:highlight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trigger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đổi.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6928" y="2926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D657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Liquid Glass · Level by Level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023360" y="2926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457F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Level 1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Level 2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Level 3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Level 4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Tích hợp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Performance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Lưu ý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10607040" y="246888"/>
            <a:ext cx="1014984" cy="329184"/>
          </a:xfrm>
          <a:prstGeom prst="roundRect">
            <a:avLst>
              <a:gd name="adj" fmla="val 22222"/>
            </a:avLst>
          </a:prstGeom>
          <a:solidFill>
            <a:srgbClr val="2457F5"/>
          </a:solidFill>
          <a:ln/>
        </p:spPr>
      </p:sp>
      <p:sp>
        <p:nvSpPr>
          <p:cNvPr id="27" name="Text 25"/>
          <p:cNvSpPr/>
          <p:nvPr/>
        </p:nvSpPr>
        <p:spPr>
          <a:xfrm>
            <a:off x="10607040" y="246888"/>
            <a:ext cx="10149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DEMO 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66928" y="6400800"/>
            <a:ext cx="2377440" cy="45720"/>
          </a:xfrm>
          <a:prstGeom prst="rect">
            <a:avLst/>
          </a:prstGeom>
          <a:solidFill>
            <a:srgbClr val="2457F5"/>
          </a:solidFill>
          <a:ln/>
        </p:spPr>
      </p:sp>
      <p:sp>
        <p:nvSpPr>
          <p:cNvPr id="29" name="Text 27"/>
          <p:cNvSpPr/>
          <p:nvPr/>
        </p:nvSpPr>
        <p:spPr>
          <a:xfrm>
            <a:off x="566928" y="647395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457F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LEVEL 1  </a:t>
            </a:r>
            <a:pPr indent="0" marL="0">
              <a:buNone/>
            </a:pPr>
            <a:r>
              <a:rPr lang="en-US" sz="900" dirty="0">
                <a:solidFill>
                  <a:srgbClr val="2457F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Phản hồi chạm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054096" y="6400800"/>
            <a:ext cx="2377440" cy="45720"/>
          </a:xfrm>
          <a:prstGeom prst="rect">
            <a:avLst/>
          </a:prstGeom>
          <a:solidFill>
            <a:srgbClr val="E3E6EC"/>
          </a:solidFill>
          <a:ln/>
        </p:spPr>
      </p:sp>
      <p:sp>
        <p:nvSpPr>
          <p:cNvPr id="31" name="Text 29"/>
          <p:cNvSpPr/>
          <p:nvPr/>
        </p:nvSpPr>
        <p:spPr>
          <a:xfrm>
            <a:off x="3054096" y="647395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4A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LEVEL 2  </a:t>
            </a:r>
            <a:pPr indent="0" marL="0">
              <a:buNone/>
            </a:pPr>
            <a:r>
              <a:rPr lang="en-US" sz="9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 trạng thái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541264" y="6400800"/>
            <a:ext cx="2377440" cy="45720"/>
          </a:xfrm>
          <a:prstGeom prst="rect">
            <a:avLst/>
          </a:prstGeom>
          <a:solidFill>
            <a:srgbClr val="E3E6EC"/>
          </a:solidFill>
          <a:ln/>
        </p:spPr>
      </p:sp>
      <p:sp>
        <p:nvSpPr>
          <p:cNvPr id="33" name="Text 31"/>
          <p:cNvSpPr/>
          <p:nvPr/>
        </p:nvSpPr>
        <p:spPr>
          <a:xfrm>
            <a:off x="5541264" y="647395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4A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LEVEL 3  </a:t>
            </a:r>
            <a:pPr indent="0" marL="0">
              <a:buNone/>
            </a:pPr>
            <a:r>
              <a:rPr lang="en-US" sz="9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 động vật lý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8028432" y="6400800"/>
            <a:ext cx="2377440" cy="45720"/>
          </a:xfrm>
          <a:prstGeom prst="rect">
            <a:avLst/>
          </a:prstGeom>
          <a:solidFill>
            <a:srgbClr val="E3E6EC"/>
          </a:solidFill>
          <a:ln/>
        </p:spPr>
      </p:sp>
      <p:sp>
        <p:nvSpPr>
          <p:cNvPr id="35" name="Text 33"/>
          <p:cNvSpPr/>
          <p:nvPr/>
        </p:nvSpPr>
        <p:spPr>
          <a:xfrm>
            <a:off x="8028432" y="647395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4A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LEVEL 4  </a:t>
            </a:r>
            <a:pPr indent="0" marL="0">
              <a:buNone/>
            </a:pPr>
            <a:r>
              <a:rPr lang="en-US" sz="9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Biến dạng tại điểm chạm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B8F7C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1234440"/>
            <a:ext cx="1143000" cy="1143000"/>
          </a:xfrm>
          <a:prstGeom prst="ellipse">
            <a:avLst/>
          </a:prstGeom>
          <a:solidFill>
            <a:srgbClr val="0B8F7C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3444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Bricolage Grotesque 96pt" pitchFamily="34" charset="0"/>
                <a:ea typeface="Bricolage Grotesque 96pt" pitchFamily="34" charset="-122"/>
                <a:cs typeface="Bricolage Grotesque 96pt" pitchFamily="34" charset="-120"/>
              </a:rPr>
              <a:t>2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938528" y="129844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0B8F7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LEVEL 2 / 4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938528" y="1645920"/>
            <a:ext cx="5440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12151C"/>
                </a:solidFill>
                <a:latin typeface="Bricolage Grotesque 96pt" pitchFamily="34" charset="0"/>
                <a:ea typeface="Bricolage Grotesque 96pt" pitchFamily="34" charset="-122"/>
                <a:cs typeface="Bricolage Grotesque 96pt" pitchFamily="34" charset="-120"/>
              </a:rPr>
              <a:t>Chuyển trạng thái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566928" y="2743200"/>
            <a:ext cx="54864" cy="868680"/>
          </a:xfrm>
          <a:prstGeom prst="rect">
            <a:avLst/>
          </a:prstGeom>
          <a:solidFill>
            <a:srgbClr val="0B8F7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2743200"/>
            <a:ext cx="6309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A303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Đổi state thì </a:t>
            </a:r>
            <a:pPr indent="0" marL="0">
              <a:buNone/>
            </a:pPr>
            <a:r>
              <a:rPr lang="en-US" sz="1700" dirty="0">
                <a:solidFill>
                  <a:srgbClr val="1215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morph</a:t>
            </a:r>
            <a:pPr indent="0" marL="0">
              <a:buNone/>
            </a:pPr>
            <a:r>
              <a:rPr lang="en-US" sz="1700" dirty="0">
                <a:solidFill>
                  <a:srgbClr val="2A303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, không nhảy.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66928" y="3886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5D657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NỘI DUNG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66928" y="4288536"/>
            <a:ext cx="274320" cy="274320"/>
          </a:xfrm>
          <a:prstGeom prst="ellipse">
            <a:avLst/>
          </a:prstGeom>
          <a:solidFill>
            <a:srgbClr val="0B8F7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4288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987552" y="4251960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Hòa nhau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66928" y="4709160"/>
            <a:ext cx="274320" cy="274320"/>
          </a:xfrm>
          <a:prstGeom prst="ellipse">
            <a:avLst/>
          </a:prstGeom>
          <a:solidFill>
            <a:srgbClr val="0B8F7C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4709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987552" y="4672584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 / bớt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66928" y="5129784"/>
            <a:ext cx="274320" cy="274320"/>
          </a:xfrm>
          <a:prstGeom prst="ellipse">
            <a:avLst/>
          </a:prstGeom>
          <a:solidFill>
            <a:srgbClr val="0B8F7C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51297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87552" y="509320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 shape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7635240" y="1143000"/>
            <a:ext cx="3986784" cy="148132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1C2433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635240" y="1344168"/>
            <a:ext cx="64008" cy="1078992"/>
          </a:xfrm>
          <a:prstGeom prst="rect">
            <a:avLst/>
          </a:prstGeom>
          <a:solidFill>
            <a:srgbClr val="0B8F7C"/>
          </a:solidFill>
          <a:ln/>
        </p:spPr>
      </p:sp>
      <p:sp>
        <p:nvSpPr>
          <p:cNvPr id="21" name="Text 19"/>
          <p:cNvSpPr/>
          <p:nvPr/>
        </p:nvSpPr>
        <p:spPr>
          <a:xfrm>
            <a:off x="7927848" y="1362456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B8F7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GlassEffectContainer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927848" y="1783080"/>
            <a:ext cx="34838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 phần tử morph.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635240" y="2825496"/>
            <a:ext cx="3986784" cy="148132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1C2433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635240" y="3026664"/>
            <a:ext cx="64008" cy="1078992"/>
          </a:xfrm>
          <a:prstGeom prst="rect">
            <a:avLst/>
          </a:prstGeom>
          <a:solidFill>
            <a:srgbClr val="0B8F7C"/>
          </a:solidFill>
          <a:ln/>
        </p:spPr>
      </p:sp>
      <p:sp>
        <p:nvSpPr>
          <p:cNvPr id="25" name="Text 23"/>
          <p:cNvSpPr/>
          <p:nvPr/>
        </p:nvSpPr>
        <p:spPr>
          <a:xfrm>
            <a:off x="7927848" y="304495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B8F7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glassEffectID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927848" y="3465576"/>
            <a:ext cx="34838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Nối cũ với mới.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7635240" y="4507992"/>
            <a:ext cx="3986784" cy="148132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1C2433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635240" y="4709160"/>
            <a:ext cx="64008" cy="1078992"/>
          </a:xfrm>
          <a:prstGeom prst="rect">
            <a:avLst/>
          </a:prstGeom>
          <a:solidFill>
            <a:srgbClr val="0B8F7C"/>
          </a:solidFill>
          <a:ln/>
        </p:spPr>
      </p:sp>
      <p:sp>
        <p:nvSpPr>
          <p:cNvPr id="29" name="Text 27"/>
          <p:cNvSpPr/>
          <p:nvPr/>
        </p:nvSpPr>
        <p:spPr>
          <a:xfrm>
            <a:off x="7927848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B8F7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withAnimation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7927848" y="5148072"/>
            <a:ext cx="34838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Bọc thay đổi state.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66928" y="2926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D657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Liquid Glass · Level by Level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023360" y="2926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Level 1</a:t>
            </a:r>
            <a:pPr algn="r" indent="0" marL="0">
              <a:buNone/>
            </a:pPr>
            <a:r>
              <a:rPr lang="en-US" sz="1000" dirty="0">
                <a:solidFill>
                  <a:srgbClr val="0B8F7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  Level 2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Level 3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Level 4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Tích hợp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Performance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Lưu ý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66928" y="6400800"/>
            <a:ext cx="2377440" cy="45720"/>
          </a:xfrm>
          <a:prstGeom prst="rect">
            <a:avLst/>
          </a:prstGeom>
          <a:solidFill>
            <a:srgbClr val="C9CED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647395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4A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LEVEL 1  </a:t>
            </a:r>
            <a:pPr indent="0" marL="0">
              <a:buNone/>
            </a:pPr>
            <a:r>
              <a:rPr lang="en-US" sz="9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 hồi chạm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54096" y="6400800"/>
            <a:ext cx="2377440" cy="45720"/>
          </a:xfrm>
          <a:prstGeom prst="rect">
            <a:avLst/>
          </a:prstGeom>
          <a:solidFill>
            <a:srgbClr val="0B8F7C"/>
          </a:solidFill>
          <a:ln/>
        </p:spPr>
      </p:sp>
      <p:sp>
        <p:nvSpPr>
          <p:cNvPr id="36" name="Text 34"/>
          <p:cNvSpPr/>
          <p:nvPr/>
        </p:nvSpPr>
        <p:spPr>
          <a:xfrm>
            <a:off x="3054096" y="647395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B8F7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LEVEL 2  </a:t>
            </a:r>
            <a:pPr indent="0" marL="0">
              <a:buNone/>
            </a:pPr>
            <a:r>
              <a:rPr lang="en-US" sz="900" dirty="0">
                <a:solidFill>
                  <a:srgbClr val="0B8F7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Chuyển trạng thái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41264" y="6400800"/>
            <a:ext cx="2377440" cy="45720"/>
          </a:xfrm>
          <a:prstGeom prst="rect">
            <a:avLst/>
          </a:prstGeom>
          <a:solidFill>
            <a:srgbClr val="E3E6EC"/>
          </a:solidFill>
          <a:ln/>
        </p:spPr>
      </p:sp>
      <p:sp>
        <p:nvSpPr>
          <p:cNvPr id="38" name="Text 36"/>
          <p:cNvSpPr/>
          <p:nvPr/>
        </p:nvSpPr>
        <p:spPr>
          <a:xfrm>
            <a:off x="5541264" y="647395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4A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LEVEL 3  </a:t>
            </a:r>
            <a:pPr indent="0" marL="0">
              <a:buNone/>
            </a:pPr>
            <a:r>
              <a:rPr lang="en-US" sz="9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 động vật lý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8028432" y="6400800"/>
            <a:ext cx="2377440" cy="45720"/>
          </a:xfrm>
          <a:prstGeom prst="rect">
            <a:avLst/>
          </a:prstGeom>
          <a:solidFill>
            <a:srgbClr val="E3E6EC"/>
          </a:solidFill>
          <a:ln/>
        </p:spPr>
      </p:sp>
      <p:sp>
        <p:nvSpPr>
          <p:cNvPr id="40" name="Text 38"/>
          <p:cNvSpPr/>
          <p:nvPr/>
        </p:nvSpPr>
        <p:spPr>
          <a:xfrm>
            <a:off x="8028432" y="647395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4A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LEVEL 4  </a:t>
            </a:r>
            <a:pPr indent="0" marL="0">
              <a:buNone/>
            </a:pPr>
            <a:r>
              <a:rPr lang="en-US" sz="9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Biến dạng tại điểm chạm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029115"/>
            <a:ext cx="6537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0B8F7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LEVEL 2 · CÁCH LÀM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2541179"/>
            <a:ext cx="6537960" cy="5747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12151C"/>
                </a:solidFill>
                <a:latin typeface="Bricolage Grotesque 96pt" pitchFamily="34" charset="0"/>
                <a:ea typeface="Bricolage Grotesque 96pt" pitchFamily="34" charset="-122"/>
                <a:cs typeface="Bricolage Grotesque 96pt" pitchFamily="34" charset="-120"/>
              </a:rPr>
              <a:t>Ba kiểu morph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3335365"/>
            <a:ext cx="54864" cy="451104"/>
          </a:xfrm>
          <a:prstGeom prst="rect">
            <a:avLst/>
          </a:prstGeom>
          <a:solidFill>
            <a:srgbClr val="0B8F7C"/>
          </a:solidFill>
          <a:ln/>
        </p:spPr>
      </p:sp>
      <p:sp>
        <p:nvSpPr>
          <p:cNvPr id="5" name="Text 3"/>
          <p:cNvSpPr/>
          <p:nvPr/>
        </p:nvSpPr>
        <p:spPr>
          <a:xfrm>
            <a:off x="786384" y="3335365"/>
            <a:ext cx="6318504" cy="451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2A303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Thêm/bớt cần 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215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container + ID + animation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2A303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66928" y="4042501"/>
            <a:ext cx="292608" cy="292608"/>
          </a:xfrm>
          <a:prstGeom prst="ellipse">
            <a:avLst/>
          </a:prstGeom>
          <a:solidFill>
            <a:srgbClr val="0B8F7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404250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05840" y="4005925"/>
            <a:ext cx="6099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215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Hòa nhau</a:t>
            </a:r>
            <a:pPr indent="0" marL="0">
              <a:buNone/>
            </a:pPr>
            <a:r>
              <a:rPr lang="en-US" sz="15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 gap &lt; </a:t>
            </a:r>
            <a:pPr indent="0" marL="0">
              <a:buNone/>
            </a:pPr>
            <a:r>
              <a:rPr lang="en-US" sz="1290" dirty="0">
                <a:solidFill>
                  <a:srgbClr val="2A303C"/>
                </a:solidFill>
                <a:highlight>
                  <a:srgbClr val="EEF1F6"/>
                </a:highlight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spacing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4408261"/>
            <a:ext cx="292608" cy="292608"/>
          </a:xfrm>
          <a:prstGeom prst="ellipse">
            <a:avLst/>
          </a:prstGeom>
          <a:solidFill>
            <a:srgbClr val="0B8F7C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440826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05840" y="4371685"/>
            <a:ext cx="6099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215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Thêm / bớt</a:t>
            </a:r>
            <a:pPr indent="0" marL="0">
              <a:buNone/>
            </a:pPr>
            <a:r>
              <a:rPr lang="en-US" sz="15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 </a:t>
            </a:r>
            <a:pPr indent="0" marL="0">
              <a:buNone/>
            </a:pPr>
            <a:r>
              <a:rPr lang="en-US" sz="1290" dirty="0">
                <a:solidFill>
                  <a:srgbClr val="2A303C"/>
                </a:solidFill>
                <a:highlight>
                  <a:srgbClr val="EEF1F6"/>
                </a:highlight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glassEffectID</a:t>
            </a:r>
            <a:pPr indent="0" marL="0">
              <a:buNone/>
            </a:pPr>
            <a:r>
              <a:rPr lang="en-US" sz="15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 </a:t>
            </a:r>
            <a:pPr indent="0" marL="0">
              <a:buNone/>
            </a:pPr>
            <a:r>
              <a:rPr lang="en-US" sz="1290" dirty="0">
                <a:solidFill>
                  <a:srgbClr val="2A303C"/>
                </a:solidFill>
                <a:highlight>
                  <a:srgbClr val="EEF1F6"/>
                </a:highlight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@Namespace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774021"/>
            <a:ext cx="292608" cy="292608"/>
          </a:xfrm>
          <a:prstGeom prst="ellipse">
            <a:avLst/>
          </a:prstGeom>
          <a:solidFill>
            <a:srgbClr val="0B8F7C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477402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05840" y="4737445"/>
            <a:ext cx="6099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215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Đổi shape</a:t>
            </a:r>
            <a:pPr indent="0" marL="0">
              <a:buNone/>
            </a:pPr>
            <a:r>
              <a:rPr lang="en-US" sz="15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 giữ identity, đổi </a:t>
            </a:r>
            <a:pPr indent="0" marL="0">
              <a:buNone/>
            </a:pPr>
            <a:r>
              <a:rPr lang="en-US" sz="1290" dirty="0">
                <a:solidFill>
                  <a:srgbClr val="2A303C"/>
                </a:solidFill>
                <a:highlight>
                  <a:srgbClr val="EEF1F6"/>
                </a:highlight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frame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635240" y="1143000"/>
            <a:ext cx="3986784" cy="148132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1C2433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635240" y="1344168"/>
            <a:ext cx="64008" cy="1078992"/>
          </a:xfrm>
          <a:prstGeom prst="rect">
            <a:avLst/>
          </a:prstGeom>
          <a:solidFill>
            <a:srgbClr val="0B8F7C"/>
          </a:solidFill>
          <a:ln/>
        </p:spPr>
      </p:sp>
      <p:sp>
        <p:nvSpPr>
          <p:cNvPr id="17" name="Text 15"/>
          <p:cNvSpPr/>
          <p:nvPr/>
        </p:nvSpPr>
        <p:spPr>
          <a:xfrm>
            <a:off x="7927848" y="1362456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B8F7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spacing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927848" y="1783080"/>
            <a:ext cx="34838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Khoảng cách bắt đầu hòa.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35240" y="2825496"/>
            <a:ext cx="3986784" cy="148132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1C2433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635240" y="3026664"/>
            <a:ext cx="64008" cy="1078992"/>
          </a:xfrm>
          <a:prstGeom prst="rect">
            <a:avLst/>
          </a:prstGeom>
          <a:solidFill>
            <a:srgbClr val="0B8F7C"/>
          </a:solidFill>
          <a:ln/>
        </p:spPr>
      </p:sp>
      <p:sp>
        <p:nvSpPr>
          <p:cNvPr id="21" name="Text 19"/>
          <p:cNvSpPr/>
          <p:nvPr/>
        </p:nvSpPr>
        <p:spPr>
          <a:xfrm>
            <a:off x="7927848" y="304495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B8F7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glassEffectID(_:in:)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927848" y="3465576"/>
            <a:ext cx="34838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 cần khi thêm/bớt view.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635240" y="4507992"/>
            <a:ext cx="3986784" cy="148132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1C2433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635240" y="4709160"/>
            <a:ext cx="64008" cy="1078992"/>
          </a:xfrm>
          <a:prstGeom prst="rect">
            <a:avLst/>
          </a:prstGeom>
          <a:solidFill>
            <a:srgbClr val="0B8F7C"/>
          </a:solidFill>
          <a:ln/>
        </p:spPr>
      </p:sp>
      <p:sp>
        <p:nvSpPr>
          <p:cNvPr id="25" name="Text 23"/>
          <p:cNvSpPr/>
          <p:nvPr/>
        </p:nvSpPr>
        <p:spPr>
          <a:xfrm>
            <a:off x="7927848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B8F7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frame + cornerRadius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927848" y="5148072"/>
            <a:ext cx="34838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SwiftUI tự nội suy.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66928" y="2926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D657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Liquid Glass · Level by Level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023360" y="2926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Level 1</a:t>
            </a:r>
            <a:pPr algn="r" indent="0" marL="0">
              <a:buNone/>
            </a:pPr>
            <a:r>
              <a:rPr lang="en-US" sz="1000" dirty="0">
                <a:solidFill>
                  <a:srgbClr val="0B8F7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  Level 2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Level 3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Level 4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Tích hợp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Performance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Lưu ý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607040" y="246888"/>
            <a:ext cx="1014984" cy="329184"/>
          </a:xfrm>
          <a:prstGeom prst="roundRect">
            <a:avLst>
              <a:gd name="adj" fmla="val 22222"/>
            </a:avLst>
          </a:prstGeom>
          <a:solidFill>
            <a:srgbClr val="0B8F7C"/>
          </a:solidFill>
          <a:ln/>
        </p:spPr>
      </p:sp>
      <p:sp>
        <p:nvSpPr>
          <p:cNvPr id="30" name="Text 28"/>
          <p:cNvSpPr/>
          <p:nvPr/>
        </p:nvSpPr>
        <p:spPr>
          <a:xfrm>
            <a:off x="10607040" y="246888"/>
            <a:ext cx="10149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DEMO 2a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66928" y="6400800"/>
            <a:ext cx="2377440" cy="45720"/>
          </a:xfrm>
          <a:prstGeom prst="rect">
            <a:avLst/>
          </a:prstGeom>
          <a:solidFill>
            <a:srgbClr val="C9CED8"/>
          </a:solidFill>
          <a:ln/>
        </p:spPr>
      </p:sp>
      <p:sp>
        <p:nvSpPr>
          <p:cNvPr id="32" name="Text 30"/>
          <p:cNvSpPr/>
          <p:nvPr/>
        </p:nvSpPr>
        <p:spPr>
          <a:xfrm>
            <a:off x="566928" y="647395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4A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LEVEL 1  </a:t>
            </a:r>
            <a:pPr indent="0" marL="0">
              <a:buNone/>
            </a:pPr>
            <a:r>
              <a:rPr lang="en-US" sz="9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 hồi chạm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054096" y="6400800"/>
            <a:ext cx="2377440" cy="45720"/>
          </a:xfrm>
          <a:prstGeom prst="rect">
            <a:avLst/>
          </a:prstGeom>
          <a:solidFill>
            <a:srgbClr val="0B8F7C"/>
          </a:solidFill>
          <a:ln/>
        </p:spPr>
      </p:sp>
      <p:sp>
        <p:nvSpPr>
          <p:cNvPr id="34" name="Text 32"/>
          <p:cNvSpPr/>
          <p:nvPr/>
        </p:nvSpPr>
        <p:spPr>
          <a:xfrm>
            <a:off x="3054096" y="647395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B8F7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LEVEL 2  </a:t>
            </a:r>
            <a:pPr indent="0" marL="0">
              <a:buNone/>
            </a:pPr>
            <a:r>
              <a:rPr lang="en-US" sz="900" dirty="0">
                <a:solidFill>
                  <a:srgbClr val="0B8F7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Chuyển trạng thái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541264" y="6400800"/>
            <a:ext cx="2377440" cy="45720"/>
          </a:xfrm>
          <a:prstGeom prst="rect">
            <a:avLst/>
          </a:prstGeom>
          <a:solidFill>
            <a:srgbClr val="E3E6EC"/>
          </a:solidFill>
          <a:ln/>
        </p:spPr>
      </p:sp>
      <p:sp>
        <p:nvSpPr>
          <p:cNvPr id="36" name="Text 34"/>
          <p:cNvSpPr/>
          <p:nvPr/>
        </p:nvSpPr>
        <p:spPr>
          <a:xfrm>
            <a:off x="5541264" y="647395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4A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LEVEL 3  </a:t>
            </a:r>
            <a:pPr indent="0" marL="0">
              <a:buNone/>
            </a:pPr>
            <a:r>
              <a:rPr lang="en-US" sz="9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 động vật lý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028432" y="6400800"/>
            <a:ext cx="2377440" cy="45720"/>
          </a:xfrm>
          <a:prstGeom prst="rect">
            <a:avLst/>
          </a:prstGeom>
          <a:solidFill>
            <a:srgbClr val="E3E6EC"/>
          </a:solidFill>
          <a:ln/>
        </p:spPr>
      </p:sp>
      <p:sp>
        <p:nvSpPr>
          <p:cNvPr id="38" name="Text 36"/>
          <p:cNvSpPr/>
          <p:nvPr/>
        </p:nvSpPr>
        <p:spPr>
          <a:xfrm>
            <a:off x="8028432" y="647395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4A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LEVEL 4  </a:t>
            </a:r>
            <a:pPr indent="0" marL="0">
              <a:buNone/>
            </a:pPr>
            <a:r>
              <a:rPr lang="en-US" sz="9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Biến dạng tại điểm chạm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490381"/>
            <a:ext cx="6537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0B8F7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LEVEL 2 · LỖI HAY GẶP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2002445"/>
            <a:ext cx="6537960" cy="5747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12151C"/>
                </a:solidFill>
                <a:latin typeface="Bricolage Grotesque 96pt" pitchFamily="34" charset="0"/>
                <a:ea typeface="Bricolage Grotesque 96pt" pitchFamily="34" charset="-122"/>
                <a:cs typeface="Bricolage Grotesque 96pt" pitchFamily="34" charset="-120"/>
              </a:rPr>
              <a:t>Morph hỏng, view không nội suy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2796631"/>
            <a:ext cx="54864" cy="451104"/>
          </a:xfrm>
          <a:prstGeom prst="rect">
            <a:avLst/>
          </a:prstGeom>
          <a:solidFill>
            <a:srgbClr val="0B8F7C"/>
          </a:solidFill>
          <a:ln/>
        </p:spPr>
      </p:sp>
      <p:sp>
        <p:nvSpPr>
          <p:cNvPr id="5" name="Text 3"/>
          <p:cNvSpPr/>
          <p:nvPr/>
        </p:nvSpPr>
        <p:spPr>
          <a:xfrm>
            <a:off x="786384" y="2796631"/>
            <a:ext cx="6318504" cy="451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2A303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Thiếu một điều kiện là 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215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view nhảy thẳng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2A303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66928" y="3503767"/>
            <a:ext cx="292608" cy="292608"/>
          </a:xfrm>
          <a:prstGeom prst="ellipse">
            <a:avLst/>
          </a:prstGeom>
          <a:solidFill>
            <a:srgbClr val="0B8F7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3503767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05840" y="3467191"/>
            <a:ext cx="6099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 container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3869527"/>
            <a:ext cx="292608" cy="292608"/>
          </a:xfrm>
          <a:prstGeom prst="ellipse">
            <a:avLst/>
          </a:prstGeom>
          <a:solidFill>
            <a:srgbClr val="0B8F7C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3869527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05840" y="3832951"/>
            <a:ext cx="6099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Thiếu </a:t>
            </a:r>
            <a:pPr indent="0" marL="0">
              <a:buNone/>
            </a:pPr>
            <a:r>
              <a:rPr lang="en-US" sz="1290" dirty="0">
                <a:solidFill>
                  <a:srgbClr val="2A303C"/>
                </a:solidFill>
                <a:highlight>
                  <a:srgbClr val="EEF1F6"/>
                </a:highlight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withAnimation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235287"/>
            <a:ext cx="292608" cy="292608"/>
          </a:xfrm>
          <a:prstGeom prst="ellipse">
            <a:avLst/>
          </a:prstGeom>
          <a:solidFill>
            <a:srgbClr val="0B8F7C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4235287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05840" y="4198711"/>
            <a:ext cx="6099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ID đổi theo state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66928" y="4601047"/>
            <a:ext cx="292608" cy="292608"/>
          </a:xfrm>
          <a:prstGeom prst="ellipse">
            <a:avLst/>
          </a:prstGeom>
          <a:solidFill>
            <a:srgbClr val="0B8F7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4601047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05840" y="4564471"/>
            <a:ext cx="6099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90" dirty="0">
                <a:solidFill>
                  <a:srgbClr val="2A303C"/>
                </a:solidFill>
                <a:highlight>
                  <a:srgbClr val="EEF1F6"/>
                </a:highlight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if/else</a:t>
            </a:r>
            <a:pPr indent="0" marL="0">
              <a:buNone/>
            </a:pPr>
            <a:r>
              <a:rPr lang="en-US" sz="15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 identity</a:t>
            </a:r>
            <a:endParaRPr lang="en-US" sz="1290" dirty="0"/>
          </a:p>
        </p:txBody>
      </p:sp>
      <p:sp>
        <p:nvSpPr>
          <p:cNvPr id="18" name="Shape 16"/>
          <p:cNvSpPr/>
          <p:nvPr/>
        </p:nvSpPr>
        <p:spPr>
          <a:xfrm>
            <a:off x="566928" y="5149687"/>
            <a:ext cx="6537960" cy="492252"/>
          </a:xfrm>
          <a:prstGeom prst="roundRect">
            <a:avLst>
              <a:gd name="adj" fmla="val 18576"/>
            </a:avLst>
          </a:prstGeom>
          <a:solidFill>
            <a:srgbClr val="FFF3E2"/>
          </a:solidFill>
          <a:ln/>
        </p:spPr>
      </p:sp>
      <p:sp>
        <p:nvSpPr>
          <p:cNvPr id="19" name="Shape 17"/>
          <p:cNvSpPr/>
          <p:nvPr/>
        </p:nvSpPr>
        <p:spPr>
          <a:xfrm>
            <a:off x="731520" y="5286847"/>
            <a:ext cx="566928" cy="256032"/>
          </a:xfrm>
          <a:prstGeom prst="roundRect">
            <a:avLst>
              <a:gd name="adj" fmla="val 21429"/>
            </a:avLst>
          </a:prstGeom>
          <a:solidFill>
            <a:srgbClr val="A64B00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5286847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BẪY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463040" y="5259415"/>
            <a:ext cx="5486400" cy="272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18" dirty="0">
                <a:solidFill>
                  <a:srgbClr val="A64B00"/>
                </a:solidFill>
                <a:highlight>
                  <a:srgbClr val="FBE6CC"/>
                </a:highlight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glassEffect</a:t>
            </a:r>
            <a:pPr indent="0" marL="0">
              <a:buNone/>
            </a:pPr>
            <a:r>
              <a:rPr lang="en-US" sz="1300" dirty="0">
                <a:solidFill>
                  <a:srgbClr val="A64B0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 </a:t>
            </a:r>
            <a:pPr indent="0" marL="0">
              <a:buNone/>
            </a:pPr>
            <a:r>
              <a:rPr lang="en-US" sz="1118" dirty="0">
                <a:solidFill>
                  <a:srgbClr val="A64B00"/>
                </a:solidFill>
                <a:highlight>
                  <a:srgbClr val="FBE6CC"/>
                </a:highlight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.frame</a:t>
            </a:r>
            <a:pPr indent="0" marL="0">
              <a:buNone/>
            </a:pPr>
            <a:r>
              <a:rPr lang="en-US" sz="1300" dirty="0">
                <a:solidFill>
                  <a:srgbClr val="A64B0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 sai kích thước, không phải lỗi morph.</a:t>
            </a:r>
            <a:endParaRPr lang="en-US" sz="1118" dirty="0"/>
          </a:p>
        </p:txBody>
      </p:sp>
      <p:sp>
        <p:nvSpPr>
          <p:cNvPr id="22" name="Shape 20"/>
          <p:cNvSpPr/>
          <p:nvPr/>
        </p:nvSpPr>
        <p:spPr>
          <a:xfrm>
            <a:off x="7635240" y="1143000"/>
            <a:ext cx="3986784" cy="148132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1C2433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635240" y="1344168"/>
            <a:ext cx="64008" cy="1078992"/>
          </a:xfrm>
          <a:prstGeom prst="rect">
            <a:avLst/>
          </a:prstGeom>
          <a:solidFill>
            <a:srgbClr val="0B8F7C"/>
          </a:solidFill>
          <a:ln/>
        </p:spPr>
      </p:sp>
      <p:sp>
        <p:nvSpPr>
          <p:cNvPr id="24" name="Text 22"/>
          <p:cNvSpPr/>
          <p:nvPr/>
        </p:nvSpPr>
        <p:spPr>
          <a:xfrm>
            <a:off x="7927848" y="1362456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B8F7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Cùng container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927848" y="1783080"/>
            <a:ext cx="34838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Morph trong một container.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635240" y="2825496"/>
            <a:ext cx="3986784" cy="148132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1C2433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635240" y="3026664"/>
            <a:ext cx="64008" cy="1078992"/>
          </a:xfrm>
          <a:prstGeom prst="rect">
            <a:avLst/>
          </a:prstGeom>
          <a:solidFill>
            <a:srgbClr val="0B8F7C"/>
          </a:solidFill>
          <a:ln/>
        </p:spPr>
      </p:sp>
      <p:sp>
        <p:nvSpPr>
          <p:cNvPr id="28" name="Text 26"/>
          <p:cNvSpPr/>
          <p:nvPr/>
        </p:nvSpPr>
        <p:spPr>
          <a:xfrm>
            <a:off x="7927848" y="304495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B8F7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ID ổn định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927848" y="3465576"/>
            <a:ext cx="34838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đổi theo state.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7635240" y="4507992"/>
            <a:ext cx="3986784" cy="148132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1C2433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7635240" y="4709160"/>
            <a:ext cx="64008" cy="1078992"/>
          </a:xfrm>
          <a:prstGeom prst="rect">
            <a:avLst/>
          </a:prstGeom>
          <a:solidFill>
            <a:srgbClr val="0B8F7C"/>
          </a:solidFill>
          <a:ln/>
        </p:spPr>
      </p:sp>
      <p:sp>
        <p:nvSpPr>
          <p:cNvPr id="32" name="Text 30"/>
          <p:cNvSpPr/>
          <p:nvPr/>
        </p:nvSpPr>
        <p:spPr>
          <a:xfrm>
            <a:off x="7927848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B8F7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.transaction { print($0) }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927848" y="5148072"/>
            <a:ext cx="34838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 animation thực tế.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66928" y="2926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D657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Liquid Glass · Level by Level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023360" y="2926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Level 1</a:t>
            </a:r>
            <a:pPr algn="r" indent="0" marL="0">
              <a:buNone/>
            </a:pPr>
            <a:r>
              <a:rPr lang="en-US" sz="1000" dirty="0">
                <a:solidFill>
                  <a:srgbClr val="0B8F7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  Level 2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Level 3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Level 4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Tích hợp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Performance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Lưu ý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0607040" y="246888"/>
            <a:ext cx="1014984" cy="329184"/>
          </a:xfrm>
          <a:prstGeom prst="roundRect">
            <a:avLst>
              <a:gd name="adj" fmla="val 22222"/>
            </a:avLst>
          </a:prstGeom>
          <a:solidFill>
            <a:srgbClr val="0B8F7C"/>
          </a:solidFill>
          <a:ln/>
        </p:spPr>
      </p:sp>
      <p:sp>
        <p:nvSpPr>
          <p:cNvPr id="37" name="Text 35"/>
          <p:cNvSpPr/>
          <p:nvPr/>
        </p:nvSpPr>
        <p:spPr>
          <a:xfrm>
            <a:off x="10607040" y="246888"/>
            <a:ext cx="10149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DEMO 2b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66928" y="6400800"/>
            <a:ext cx="2377440" cy="45720"/>
          </a:xfrm>
          <a:prstGeom prst="rect">
            <a:avLst/>
          </a:prstGeom>
          <a:solidFill>
            <a:srgbClr val="C9CED8"/>
          </a:solidFill>
          <a:ln/>
        </p:spPr>
      </p:sp>
      <p:sp>
        <p:nvSpPr>
          <p:cNvPr id="39" name="Text 37"/>
          <p:cNvSpPr/>
          <p:nvPr/>
        </p:nvSpPr>
        <p:spPr>
          <a:xfrm>
            <a:off x="566928" y="647395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4A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LEVEL 1  </a:t>
            </a:r>
            <a:pPr indent="0" marL="0">
              <a:buNone/>
            </a:pPr>
            <a:r>
              <a:rPr lang="en-US" sz="9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 hồi chạm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054096" y="6400800"/>
            <a:ext cx="2377440" cy="45720"/>
          </a:xfrm>
          <a:prstGeom prst="rect">
            <a:avLst/>
          </a:prstGeom>
          <a:solidFill>
            <a:srgbClr val="0B8F7C"/>
          </a:solidFill>
          <a:ln/>
        </p:spPr>
      </p:sp>
      <p:sp>
        <p:nvSpPr>
          <p:cNvPr id="41" name="Text 39"/>
          <p:cNvSpPr/>
          <p:nvPr/>
        </p:nvSpPr>
        <p:spPr>
          <a:xfrm>
            <a:off x="3054096" y="647395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B8F7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LEVEL 2  </a:t>
            </a:r>
            <a:pPr indent="0" marL="0">
              <a:buNone/>
            </a:pPr>
            <a:r>
              <a:rPr lang="en-US" sz="900" dirty="0">
                <a:solidFill>
                  <a:srgbClr val="0B8F7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Chuyển trạng thái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541264" y="6400800"/>
            <a:ext cx="2377440" cy="45720"/>
          </a:xfrm>
          <a:prstGeom prst="rect">
            <a:avLst/>
          </a:prstGeom>
          <a:solidFill>
            <a:srgbClr val="E3E6EC"/>
          </a:solidFill>
          <a:ln/>
        </p:spPr>
      </p:sp>
      <p:sp>
        <p:nvSpPr>
          <p:cNvPr id="43" name="Text 41"/>
          <p:cNvSpPr/>
          <p:nvPr/>
        </p:nvSpPr>
        <p:spPr>
          <a:xfrm>
            <a:off x="5541264" y="647395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4A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LEVEL 3  </a:t>
            </a:r>
            <a:pPr indent="0" marL="0">
              <a:buNone/>
            </a:pPr>
            <a:r>
              <a:rPr lang="en-US" sz="9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 động vật lý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028432" y="6400800"/>
            <a:ext cx="2377440" cy="45720"/>
          </a:xfrm>
          <a:prstGeom prst="rect">
            <a:avLst/>
          </a:prstGeom>
          <a:solidFill>
            <a:srgbClr val="E3E6EC"/>
          </a:solidFill>
          <a:ln/>
        </p:spPr>
      </p:sp>
      <p:sp>
        <p:nvSpPr>
          <p:cNvPr id="45" name="Text 43"/>
          <p:cNvSpPr/>
          <p:nvPr/>
        </p:nvSpPr>
        <p:spPr>
          <a:xfrm>
            <a:off x="8028432" y="647395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4A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LEVEL 4  </a:t>
            </a:r>
            <a:pPr indent="0" marL="0">
              <a:buNone/>
            </a:pPr>
            <a:r>
              <a:rPr lang="en-US" sz="9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Biến dạng tại điểm chạm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640A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1234440"/>
            <a:ext cx="1143000" cy="1143000"/>
          </a:xfrm>
          <a:prstGeom prst="ellipse">
            <a:avLst/>
          </a:prstGeom>
          <a:solidFill>
            <a:srgbClr val="D9640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3444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Bricolage Grotesque 96pt" pitchFamily="34" charset="0"/>
                <a:ea typeface="Bricolage Grotesque 96pt" pitchFamily="34" charset="-122"/>
                <a:cs typeface="Bricolage Grotesque 96pt" pitchFamily="34" charset="-120"/>
              </a:rPr>
              <a:t>3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938528" y="129844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D9640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LEVEL 3 / 4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938528" y="1645920"/>
            <a:ext cx="5440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12151C"/>
                </a:solidFill>
                <a:latin typeface="Bricolage Grotesque 96pt" pitchFamily="34" charset="0"/>
                <a:ea typeface="Bricolage Grotesque 96pt" pitchFamily="34" charset="-122"/>
                <a:cs typeface="Bricolage Grotesque 96pt" pitchFamily="34" charset="-120"/>
              </a:rPr>
              <a:t>Chuyển động vật lý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566928" y="2743200"/>
            <a:ext cx="54864" cy="868680"/>
          </a:xfrm>
          <a:prstGeom prst="rect">
            <a:avLst/>
          </a:prstGeom>
          <a:solidFill>
            <a:srgbClr val="D9640A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2743200"/>
            <a:ext cx="6309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A303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Chuyển động </a:t>
            </a:r>
            <a:pPr indent="0" marL="0">
              <a:buNone/>
            </a:pPr>
            <a:r>
              <a:rPr lang="en-US" sz="1700" dirty="0">
                <a:solidFill>
                  <a:srgbClr val="1215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theo tay</a:t>
            </a:r>
            <a:pPr indent="0" marL="0">
              <a:buNone/>
            </a:pPr>
            <a:r>
              <a:rPr lang="en-US" sz="1700" dirty="0">
                <a:solidFill>
                  <a:srgbClr val="2A303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, ngắt vẫn mượt.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66928" y="3886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5D657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NỘI DUNG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66928" y="4288536"/>
            <a:ext cx="274320" cy="274320"/>
          </a:xfrm>
          <a:prstGeom prst="ellipse">
            <a:avLst/>
          </a:prstGeom>
          <a:solidFill>
            <a:srgbClr val="D9640A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4288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987552" y="4251960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Spring khi bị ngắt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66928" y="4709160"/>
            <a:ext cx="274320" cy="274320"/>
          </a:xfrm>
          <a:prstGeom prst="ellipse">
            <a:avLst/>
          </a:prstGeom>
          <a:solidFill>
            <a:srgbClr val="D9640A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4709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987552" y="4672584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Decay khi thả tay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66928" y="5129784"/>
            <a:ext cx="274320" cy="274320"/>
          </a:xfrm>
          <a:prstGeom prst="ellipse">
            <a:avLst/>
          </a:prstGeom>
          <a:solidFill>
            <a:srgbClr val="D9640A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51297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87552" y="509320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Animate theo cung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7635240" y="1143000"/>
            <a:ext cx="3986784" cy="148132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1C2433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635240" y="1344168"/>
            <a:ext cx="64008" cy="1078992"/>
          </a:xfrm>
          <a:prstGeom prst="rect">
            <a:avLst/>
          </a:prstGeom>
          <a:solidFill>
            <a:srgbClr val="D9640A"/>
          </a:solidFill>
          <a:ln/>
        </p:spPr>
      </p:sp>
      <p:sp>
        <p:nvSpPr>
          <p:cNvPr id="21" name="Text 19"/>
          <p:cNvSpPr/>
          <p:nvPr/>
        </p:nvSpPr>
        <p:spPr>
          <a:xfrm>
            <a:off x="7927848" y="1362456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D9640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spring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927848" y="1783080"/>
            <a:ext cx="34838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 vận tốc.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635240" y="2825496"/>
            <a:ext cx="3986784" cy="148132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1C2433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635240" y="3026664"/>
            <a:ext cx="64008" cy="1078992"/>
          </a:xfrm>
          <a:prstGeom prst="rect">
            <a:avLst/>
          </a:prstGeom>
          <a:solidFill>
            <a:srgbClr val="D9640A"/>
          </a:solidFill>
          <a:ln/>
        </p:spPr>
      </p:sp>
      <p:sp>
        <p:nvSpPr>
          <p:cNvPr id="25" name="Text 23"/>
          <p:cNvSpPr/>
          <p:nvPr/>
        </p:nvSpPr>
        <p:spPr>
          <a:xfrm>
            <a:off x="7927848" y="304495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D9640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CustomAnimation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927848" y="3465576"/>
            <a:ext cx="34838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 viết decay.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7635240" y="4507992"/>
            <a:ext cx="3986784" cy="148132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1C2433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635240" y="4709160"/>
            <a:ext cx="64008" cy="1078992"/>
          </a:xfrm>
          <a:prstGeom prst="rect">
            <a:avLst/>
          </a:prstGeom>
          <a:solidFill>
            <a:srgbClr val="D9640A"/>
          </a:solidFill>
          <a:ln/>
        </p:spPr>
      </p:sp>
      <p:sp>
        <p:nvSpPr>
          <p:cNvPr id="29" name="Text 27"/>
          <p:cNvSpPr/>
          <p:nvPr/>
        </p:nvSpPr>
        <p:spPr>
          <a:xfrm>
            <a:off x="7927848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D9640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Animatable Layout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7927848" y="5148072"/>
            <a:ext cx="34838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Vị trí theo frame.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66928" y="2926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D657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Liquid Glass · Level by Level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023360" y="2926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Level 1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Level 2</a:t>
            </a:r>
            <a:pPr algn="r" indent="0" marL="0">
              <a:buNone/>
            </a:pPr>
            <a:r>
              <a:rPr lang="en-US" sz="1000" dirty="0">
                <a:solidFill>
                  <a:srgbClr val="D9640A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  Level 3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Level 4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Tích hợp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Performance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Lưu ý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66928" y="6400800"/>
            <a:ext cx="2377440" cy="45720"/>
          </a:xfrm>
          <a:prstGeom prst="rect">
            <a:avLst/>
          </a:prstGeom>
          <a:solidFill>
            <a:srgbClr val="C9CED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647395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4A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LEVEL 1  </a:t>
            </a:r>
            <a:pPr indent="0" marL="0">
              <a:buNone/>
            </a:pPr>
            <a:r>
              <a:rPr lang="en-US" sz="9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 hồi chạm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54096" y="6400800"/>
            <a:ext cx="2377440" cy="45720"/>
          </a:xfrm>
          <a:prstGeom prst="rect">
            <a:avLst/>
          </a:prstGeom>
          <a:solidFill>
            <a:srgbClr val="C9CED8"/>
          </a:solidFill>
          <a:ln/>
        </p:spPr>
      </p:sp>
      <p:sp>
        <p:nvSpPr>
          <p:cNvPr id="36" name="Text 34"/>
          <p:cNvSpPr/>
          <p:nvPr/>
        </p:nvSpPr>
        <p:spPr>
          <a:xfrm>
            <a:off x="3054096" y="647395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4A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LEVEL 2  </a:t>
            </a:r>
            <a:pPr indent="0" marL="0">
              <a:buNone/>
            </a:pPr>
            <a:r>
              <a:rPr lang="en-US" sz="9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 trạng thái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41264" y="6400800"/>
            <a:ext cx="2377440" cy="45720"/>
          </a:xfrm>
          <a:prstGeom prst="rect">
            <a:avLst/>
          </a:prstGeom>
          <a:solidFill>
            <a:srgbClr val="D9640A"/>
          </a:solidFill>
          <a:ln/>
        </p:spPr>
      </p:sp>
      <p:sp>
        <p:nvSpPr>
          <p:cNvPr id="38" name="Text 36"/>
          <p:cNvSpPr/>
          <p:nvPr/>
        </p:nvSpPr>
        <p:spPr>
          <a:xfrm>
            <a:off x="5541264" y="647395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640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LEVEL 3  </a:t>
            </a:r>
            <a:pPr indent="0" marL="0">
              <a:buNone/>
            </a:pPr>
            <a:r>
              <a:rPr lang="en-US" sz="900" dirty="0">
                <a:solidFill>
                  <a:srgbClr val="D9640A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Chuyển động vật lý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8028432" y="6400800"/>
            <a:ext cx="2377440" cy="45720"/>
          </a:xfrm>
          <a:prstGeom prst="rect">
            <a:avLst/>
          </a:prstGeom>
          <a:solidFill>
            <a:srgbClr val="E3E6EC"/>
          </a:solidFill>
          <a:ln/>
        </p:spPr>
      </p:sp>
      <p:sp>
        <p:nvSpPr>
          <p:cNvPr id="40" name="Text 38"/>
          <p:cNvSpPr/>
          <p:nvPr/>
        </p:nvSpPr>
        <p:spPr>
          <a:xfrm>
            <a:off x="8028432" y="647395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4A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LEVEL 4  </a:t>
            </a:r>
            <a:pPr indent="0" marL="0">
              <a:buNone/>
            </a:pPr>
            <a:r>
              <a:rPr lang="en-US" sz="9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Biến dạng tại điểm chạm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085503"/>
            <a:ext cx="6537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D9640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LEVEL 3 · CÁCH LÀM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2597567"/>
            <a:ext cx="6537960" cy="5747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12151C"/>
                </a:solidFill>
                <a:latin typeface="Bricolage Grotesque 96pt" pitchFamily="34" charset="0"/>
                <a:ea typeface="Bricolage Grotesque 96pt" pitchFamily="34" charset="-122"/>
                <a:cs typeface="Bricolage Grotesque 96pt" pitchFamily="34" charset="-120"/>
              </a:rPr>
              <a:t>Spring khi ngắt, decay khi thả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3391753"/>
            <a:ext cx="54864" cy="451104"/>
          </a:xfrm>
          <a:prstGeom prst="rect">
            <a:avLst/>
          </a:prstGeom>
          <a:solidFill>
            <a:srgbClr val="D9640A"/>
          </a:solidFill>
          <a:ln/>
        </p:spPr>
      </p:sp>
      <p:sp>
        <p:nvSpPr>
          <p:cNvPr id="5" name="Text 3"/>
          <p:cNvSpPr/>
          <p:nvPr/>
        </p:nvSpPr>
        <p:spPr>
          <a:xfrm>
            <a:off x="786384" y="3391753"/>
            <a:ext cx="6318504" cy="451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215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Spring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2A303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giữ vận tốc. 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215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Decay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2A303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trượt theo tay.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66928" y="4062313"/>
            <a:ext cx="65379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3E6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4062313"/>
            <a:ext cx="6172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2151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đích = p₀ + v₀ / k · k ≈ 2 /s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03504" y="4830409"/>
            <a:ext cx="82296" cy="82296"/>
          </a:xfrm>
          <a:prstGeom prst="rect">
            <a:avLst/>
          </a:prstGeom>
          <a:solidFill>
            <a:srgbClr val="D9640A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4738969"/>
            <a:ext cx="6263640" cy="307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 đích: spring. Không đích: decay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635240" y="1143000"/>
            <a:ext cx="3986784" cy="148132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1C2433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635240" y="1344168"/>
            <a:ext cx="64008" cy="1078992"/>
          </a:xfrm>
          <a:prstGeom prst="rect">
            <a:avLst/>
          </a:prstGeom>
          <a:solidFill>
            <a:srgbClr val="D9640A"/>
          </a:solidFill>
          <a:ln/>
        </p:spPr>
      </p:sp>
      <p:sp>
        <p:nvSpPr>
          <p:cNvPr id="12" name="Text 10"/>
          <p:cNvSpPr/>
          <p:nvPr/>
        </p:nvSpPr>
        <p:spPr>
          <a:xfrm>
            <a:off x="7927848" y="1362456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D9640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shouldMerge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927848" y="1783080"/>
            <a:ext cx="34838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Spring đổi đích liền mạch.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635240" y="2825496"/>
            <a:ext cx="3986784" cy="148132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1C2433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635240" y="3026664"/>
            <a:ext cx="64008" cy="1078992"/>
          </a:xfrm>
          <a:prstGeom prst="rect">
            <a:avLst/>
          </a:prstGeom>
          <a:solidFill>
            <a:srgbClr val="D9640A"/>
          </a:solidFill>
          <a:ln/>
        </p:spPr>
      </p:sp>
      <p:sp>
        <p:nvSpPr>
          <p:cNvPr id="16" name="Text 14"/>
          <p:cNvSpPr/>
          <p:nvPr/>
        </p:nvSpPr>
        <p:spPr>
          <a:xfrm>
            <a:off x="7927848" y="304495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D9640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DragGesture.Value.velocity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927848" y="3465576"/>
            <a:ext cx="34838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Vận tốc lúc thả.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635240" y="4507992"/>
            <a:ext cx="3986784" cy="148132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1C2433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635240" y="4709160"/>
            <a:ext cx="64008" cy="1078992"/>
          </a:xfrm>
          <a:prstGeom prst="rect">
            <a:avLst/>
          </a:prstGeom>
          <a:solidFill>
            <a:srgbClr val="D9640A"/>
          </a:solidFill>
          <a:ln/>
        </p:spPr>
      </p:sp>
      <p:sp>
        <p:nvSpPr>
          <p:cNvPr id="20" name="Text 18"/>
          <p:cNvSpPr/>
          <p:nvPr/>
        </p:nvSpPr>
        <p:spPr>
          <a:xfrm>
            <a:off x="7927848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D9640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CustomAnimation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927848" y="5148072"/>
            <a:ext cx="34838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4" dirty="0">
                <a:solidFill>
                  <a:srgbClr val="2A303C"/>
                </a:solidFill>
                <a:highlight>
                  <a:srgbClr val="EEF1F6"/>
                </a:highlight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animate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04" dirty="0">
                <a:solidFill>
                  <a:srgbClr val="2A303C"/>
                </a:solidFill>
                <a:highlight>
                  <a:srgbClr val="EEF1F6"/>
                </a:highlight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velocity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endParaRPr lang="en-US" sz="1204" dirty="0"/>
          </a:p>
        </p:txBody>
      </p:sp>
      <p:sp>
        <p:nvSpPr>
          <p:cNvPr id="22" name="Text 20"/>
          <p:cNvSpPr/>
          <p:nvPr/>
        </p:nvSpPr>
        <p:spPr>
          <a:xfrm>
            <a:off x="566928" y="2926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D657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Liquid Glass · Level by Level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023360" y="2926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Level 1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Level 2</a:t>
            </a:r>
            <a:pPr algn="r" indent="0" marL="0">
              <a:buNone/>
            </a:pPr>
            <a:r>
              <a:rPr lang="en-US" sz="1000" dirty="0">
                <a:solidFill>
                  <a:srgbClr val="D9640A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  Level 3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Level 4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Tích hợp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Performance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Lưu ý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0607040" y="246888"/>
            <a:ext cx="1014984" cy="329184"/>
          </a:xfrm>
          <a:prstGeom prst="roundRect">
            <a:avLst>
              <a:gd name="adj" fmla="val 22222"/>
            </a:avLst>
          </a:prstGeom>
          <a:solidFill>
            <a:srgbClr val="D9640A"/>
          </a:solidFill>
          <a:ln/>
        </p:spPr>
      </p:sp>
      <p:sp>
        <p:nvSpPr>
          <p:cNvPr id="25" name="Text 23"/>
          <p:cNvSpPr/>
          <p:nvPr/>
        </p:nvSpPr>
        <p:spPr>
          <a:xfrm>
            <a:off x="10607040" y="246888"/>
            <a:ext cx="10149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DEMO 3a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66928" y="6400800"/>
            <a:ext cx="2377440" cy="45720"/>
          </a:xfrm>
          <a:prstGeom prst="rect">
            <a:avLst/>
          </a:prstGeom>
          <a:solidFill>
            <a:srgbClr val="C9CED8"/>
          </a:solidFill>
          <a:ln/>
        </p:spPr>
      </p:sp>
      <p:sp>
        <p:nvSpPr>
          <p:cNvPr id="27" name="Text 25"/>
          <p:cNvSpPr/>
          <p:nvPr/>
        </p:nvSpPr>
        <p:spPr>
          <a:xfrm>
            <a:off x="566928" y="647395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4A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LEVEL 1  </a:t>
            </a:r>
            <a:pPr indent="0" marL="0">
              <a:buNone/>
            </a:pPr>
            <a:r>
              <a:rPr lang="en-US" sz="9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 hồi chạm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054096" y="6400800"/>
            <a:ext cx="2377440" cy="45720"/>
          </a:xfrm>
          <a:prstGeom prst="rect">
            <a:avLst/>
          </a:prstGeom>
          <a:solidFill>
            <a:srgbClr val="C9CED8"/>
          </a:solidFill>
          <a:ln/>
        </p:spPr>
      </p:sp>
      <p:sp>
        <p:nvSpPr>
          <p:cNvPr id="29" name="Text 27"/>
          <p:cNvSpPr/>
          <p:nvPr/>
        </p:nvSpPr>
        <p:spPr>
          <a:xfrm>
            <a:off x="3054096" y="647395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4A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LEVEL 2  </a:t>
            </a:r>
            <a:pPr indent="0" marL="0">
              <a:buNone/>
            </a:pPr>
            <a:r>
              <a:rPr lang="en-US" sz="9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 trạng thái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541264" y="6400800"/>
            <a:ext cx="2377440" cy="45720"/>
          </a:xfrm>
          <a:prstGeom prst="rect">
            <a:avLst/>
          </a:prstGeom>
          <a:solidFill>
            <a:srgbClr val="D9640A"/>
          </a:solidFill>
          <a:ln/>
        </p:spPr>
      </p:sp>
      <p:sp>
        <p:nvSpPr>
          <p:cNvPr id="31" name="Text 29"/>
          <p:cNvSpPr/>
          <p:nvPr/>
        </p:nvSpPr>
        <p:spPr>
          <a:xfrm>
            <a:off x="5541264" y="647395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640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LEVEL 3  </a:t>
            </a:r>
            <a:pPr indent="0" marL="0">
              <a:buNone/>
            </a:pPr>
            <a:r>
              <a:rPr lang="en-US" sz="900" dirty="0">
                <a:solidFill>
                  <a:srgbClr val="D9640A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Chuyển động vật lý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028432" y="6400800"/>
            <a:ext cx="2377440" cy="45720"/>
          </a:xfrm>
          <a:prstGeom prst="rect">
            <a:avLst/>
          </a:prstGeom>
          <a:solidFill>
            <a:srgbClr val="E3E6EC"/>
          </a:solidFill>
          <a:ln/>
        </p:spPr>
      </p:sp>
      <p:sp>
        <p:nvSpPr>
          <p:cNvPr id="33" name="Text 31"/>
          <p:cNvSpPr/>
          <p:nvPr/>
        </p:nvSpPr>
        <p:spPr>
          <a:xfrm>
            <a:off x="8028432" y="647395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4A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LEVEL 4  </a:t>
            </a:r>
            <a:pPr indent="0" marL="0">
              <a:buNone/>
            </a:pPr>
            <a:r>
              <a:rPr lang="en-US" sz="9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Biến dạng tại điểm chạm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423831"/>
            <a:ext cx="6537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D9640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LEVEL 3 · NÂNG CAO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2935895"/>
            <a:ext cx="6537960" cy="5747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12151C"/>
                </a:solidFill>
                <a:latin typeface="Bricolage Grotesque 96pt" pitchFamily="34" charset="0"/>
                <a:ea typeface="Bricolage Grotesque 96pt" pitchFamily="34" charset="-122"/>
                <a:cs typeface="Bricolage Grotesque 96pt" pitchFamily="34" charset="-120"/>
              </a:rPr>
              <a:t>Menu cung tròn bằng Layout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3730081"/>
            <a:ext cx="54864" cy="451104"/>
          </a:xfrm>
          <a:prstGeom prst="rect">
            <a:avLst/>
          </a:prstGeom>
          <a:solidFill>
            <a:srgbClr val="D9640A"/>
          </a:solidFill>
          <a:ln/>
        </p:spPr>
      </p:sp>
      <p:sp>
        <p:nvSpPr>
          <p:cNvPr id="5" name="Text 3"/>
          <p:cNvSpPr/>
          <p:nvPr/>
        </p:nvSpPr>
        <p:spPr>
          <a:xfrm>
            <a:off x="786384" y="3730081"/>
            <a:ext cx="6318504" cy="451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76" dirty="0">
                <a:solidFill>
                  <a:srgbClr val="2A303C"/>
                </a:solidFill>
                <a:highlight>
                  <a:srgbClr val="EEF1F6"/>
                </a:highlight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offset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2A303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đi 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215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đường thẳng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2A303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. </a:t>
            </a:r>
            <a:pPr indent="0" marL="0">
              <a:lnSpc>
                <a:spcPct val="120000"/>
              </a:lnSpc>
              <a:buNone/>
            </a:pPr>
            <a:r>
              <a:rPr lang="en-US" sz="1376" dirty="0">
                <a:solidFill>
                  <a:srgbClr val="2A303C"/>
                </a:solidFill>
                <a:highlight>
                  <a:srgbClr val="EEF1F6"/>
                </a:highlight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Layout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2A303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đi 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215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theo cung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2A303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.</a:t>
            </a:r>
            <a:endParaRPr lang="en-US" sz="1376" dirty="0"/>
          </a:p>
        </p:txBody>
      </p:sp>
      <p:sp>
        <p:nvSpPr>
          <p:cNvPr id="6" name="Shape 4"/>
          <p:cNvSpPr/>
          <p:nvPr/>
        </p:nvSpPr>
        <p:spPr>
          <a:xfrm>
            <a:off x="603504" y="4492081"/>
            <a:ext cx="82296" cy="82296"/>
          </a:xfrm>
          <a:prstGeom prst="rect">
            <a:avLst/>
          </a:prstGeom>
          <a:solidFill>
            <a:srgbClr val="D9640A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4400641"/>
            <a:ext cx="6263640" cy="307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Spring chạy trên </a:t>
            </a:r>
            <a:pPr indent="0" marL="0">
              <a:buNone/>
            </a:pPr>
            <a:r>
              <a:rPr lang="en-US" sz="1204" dirty="0">
                <a:solidFill>
                  <a:srgbClr val="2A303C"/>
                </a:solidFill>
                <a:highlight>
                  <a:srgbClr val="EEF1F6"/>
                </a:highlight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progress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635240" y="1143000"/>
            <a:ext cx="3986784" cy="148132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1C2433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635240" y="1344168"/>
            <a:ext cx="64008" cy="1078992"/>
          </a:xfrm>
          <a:prstGeom prst="rect">
            <a:avLst/>
          </a:prstGeom>
          <a:solidFill>
            <a:srgbClr val="D9640A"/>
          </a:solidFill>
          <a:ln/>
        </p:spPr>
      </p:sp>
      <p:sp>
        <p:nvSpPr>
          <p:cNvPr id="10" name="Text 8"/>
          <p:cNvSpPr/>
          <p:nvPr/>
        </p:nvSpPr>
        <p:spPr>
          <a:xfrm>
            <a:off x="7927848" y="1362456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D9640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animatableData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927848" y="1783080"/>
            <a:ext cx="34838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Đưa </a:t>
            </a:r>
            <a:pPr indent="0" marL="0">
              <a:lnSpc>
                <a:spcPct val="115000"/>
              </a:lnSpc>
              <a:buNone/>
            </a:pPr>
            <a:r>
              <a:rPr lang="en-US" sz="1204" dirty="0">
                <a:solidFill>
                  <a:srgbClr val="2A303C"/>
                </a:solidFill>
                <a:highlight>
                  <a:srgbClr val="EEF1F6"/>
                </a:highlight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progress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 đây.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635240" y="2825496"/>
            <a:ext cx="3986784" cy="148132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1C2433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35240" y="3026664"/>
            <a:ext cx="64008" cy="1078992"/>
          </a:xfrm>
          <a:prstGeom prst="rect">
            <a:avLst/>
          </a:prstGeom>
          <a:solidFill>
            <a:srgbClr val="D9640A"/>
          </a:solidFill>
          <a:ln/>
        </p:spPr>
      </p:sp>
      <p:sp>
        <p:nvSpPr>
          <p:cNvPr id="14" name="Text 12"/>
          <p:cNvSpPr/>
          <p:nvPr/>
        </p:nvSpPr>
        <p:spPr>
          <a:xfrm>
            <a:off x="7927848" y="304495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D9640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placeSubviews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927848" y="3465576"/>
            <a:ext cx="34838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 vị trí mỗi frame.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35240" y="4507992"/>
            <a:ext cx="3986784" cy="148132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1C2433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635240" y="4709160"/>
            <a:ext cx="64008" cy="1078992"/>
          </a:xfrm>
          <a:prstGeom prst="rect">
            <a:avLst/>
          </a:prstGeom>
          <a:solidFill>
            <a:srgbClr val="D9640A"/>
          </a:solidFill>
          <a:ln/>
        </p:spPr>
      </p:sp>
      <p:sp>
        <p:nvSpPr>
          <p:cNvPr id="18" name="Text 16"/>
          <p:cNvSpPr/>
          <p:nvPr/>
        </p:nvSpPr>
        <p:spPr>
          <a:xfrm>
            <a:off x="7927848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D9640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KeyframeAnimator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927848" y="5148072"/>
            <a:ext cx="34838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Timeline cố định, không vận tốc.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66928" y="2926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D657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Liquid Glass · Level by Level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023360" y="2926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Level 1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Level 2</a:t>
            </a:r>
            <a:pPr algn="r" indent="0" marL="0">
              <a:buNone/>
            </a:pPr>
            <a:r>
              <a:rPr lang="en-US" sz="1000" dirty="0">
                <a:solidFill>
                  <a:srgbClr val="D9640A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  Level 3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Level 4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Tích hợp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Performance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Lưu ý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10607040" y="246888"/>
            <a:ext cx="1014984" cy="329184"/>
          </a:xfrm>
          <a:prstGeom prst="roundRect">
            <a:avLst>
              <a:gd name="adj" fmla="val 22222"/>
            </a:avLst>
          </a:prstGeom>
          <a:solidFill>
            <a:srgbClr val="D9640A"/>
          </a:solidFill>
          <a:ln/>
        </p:spPr>
      </p:sp>
      <p:sp>
        <p:nvSpPr>
          <p:cNvPr id="23" name="Text 21"/>
          <p:cNvSpPr/>
          <p:nvPr/>
        </p:nvSpPr>
        <p:spPr>
          <a:xfrm>
            <a:off x="10607040" y="246888"/>
            <a:ext cx="10149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DEMO 3b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66928" y="6400800"/>
            <a:ext cx="2377440" cy="45720"/>
          </a:xfrm>
          <a:prstGeom prst="rect">
            <a:avLst/>
          </a:prstGeom>
          <a:solidFill>
            <a:srgbClr val="C9CED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647395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4A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LEVEL 1  </a:t>
            </a:r>
            <a:pPr indent="0" marL="0">
              <a:buNone/>
            </a:pPr>
            <a:r>
              <a:rPr lang="en-US" sz="9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 hồi chạm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054096" y="6400800"/>
            <a:ext cx="2377440" cy="45720"/>
          </a:xfrm>
          <a:prstGeom prst="rect">
            <a:avLst/>
          </a:prstGeom>
          <a:solidFill>
            <a:srgbClr val="C9CED8"/>
          </a:solidFill>
          <a:ln/>
        </p:spPr>
      </p:sp>
      <p:sp>
        <p:nvSpPr>
          <p:cNvPr id="27" name="Text 25"/>
          <p:cNvSpPr/>
          <p:nvPr/>
        </p:nvSpPr>
        <p:spPr>
          <a:xfrm>
            <a:off x="3054096" y="647395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4A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LEVEL 2  </a:t>
            </a:r>
            <a:pPr indent="0" marL="0">
              <a:buNone/>
            </a:pPr>
            <a:r>
              <a:rPr lang="en-US" sz="9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 trạng thái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541264" y="6400800"/>
            <a:ext cx="2377440" cy="45720"/>
          </a:xfrm>
          <a:prstGeom prst="rect">
            <a:avLst/>
          </a:prstGeom>
          <a:solidFill>
            <a:srgbClr val="D9640A"/>
          </a:solidFill>
          <a:ln/>
        </p:spPr>
      </p:sp>
      <p:sp>
        <p:nvSpPr>
          <p:cNvPr id="29" name="Text 27"/>
          <p:cNvSpPr/>
          <p:nvPr/>
        </p:nvSpPr>
        <p:spPr>
          <a:xfrm>
            <a:off x="5541264" y="647395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640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LEVEL 3  </a:t>
            </a:r>
            <a:pPr indent="0" marL="0">
              <a:buNone/>
            </a:pPr>
            <a:r>
              <a:rPr lang="en-US" sz="900" dirty="0">
                <a:solidFill>
                  <a:srgbClr val="D9640A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Chuyển động vật lý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8028432" y="6400800"/>
            <a:ext cx="2377440" cy="45720"/>
          </a:xfrm>
          <a:prstGeom prst="rect">
            <a:avLst/>
          </a:prstGeom>
          <a:solidFill>
            <a:srgbClr val="E3E6EC"/>
          </a:solidFill>
          <a:ln/>
        </p:spPr>
      </p:sp>
      <p:sp>
        <p:nvSpPr>
          <p:cNvPr id="31" name="Text 29"/>
          <p:cNvSpPr/>
          <p:nvPr/>
        </p:nvSpPr>
        <p:spPr>
          <a:xfrm>
            <a:off x="8028432" y="647395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4A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LEVEL 4  </a:t>
            </a:r>
            <a:pPr indent="0" marL="0">
              <a:buNone/>
            </a:pPr>
            <a:r>
              <a:rPr lang="en-US" sz="9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Biến dạng tại điểm chạm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92A6A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1234440"/>
            <a:ext cx="1143000" cy="1143000"/>
          </a:xfrm>
          <a:prstGeom prst="ellipse">
            <a:avLst/>
          </a:prstGeom>
          <a:solidFill>
            <a:srgbClr val="C92A6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3444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Bricolage Grotesque 96pt" pitchFamily="34" charset="0"/>
                <a:ea typeface="Bricolage Grotesque 96pt" pitchFamily="34" charset="-122"/>
                <a:cs typeface="Bricolage Grotesque 96pt" pitchFamily="34" charset="-120"/>
              </a:rPr>
              <a:t>4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938528" y="129844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92A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LEVEL 4 / 4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938528" y="1645920"/>
            <a:ext cx="5440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12151C"/>
                </a:solidFill>
                <a:latin typeface="Bricolage Grotesque 96pt" pitchFamily="34" charset="0"/>
                <a:ea typeface="Bricolage Grotesque 96pt" pitchFamily="34" charset="-122"/>
                <a:cs typeface="Bricolage Grotesque 96pt" pitchFamily="34" charset="-120"/>
              </a:rPr>
              <a:t>Biến dạng tại điểm chạm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566928" y="2743200"/>
            <a:ext cx="54864" cy="868680"/>
          </a:xfrm>
          <a:prstGeom prst="rect">
            <a:avLst/>
          </a:prstGeom>
          <a:solidFill>
            <a:srgbClr val="C92A6A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2743200"/>
            <a:ext cx="6309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A303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Nền </a:t>
            </a:r>
            <a:pPr indent="0" marL="0">
              <a:buNone/>
            </a:pPr>
            <a:r>
              <a:rPr lang="en-US" sz="1700" dirty="0">
                <a:solidFill>
                  <a:srgbClr val="1215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gợn sóng theo ngón tay</a:t>
            </a:r>
            <a:pPr indent="0" marL="0">
              <a:buNone/>
            </a:pPr>
            <a:r>
              <a:rPr lang="en-US" sz="1700" dirty="0">
                <a:solidFill>
                  <a:srgbClr val="2A303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bằng Metal.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66928" y="3886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5D657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NỘI DUNG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66928" y="4288536"/>
            <a:ext cx="274320" cy="274320"/>
          </a:xfrm>
          <a:prstGeom prst="ellipse">
            <a:avLst/>
          </a:prstGeom>
          <a:solidFill>
            <a:srgbClr val="C92A6A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4288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987552" y="4251960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 shader modifier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66928" y="4709160"/>
            <a:ext cx="274320" cy="274320"/>
          </a:xfrm>
          <a:prstGeom prst="ellipse">
            <a:avLst/>
          </a:prstGeom>
          <a:solidFill>
            <a:srgbClr val="C92A6A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4709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987552" y="4672584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Ripple tại điểm chạm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66928" y="5129784"/>
            <a:ext cx="274320" cy="274320"/>
          </a:xfrm>
          <a:prstGeom prst="ellipse">
            <a:avLst/>
          </a:prstGeom>
          <a:solidFill>
            <a:srgbClr val="C92A6A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51297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87552" y="509320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Méo nền dưới lớp glass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7635240" y="1143000"/>
            <a:ext cx="3986784" cy="148132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1C2433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635240" y="1344168"/>
            <a:ext cx="64008" cy="1078992"/>
          </a:xfrm>
          <a:prstGeom prst="rect">
            <a:avLst/>
          </a:prstGeom>
          <a:solidFill>
            <a:srgbClr val="C92A6A"/>
          </a:solidFill>
          <a:ln/>
        </p:spPr>
      </p:sp>
      <p:sp>
        <p:nvSpPr>
          <p:cNvPr id="21" name="Text 19"/>
          <p:cNvSpPr/>
          <p:nvPr/>
        </p:nvSpPr>
        <p:spPr>
          <a:xfrm>
            <a:off x="7927848" y="1362456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2A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layerEffect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927848" y="1783080"/>
            <a:ext cx="34838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 nhiều pixel.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635240" y="2825496"/>
            <a:ext cx="3986784" cy="148132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1C2433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635240" y="3026664"/>
            <a:ext cx="64008" cy="1078992"/>
          </a:xfrm>
          <a:prstGeom prst="rect">
            <a:avLst/>
          </a:prstGeom>
          <a:solidFill>
            <a:srgbClr val="C92A6A"/>
          </a:solidFill>
          <a:ln/>
        </p:spPr>
      </p:sp>
      <p:sp>
        <p:nvSpPr>
          <p:cNvPr id="25" name="Text 23"/>
          <p:cNvSpPr/>
          <p:nvPr/>
        </p:nvSpPr>
        <p:spPr>
          <a:xfrm>
            <a:off x="7927848" y="304495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2A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distortionEffect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927848" y="3465576"/>
            <a:ext cx="34838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 về vị trí nguồn.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7635240" y="4507992"/>
            <a:ext cx="3986784" cy="148132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1C2433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635240" y="4709160"/>
            <a:ext cx="64008" cy="1078992"/>
          </a:xfrm>
          <a:prstGeom prst="rect">
            <a:avLst/>
          </a:prstGeom>
          <a:solidFill>
            <a:srgbClr val="C92A6A"/>
          </a:solidFill>
          <a:ln/>
        </p:spPr>
      </p:sp>
      <p:sp>
        <p:nvSpPr>
          <p:cNvPr id="29" name="Text 27"/>
          <p:cNvSpPr/>
          <p:nvPr/>
        </p:nvSpPr>
        <p:spPr>
          <a:xfrm>
            <a:off x="7927848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2A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keyframeAnimator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7927848" y="5148072"/>
            <a:ext cx="34838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Đưa thời gian vào shader.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66928" y="2926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D657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Liquid Glass · Level by Level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023360" y="2926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Level 1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Level 2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Level 3</a:t>
            </a:r>
            <a:pPr algn="r" indent="0" marL="0">
              <a:buNone/>
            </a:pPr>
            <a:r>
              <a:rPr lang="en-US" sz="1000" dirty="0">
                <a:solidFill>
                  <a:srgbClr val="C92A6A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  Level 4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Tích hợp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Performance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Lưu ý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66928" y="6400800"/>
            <a:ext cx="2377440" cy="45720"/>
          </a:xfrm>
          <a:prstGeom prst="rect">
            <a:avLst/>
          </a:prstGeom>
          <a:solidFill>
            <a:srgbClr val="C9CED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647395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4A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LEVEL 1  </a:t>
            </a:r>
            <a:pPr indent="0" marL="0">
              <a:buNone/>
            </a:pPr>
            <a:r>
              <a:rPr lang="en-US" sz="9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 hồi chạm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54096" y="6400800"/>
            <a:ext cx="2377440" cy="45720"/>
          </a:xfrm>
          <a:prstGeom prst="rect">
            <a:avLst/>
          </a:prstGeom>
          <a:solidFill>
            <a:srgbClr val="C9CED8"/>
          </a:solidFill>
          <a:ln/>
        </p:spPr>
      </p:sp>
      <p:sp>
        <p:nvSpPr>
          <p:cNvPr id="36" name="Text 34"/>
          <p:cNvSpPr/>
          <p:nvPr/>
        </p:nvSpPr>
        <p:spPr>
          <a:xfrm>
            <a:off x="3054096" y="647395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4A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LEVEL 2  </a:t>
            </a:r>
            <a:pPr indent="0" marL="0">
              <a:buNone/>
            </a:pPr>
            <a:r>
              <a:rPr lang="en-US" sz="9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 trạng thái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41264" y="6400800"/>
            <a:ext cx="2377440" cy="45720"/>
          </a:xfrm>
          <a:prstGeom prst="rect">
            <a:avLst/>
          </a:prstGeom>
          <a:solidFill>
            <a:srgbClr val="C9CED8"/>
          </a:solidFill>
          <a:ln/>
        </p:spPr>
      </p:sp>
      <p:sp>
        <p:nvSpPr>
          <p:cNvPr id="38" name="Text 36"/>
          <p:cNvSpPr/>
          <p:nvPr/>
        </p:nvSpPr>
        <p:spPr>
          <a:xfrm>
            <a:off x="5541264" y="647395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4A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LEVEL 3  </a:t>
            </a:r>
            <a:pPr indent="0" marL="0">
              <a:buNone/>
            </a:pPr>
            <a:r>
              <a:rPr lang="en-US" sz="9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 động vật lý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8028432" y="6400800"/>
            <a:ext cx="2377440" cy="45720"/>
          </a:xfrm>
          <a:prstGeom prst="rect">
            <a:avLst/>
          </a:prstGeom>
          <a:solidFill>
            <a:srgbClr val="C92A6A"/>
          </a:solidFill>
          <a:ln/>
        </p:spPr>
      </p:sp>
      <p:sp>
        <p:nvSpPr>
          <p:cNvPr id="40" name="Text 38"/>
          <p:cNvSpPr/>
          <p:nvPr/>
        </p:nvSpPr>
        <p:spPr>
          <a:xfrm>
            <a:off x="8028432" y="647395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92A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LEVEL 4  </a:t>
            </a:r>
            <a:pPr indent="0" marL="0">
              <a:buNone/>
            </a:pPr>
            <a:r>
              <a:rPr lang="en-US" sz="900" dirty="0">
                <a:solidFill>
                  <a:srgbClr val="C92A6A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Biến dạng tại điểm chạm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914053"/>
            <a:ext cx="6537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C92A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LEVEL 4 · CÁCH LÀM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2426117"/>
            <a:ext cx="6537960" cy="5747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12151C"/>
                </a:solidFill>
                <a:latin typeface="Bricolage Grotesque 96pt" pitchFamily="34" charset="0"/>
                <a:ea typeface="Bricolage Grotesque 96pt" pitchFamily="34" charset="-122"/>
                <a:cs typeface="Bricolage Grotesque 96pt" pitchFamily="34" charset="-120"/>
              </a:rPr>
              <a:t>Shader modifier và ripple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3220303"/>
            <a:ext cx="54864" cy="451104"/>
          </a:xfrm>
          <a:prstGeom prst="rect">
            <a:avLst/>
          </a:prstGeom>
          <a:solidFill>
            <a:srgbClr val="C92A6A"/>
          </a:solidFill>
          <a:ln/>
        </p:spPr>
      </p:sp>
      <p:sp>
        <p:nvSpPr>
          <p:cNvPr id="5" name="Text 3"/>
          <p:cNvSpPr/>
          <p:nvPr/>
        </p:nvSpPr>
        <p:spPr>
          <a:xfrm>
            <a:off x="786384" y="3220303"/>
            <a:ext cx="6318504" cy="451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2A303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Shader là 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215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hàm thuần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2A303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. Animation nằm ở Swift.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03504" y="3982303"/>
            <a:ext cx="82296" cy="82296"/>
          </a:xfrm>
          <a:prstGeom prst="rect">
            <a:avLst/>
          </a:prstGeom>
          <a:solidFill>
            <a:srgbClr val="C92A6A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3890863"/>
            <a:ext cx="6263640" cy="307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Input ripple: </a:t>
            </a:r>
            <a:pPr indent="0" marL="0">
              <a:buNone/>
            </a:pPr>
            <a:r>
              <a:rPr lang="en-US" sz="1204" dirty="0">
                <a:solidFill>
                  <a:srgbClr val="2A303C"/>
                </a:solidFill>
                <a:highlight>
                  <a:srgbClr val="EEF1F6"/>
                </a:highlight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origin</a:t>
            </a:r>
            <a:pPr indent="0" marL="0">
              <a:buNone/>
            </a:pPr>
            <a:r>
              <a:rPr lang="en-US" sz="14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, </a:t>
            </a:r>
            <a:pPr indent="0" marL="0">
              <a:buNone/>
            </a:pPr>
            <a:r>
              <a:rPr lang="en-US" sz="1204" dirty="0">
                <a:solidFill>
                  <a:srgbClr val="2A303C"/>
                </a:solidFill>
                <a:highlight>
                  <a:srgbClr val="EEF1F6"/>
                </a:highlight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time</a:t>
            </a:r>
            <a:pPr indent="0" marL="0">
              <a:buNone/>
            </a:pPr>
            <a:r>
              <a:rPr lang="en-US" sz="14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, amplitude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03504" y="4290151"/>
            <a:ext cx="82296" cy="82296"/>
          </a:xfrm>
          <a:prstGeom prst="rect">
            <a:avLst/>
          </a:prstGeom>
          <a:solidFill>
            <a:srgbClr val="C92A6A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4198711"/>
            <a:ext cx="6263640" cy="307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4" dirty="0">
                <a:solidFill>
                  <a:srgbClr val="2A303C"/>
                </a:solidFill>
                <a:highlight>
                  <a:srgbClr val="EEF1F6"/>
                </a:highlight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time</a:t>
            </a:r>
            <a:pPr indent="0" marL="0">
              <a:buNone/>
            </a:pPr>
            <a:r>
              <a:rPr lang="en-US" sz="14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 0 → 1,5 s</a:t>
            </a:r>
            <a:endParaRPr lang="en-US" sz="1204" dirty="0"/>
          </a:p>
        </p:txBody>
      </p:sp>
      <p:sp>
        <p:nvSpPr>
          <p:cNvPr id="10" name="Shape 8"/>
          <p:cNvSpPr/>
          <p:nvPr/>
        </p:nvSpPr>
        <p:spPr>
          <a:xfrm>
            <a:off x="566928" y="4726015"/>
            <a:ext cx="6537960" cy="492252"/>
          </a:xfrm>
          <a:prstGeom prst="roundRect">
            <a:avLst>
              <a:gd name="adj" fmla="val 18576"/>
            </a:avLst>
          </a:prstGeom>
          <a:solidFill>
            <a:srgbClr val="FFF3E2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0" y="4863175"/>
            <a:ext cx="566928" cy="256032"/>
          </a:xfrm>
          <a:prstGeom prst="roundRect">
            <a:avLst>
              <a:gd name="adj" fmla="val 21429"/>
            </a:avLst>
          </a:prstGeom>
          <a:solidFill>
            <a:srgbClr val="A64B00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4863175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BẪY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463040" y="4835743"/>
            <a:ext cx="5486400" cy="272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64B0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áp </a:t>
            </a:r>
            <a:pPr indent="0" marL="0">
              <a:buNone/>
            </a:pPr>
            <a:r>
              <a:rPr lang="en-US" sz="1118" dirty="0">
                <a:solidFill>
                  <a:srgbClr val="A64B00"/>
                </a:solidFill>
                <a:highlight>
                  <a:srgbClr val="FBE6CC"/>
                </a:highlight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layerEffect</a:t>
            </a:r>
            <a:pPr indent="0" marL="0">
              <a:buNone/>
            </a:pPr>
            <a:r>
              <a:rPr lang="en-US" sz="1300" dirty="0">
                <a:solidFill>
                  <a:srgbClr val="A64B0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 </a:t>
            </a:r>
            <a:pPr indent="0" marL="0">
              <a:buNone/>
            </a:pPr>
            <a:r>
              <a:rPr lang="en-US" sz="1118" dirty="0">
                <a:solidFill>
                  <a:srgbClr val="A64B00"/>
                </a:solidFill>
                <a:highlight>
                  <a:srgbClr val="FBE6CC"/>
                </a:highlight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List</a:t>
            </a:r>
            <a:pPr indent="0" marL="0">
              <a:buNone/>
            </a:pPr>
            <a:r>
              <a:rPr lang="en-US" sz="1300" dirty="0">
                <a:solidFill>
                  <a:srgbClr val="A64B0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/</a:t>
            </a:r>
            <a:pPr indent="0" marL="0">
              <a:buNone/>
            </a:pPr>
            <a:r>
              <a:rPr lang="en-US" sz="1118" dirty="0">
                <a:solidFill>
                  <a:srgbClr val="A64B00"/>
                </a:solidFill>
                <a:highlight>
                  <a:srgbClr val="FBE6CC"/>
                </a:highlight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ScrollView</a:t>
            </a:r>
            <a:pPr indent="0" marL="0">
              <a:buNone/>
            </a:pPr>
            <a:r>
              <a:rPr lang="en-US" sz="1300" dirty="0">
                <a:solidFill>
                  <a:srgbClr val="A64B0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635240" y="1143000"/>
            <a:ext cx="3986784" cy="148132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1C2433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635240" y="1344168"/>
            <a:ext cx="64008" cy="1078992"/>
          </a:xfrm>
          <a:prstGeom prst="rect">
            <a:avLst/>
          </a:prstGeom>
          <a:solidFill>
            <a:srgbClr val="C92A6A"/>
          </a:solidFill>
          <a:ln/>
        </p:spPr>
      </p:sp>
      <p:sp>
        <p:nvSpPr>
          <p:cNvPr id="16" name="Text 14"/>
          <p:cNvSpPr/>
          <p:nvPr/>
        </p:nvSpPr>
        <p:spPr>
          <a:xfrm>
            <a:off x="7927848" y="1362456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2A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colorEffect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927848" y="1783080"/>
            <a:ext cx="34838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 về màu mới.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635240" y="2825496"/>
            <a:ext cx="3986784" cy="148132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1C2433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635240" y="3026664"/>
            <a:ext cx="64008" cy="1078992"/>
          </a:xfrm>
          <a:prstGeom prst="rect">
            <a:avLst/>
          </a:prstGeom>
          <a:solidFill>
            <a:srgbClr val="C92A6A"/>
          </a:solidFill>
          <a:ln/>
        </p:spPr>
      </p:sp>
      <p:sp>
        <p:nvSpPr>
          <p:cNvPr id="20" name="Text 18"/>
          <p:cNvSpPr/>
          <p:nvPr/>
        </p:nvSpPr>
        <p:spPr>
          <a:xfrm>
            <a:off x="7927848" y="304495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2A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distortionEffect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927848" y="3465576"/>
            <a:ext cx="34838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 về vị trí nguồn.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35240" y="4507992"/>
            <a:ext cx="3986784" cy="148132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1C2433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635240" y="4709160"/>
            <a:ext cx="64008" cy="1078992"/>
          </a:xfrm>
          <a:prstGeom prst="rect">
            <a:avLst/>
          </a:prstGeom>
          <a:solidFill>
            <a:srgbClr val="C92A6A"/>
          </a:solidFill>
          <a:ln/>
        </p:spPr>
      </p:sp>
      <p:sp>
        <p:nvSpPr>
          <p:cNvPr id="24" name="Text 22"/>
          <p:cNvSpPr/>
          <p:nvPr/>
        </p:nvSpPr>
        <p:spPr>
          <a:xfrm>
            <a:off x="7927848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2A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layerEffect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927848" y="5148072"/>
            <a:ext cx="34838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Gọi </a:t>
            </a:r>
            <a:pPr indent="0" marL="0">
              <a:lnSpc>
                <a:spcPct val="115000"/>
              </a:lnSpc>
              <a:buNone/>
            </a:pPr>
            <a:r>
              <a:rPr lang="en-US" sz="1204" dirty="0">
                <a:solidFill>
                  <a:srgbClr val="2A303C"/>
                </a:solidFill>
                <a:highlight>
                  <a:srgbClr val="EEF1F6"/>
                </a:highlight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layer.sample()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66928" y="2926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D657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Liquid Glass · Level by Level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023360" y="2926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Level 1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Level 2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Level 3</a:t>
            </a:r>
            <a:pPr algn="r" indent="0" marL="0">
              <a:buNone/>
            </a:pPr>
            <a:r>
              <a:rPr lang="en-US" sz="1000" dirty="0">
                <a:solidFill>
                  <a:srgbClr val="C92A6A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  Level 4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Tích hợp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Performance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Lưu ý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10607040" y="246888"/>
            <a:ext cx="1014984" cy="329184"/>
          </a:xfrm>
          <a:prstGeom prst="roundRect">
            <a:avLst>
              <a:gd name="adj" fmla="val 22222"/>
            </a:avLst>
          </a:prstGeom>
          <a:solidFill>
            <a:srgbClr val="C92A6A"/>
          </a:solidFill>
          <a:ln/>
        </p:spPr>
      </p:sp>
      <p:sp>
        <p:nvSpPr>
          <p:cNvPr id="29" name="Text 27"/>
          <p:cNvSpPr/>
          <p:nvPr/>
        </p:nvSpPr>
        <p:spPr>
          <a:xfrm>
            <a:off x="10607040" y="246888"/>
            <a:ext cx="10149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DEMO 4a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66928" y="6400800"/>
            <a:ext cx="2377440" cy="45720"/>
          </a:xfrm>
          <a:prstGeom prst="rect">
            <a:avLst/>
          </a:prstGeom>
          <a:solidFill>
            <a:srgbClr val="C9CED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647395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4A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LEVEL 1  </a:t>
            </a:r>
            <a:pPr indent="0" marL="0">
              <a:buNone/>
            </a:pPr>
            <a:r>
              <a:rPr lang="en-US" sz="9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 hồi chạm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054096" y="6400800"/>
            <a:ext cx="2377440" cy="45720"/>
          </a:xfrm>
          <a:prstGeom prst="rect">
            <a:avLst/>
          </a:prstGeom>
          <a:solidFill>
            <a:srgbClr val="C9CED8"/>
          </a:solidFill>
          <a:ln/>
        </p:spPr>
      </p:sp>
      <p:sp>
        <p:nvSpPr>
          <p:cNvPr id="33" name="Text 31"/>
          <p:cNvSpPr/>
          <p:nvPr/>
        </p:nvSpPr>
        <p:spPr>
          <a:xfrm>
            <a:off x="3054096" y="647395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4A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LEVEL 2  </a:t>
            </a:r>
            <a:pPr indent="0" marL="0">
              <a:buNone/>
            </a:pPr>
            <a:r>
              <a:rPr lang="en-US" sz="9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 trạng thái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541264" y="6400800"/>
            <a:ext cx="2377440" cy="45720"/>
          </a:xfrm>
          <a:prstGeom prst="rect">
            <a:avLst/>
          </a:prstGeom>
          <a:solidFill>
            <a:srgbClr val="C9CED8"/>
          </a:solidFill>
          <a:ln/>
        </p:spPr>
      </p:sp>
      <p:sp>
        <p:nvSpPr>
          <p:cNvPr id="35" name="Text 33"/>
          <p:cNvSpPr/>
          <p:nvPr/>
        </p:nvSpPr>
        <p:spPr>
          <a:xfrm>
            <a:off x="5541264" y="647395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4A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LEVEL 3  </a:t>
            </a:r>
            <a:pPr indent="0" marL="0">
              <a:buNone/>
            </a:pPr>
            <a:r>
              <a:rPr lang="en-US" sz="9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 động vật lý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8028432" y="6400800"/>
            <a:ext cx="2377440" cy="45720"/>
          </a:xfrm>
          <a:prstGeom prst="rect">
            <a:avLst/>
          </a:prstGeom>
          <a:solidFill>
            <a:srgbClr val="C92A6A"/>
          </a:solidFill>
          <a:ln/>
        </p:spPr>
      </p:sp>
      <p:sp>
        <p:nvSpPr>
          <p:cNvPr id="37" name="Text 35"/>
          <p:cNvSpPr/>
          <p:nvPr/>
        </p:nvSpPr>
        <p:spPr>
          <a:xfrm>
            <a:off x="8028432" y="647395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92A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LEVEL 4  </a:t>
            </a:r>
            <a:pPr indent="0" marL="0">
              <a:buNone/>
            </a:pPr>
            <a:r>
              <a:rPr lang="en-US" sz="900" dirty="0">
                <a:solidFill>
                  <a:srgbClr val="C92A6A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Biến dạng tại điểm chạm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067977"/>
            <a:ext cx="6537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C92A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LEVEL 4 · LỖI HAY GẶP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2580041"/>
            <a:ext cx="6537960" cy="5747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12151C"/>
                </a:solidFill>
                <a:latin typeface="Bricolage Grotesque 96pt" pitchFamily="34" charset="0"/>
                <a:ea typeface="Bricolage Grotesque 96pt" pitchFamily="34" charset="-122"/>
                <a:cs typeface="Bricolage Grotesque 96pt" pitchFamily="34" charset="-120"/>
              </a:rPr>
              <a:t>Méo nền dưới lớp glass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3374227"/>
            <a:ext cx="54864" cy="451104"/>
          </a:xfrm>
          <a:prstGeom prst="rect">
            <a:avLst/>
          </a:prstGeom>
          <a:solidFill>
            <a:srgbClr val="C92A6A"/>
          </a:solidFill>
          <a:ln/>
        </p:spPr>
      </p:sp>
      <p:sp>
        <p:nvSpPr>
          <p:cNvPr id="5" name="Text 3"/>
          <p:cNvSpPr/>
          <p:nvPr/>
        </p:nvSpPr>
        <p:spPr>
          <a:xfrm>
            <a:off x="786384" y="3374227"/>
            <a:ext cx="6318504" cy="451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2A303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Đặt shader 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215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dưới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2A303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: giữ highlight hệ thống.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03504" y="4136227"/>
            <a:ext cx="82296" cy="82296"/>
          </a:xfrm>
          <a:prstGeom prst="rect">
            <a:avLst/>
          </a:prstGeom>
          <a:solidFill>
            <a:srgbClr val="C92A6A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4044787"/>
            <a:ext cx="6263640" cy="307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Tâm méo đưa vào </a:t>
            </a:r>
            <a:pPr indent="0" marL="0">
              <a:buNone/>
            </a:pPr>
            <a:r>
              <a:rPr lang="en-US" sz="1204" dirty="0">
                <a:solidFill>
                  <a:srgbClr val="2A303C"/>
                </a:solidFill>
                <a:highlight>
                  <a:srgbClr val="EEF1F6"/>
                </a:highlight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animatableData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4572091"/>
            <a:ext cx="6537960" cy="492252"/>
          </a:xfrm>
          <a:prstGeom prst="roundRect">
            <a:avLst>
              <a:gd name="adj" fmla="val 18576"/>
            </a:avLst>
          </a:prstGeom>
          <a:solidFill>
            <a:srgbClr val="FFF3E2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0" y="4709251"/>
            <a:ext cx="566928" cy="256032"/>
          </a:xfrm>
          <a:prstGeom prst="roundRect">
            <a:avLst>
              <a:gd name="adj" fmla="val 21429"/>
            </a:avLst>
          </a:prstGeom>
          <a:solidFill>
            <a:srgbClr val="A64B00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4709251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BẪY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463040" y="4681819"/>
            <a:ext cx="5486400" cy="272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64B0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Shader bọc cả nhóm glass: hiệu ứng biến mất.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635240" y="1143000"/>
            <a:ext cx="3986784" cy="148132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1C2433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35240" y="1344168"/>
            <a:ext cx="64008" cy="1078992"/>
          </a:xfrm>
          <a:prstGeom prst="rect">
            <a:avLst/>
          </a:prstGeom>
          <a:solidFill>
            <a:srgbClr val="C92A6A"/>
          </a:solidFill>
          <a:ln/>
        </p:spPr>
      </p:sp>
      <p:sp>
        <p:nvSpPr>
          <p:cNvPr id="14" name="Text 12"/>
          <p:cNvSpPr/>
          <p:nvPr/>
        </p:nvSpPr>
        <p:spPr>
          <a:xfrm>
            <a:off x="7927848" y="1362456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2A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Dưới lớp glass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927848" y="1783080"/>
            <a:ext cx="34838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Viền, highlight vẫn đúng.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35240" y="2825496"/>
            <a:ext cx="3986784" cy="148132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1C2433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635240" y="3026664"/>
            <a:ext cx="64008" cy="1078992"/>
          </a:xfrm>
          <a:prstGeom prst="rect">
            <a:avLst/>
          </a:prstGeom>
          <a:solidFill>
            <a:srgbClr val="C92A6A"/>
          </a:solidFill>
          <a:ln/>
        </p:spPr>
      </p:sp>
      <p:sp>
        <p:nvSpPr>
          <p:cNvPr id="18" name="Text 16"/>
          <p:cNvSpPr/>
          <p:nvPr/>
        </p:nvSpPr>
        <p:spPr>
          <a:xfrm>
            <a:off x="7927848" y="304495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2A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animatableData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927848" y="3465576"/>
            <a:ext cx="34838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Tâm méo theo spring.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635240" y="4507992"/>
            <a:ext cx="3986784" cy="148132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1C2433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635240" y="4709160"/>
            <a:ext cx="64008" cy="1078992"/>
          </a:xfrm>
          <a:prstGeom prst="rect">
            <a:avLst/>
          </a:prstGeom>
          <a:solidFill>
            <a:srgbClr val="C92A6A"/>
          </a:solidFill>
          <a:ln/>
        </p:spPr>
      </p:sp>
      <p:sp>
        <p:nvSpPr>
          <p:cNvPr id="22" name="Text 20"/>
          <p:cNvSpPr/>
          <p:nvPr/>
        </p:nvSpPr>
        <p:spPr>
          <a:xfrm>
            <a:off x="7927848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2A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TimelineView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927848" y="5148072"/>
            <a:ext cx="34838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4" dirty="0">
                <a:solidFill>
                  <a:srgbClr val="2A303C"/>
                </a:solidFill>
                <a:highlight>
                  <a:srgbClr val="EEF1F6"/>
                </a:highlight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time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 tục.</a:t>
            </a:r>
            <a:endParaRPr lang="en-US" sz="1204" dirty="0"/>
          </a:p>
        </p:txBody>
      </p:sp>
      <p:sp>
        <p:nvSpPr>
          <p:cNvPr id="24" name="Text 22"/>
          <p:cNvSpPr/>
          <p:nvPr/>
        </p:nvSpPr>
        <p:spPr>
          <a:xfrm>
            <a:off x="566928" y="2926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D657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Liquid Glass · Level by Level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023360" y="2926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Level 1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Level 2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Level 3</a:t>
            </a:r>
            <a:pPr algn="r" indent="0" marL="0">
              <a:buNone/>
            </a:pPr>
            <a:r>
              <a:rPr lang="en-US" sz="1000" dirty="0">
                <a:solidFill>
                  <a:srgbClr val="C92A6A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  Level 4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Tích hợp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Performance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Lưu ý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10607040" y="246888"/>
            <a:ext cx="1014984" cy="329184"/>
          </a:xfrm>
          <a:prstGeom prst="roundRect">
            <a:avLst>
              <a:gd name="adj" fmla="val 22222"/>
            </a:avLst>
          </a:prstGeom>
          <a:solidFill>
            <a:srgbClr val="C92A6A"/>
          </a:solidFill>
          <a:ln/>
        </p:spPr>
      </p:sp>
      <p:sp>
        <p:nvSpPr>
          <p:cNvPr id="27" name="Text 25"/>
          <p:cNvSpPr/>
          <p:nvPr/>
        </p:nvSpPr>
        <p:spPr>
          <a:xfrm>
            <a:off x="10607040" y="246888"/>
            <a:ext cx="10149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DEMO 4b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66928" y="6400800"/>
            <a:ext cx="2377440" cy="45720"/>
          </a:xfrm>
          <a:prstGeom prst="rect">
            <a:avLst/>
          </a:prstGeom>
          <a:solidFill>
            <a:srgbClr val="C9CED8"/>
          </a:solidFill>
          <a:ln/>
        </p:spPr>
      </p:sp>
      <p:sp>
        <p:nvSpPr>
          <p:cNvPr id="29" name="Text 27"/>
          <p:cNvSpPr/>
          <p:nvPr/>
        </p:nvSpPr>
        <p:spPr>
          <a:xfrm>
            <a:off x="566928" y="647395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4A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LEVEL 1  </a:t>
            </a:r>
            <a:pPr indent="0" marL="0">
              <a:buNone/>
            </a:pPr>
            <a:r>
              <a:rPr lang="en-US" sz="9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 hồi chạm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054096" y="6400800"/>
            <a:ext cx="2377440" cy="45720"/>
          </a:xfrm>
          <a:prstGeom prst="rect">
            <a:avLst/>
          </a:prstGeom>
          <a:solidFill>
            <a:srgbClr val="C9CED8"/>
          </a:solidFill>
          <a:ln/>
        </p:spPr>
      </p:sp>
      <p:sp>
        <p:nvSpPr>
          <p:cNvPr id="31" name="Text 29"/>
          <p:cNvSpPr/>
          <p:nvPr/>
        </p:nvSpPr>
        <p:spPr>
          <a:xfrm>
            <a:off x="3054096" y="647395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4A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LEVEL 2  </a:t>
            </a:r>
            <a:pPr indent="0" marL="0">
              <a:buNone/>
            </a:pPr>
            <a:r>
              <a:rPr lang="en-US" sz="9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 trạng thái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541264" y="6400800"/>
            <a:ext cx="2377440" cy="45720"/>
          </a:xfrm>
          <a:prstGeom prst="rect">
            <a:avLst/>
          </a:prstGeom>
          <a:solidFill>
            <a:srgbClr val="C9CED8"/>
          </a:solidFill>
          <a:ln/>
        </p:spPr>
      </p:sp>
      <p:sp>
        <p:nvSpPr>
          <p:cNvPr id="33" name="Text 31"/>
          <p:cNvSpPr/>
          <p:nvPr/>
        </p:nvSpPr>
        <p:spPr>
          <a:xfrm>
            <a:off x="5541264" y="647395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4A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LEVEL 3  </a:t>
            </a:r>
            <a:pPr indent="0" marL="0">
              <a:buNone/>
            </a:pPr>
            <a:r>
              <a:rPr lang="en-US" sz="9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 động vật lý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8028432" y="6400800"/>
            <a:ext cx="2377440" cy="45720"/>
          </a:xfrm>
          <a:prstGeom prst="rect">
            <a:avLst/>
          </a:prstGeom>
          <a:solidFill>
            <a:srgbClr val="C92A6A"/>
          </a:solidFill>
          <a:ln/>
        </p:spPr>
      </p:sp>
      <p:sp>
        <p:nvSpPr>
          <p:cNvPr id="35" name="Text 33"/>
          <p:cNvSpPr/>
          <p:nvPr/>
        </p:nvSpPr>
        <p:spPr>
          <a:xfrm>
            <a:off x="8028432" y="647395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92A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LEVEL 4  </a:t>
            </a:r>
            <a:pPr indent="0" marL="0">
              <a:buNone/>
            </a:pPr>
            <a:r>
              <a:rPr lang="en-US" sz="900" dirty="0">
                <a:solidFill>
                  <a:srgbClr val="C92A6A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Biến dạng tại điểm chạm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846235"/>
            <a:ext cx="6537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2457F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TÍCH HỢP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2358299"/>
            <a:ext cx="6537960" cy="5747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12151C"/>
                </a:solidFill>
                <a:latin typeface="Bricolage Grotesque 96pt" pitchFamily="34" charset="0"/>
                <a:ea typeface="Bricolage Grotesque 96pt" pitchFamily="34" charset="-122"/>
                <a:cs typeface="Bricolage Grotesque 96pt" pitchFamily="34" charset="-120"/>
              </a:rPr>
              <a:t>Đủ 4 level trong 53 dòng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3152485"/>
            <a:ext cx="54864" cy="451104"/>
          </a:xfrm>
          <a:prstGeom prst="rect">
            <a:avLst/>
          </a:prstGeom>
          <a:solidFill>
            <a:srgbClr val="2457F5"/>
          </a:solidFill>
          <a:ln/>
        </p:spPr>
      </p:sp>
      <p:sp>
        <p:nvSpPr>
          <p:cNvPr id="5" name="Text 3"/>
          <p:cNvSpPr/>
          <p:nvPr/>
        </p:nvSpPr>
        <p:spPr>
          <a:xfrm>
            <a:off x="786384" y="3152485"/>
            <a:ext cx="6318504" cy="451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2A303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Mỗi level chỉ thêm 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215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vài modifier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2A303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66928" y="3859621"/>
            <a:ext cx="292608" cy="292608"/>
          </a:xfrm>
          <a:prstGeom prst="ellipse">
            <a:avLst/>
          </a:prstGeom>
          <a:solidFill>
            <a:srgbClr val="2457F5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385962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05840" y="3823045"/>
            <a:ext cx="6099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Nền </a:t>
            </a:r>
            <a:pPr indent="0" marL="0">
              <a:buNone/>
            </a:pPr>
            <a:r>
              <a:rPr lang="en-US" sz="1290" dirty="0">
                <a:solidFill>
                  <a:srgbClr val="2A303C"/>
                </a:solidFill>
                <a:highlight>
                  <a:srgbClr val="EEF1F6"/>
                </a:highlight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MeshGradient</a:t>
            </a:r>
            <a:pPr indent="0" marL="0">
              <a:buNone/>
            </a:pPr>
            <a:r>
              <a:rPr lang="en-US" sz="15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 16 dòng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4225381"/>
            <a:ext cx="292608" cy="292608"/>
          </a:xfrm>
          <a:prstGeom prst="ellipse">
            <a:avLst/>
          </a:prstGeom>
          <a:solidFill>
            <a:srgbClr val="2457F5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422538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05840" y="4188805"/>
            <a:ext cx="6099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+ kéo thả, spring: 28 dòng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591141"/>
            <a:ext cx="292608" cy="292608"/>
          </a:xfrm>
          <a:prstGeom prst="ellipse">
            <a:avLst/>
          </a:prstGeom>
          <a:solidFill>
            <a:srgbClr val="2457F5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459114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05840" y="4554565"/>
            <a:ext cx="6099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+ morph: 42 dòng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66928" y="4956901"/>
            <a:ext cx="292608" cy="292608"/>
          </a:xfrm>
          <a:prstGeom prst="ellipse">
            <a:avLst/>
          </a:prstGeom>
          <a:solidFill>
            <a:srgbClr val="2457F5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495690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05840" y="4920325"/>
            <a:ext cx="6099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+ highlight, haptic, ripple: </a:t>
            </a:r>
            <a:pPr indent="0" marL="0">
              <a:buNone/>
            </a:pPr>
            <a:r>
              <a:rPr lang="en-US" sz="1500" dirty="0">
                <a:solidFill>
                  <a:srgbClr val="1215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53 dòng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7635240" y="1143000"/>
            <a:ext cx="3986784" cy="148132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1C2433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635240" y="1344168"/>
            <a:ext cx="64008" cy="1078992"/>
          </a:xfrm>
          <a:prstGeom prst="rect">
            <a:avLst/>
          </a:prstGeom>
          <a:solidFill>
            <a:srgbClr val="2457F5"/>
          </a:solidFill>
          <a:ln/>
        </p:spPr>
      </p:sp>
      <p:sp>
        <p:nvSpPr>
          <p:cNvPr id="20" name="Text 18"/>
          <p:cNvSpPr/>
          <p:nvPr/>
        </p:nvSpPr>
        <p:spPr>
          <a:xfrm>
            <a:off x="7927848" y="1362456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457F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Level 1 + 2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927848" y="1783080"/>
            <a:ext cx="34838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4" dirty="0">
                <a:solidFill>
                  <a:srgbClr val="2A303C"/>
                </a:solidFill>
                <a:highlight>
                  <a:srgbClr val="EEF1F6"/>
                </a:highlight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.interactive()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04" dirty="0">
                <a:solidFill>
                  <a:srgbClr val="2A303C"/>
                </a:solidFill>
                <a:highlight>
                  <a:srgbClr val="EEF1F6"/>
                </a:highlight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glassEffectID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endParaRPr lang="en-US" sz="1204" dirty="0"/>
          </a:p>
        </p:txBody>
      </p:sp>
      <p:sp>
        <p:nvSpPr>
          <p:cNvPr id="22" name="Shape 20"/>
          <p:cNvSpPr/>
          <p:nvPr/>
        </p:nvSpPr>
        <p:spPr>
          <a:xfrm>
            <a:off x="7635240" y="2825496"/>
            <a:ext cx="3986784" cy="148132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1C2433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635240" y="3026664"/>
            <a:ext cx="64008" cy="1078992"/>
          </a:xfrm>
          <a:prstGeom prst="rect">
            <a:avLst/>
          </a:prstGeom>
          <a:solidFill>
            <a:srgbClr val="2457F5"/>
          </a:solidFill>
          <a:ln/>
        </p:spPr>
      </p:sp>
      <p:sp>
        <p:nvSpPr>
          <p:cNvPr id="24" name="Text 22"/>
          <p:cNvSpPr/>
          <p:nvPr/>
        </p:nvSpPr>
        <p:spPr>
          <a:xfrm>
            <a:off x="7927848" y="304495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457F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Level 3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927848" y="3465576"/>
            <a:ext cx="34838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4" dirty="0">
                <a:solidFill>
                  <a:srgbClr val="2A303C"/>
                </a:solidFill>
                <a:highlight>
                  <a:srgbClr val="EEF1F6"/>
                </a:highlight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DragGesture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+ spring.</a:t>
            </a:r>
            <a:endParaRPr lang="en-US" sz="1204" dirty="0"/>
          </a:p>
        </p:txBody>
      </p:sp>
      <p:sp>
        <p:nvSpPr>
          <p:cNvPr id="26" name="Shape 24"/>
          <p:cNvSpPr/>
          <p:nvPr/>
        </p:nvSpPr>
        <p:spPr>
          <a:xfrm>
            <a:off x="7635240" y="4507992"/>
            <a:ext cx="3986784" cy="148132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1C2433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635240" y="4709160"/>
            <a:ext cx="64008" cy="1078992"/>
          </a:xfrm>
          <a:prstGeom prst="rect">
            <a:avLst/>
          </a:prstGeom>
          <a:solidFill>
            <a:srgbClr val="2457F5"/>
          </a:solidFill>
          <a:ln/>
        </p:spPr>
      </p:sp>
      <p:sp>
        <p:nvSpPr>
          <p:cNvPr id="28" name="Text 26"/>
          <p:cNvSpPr/>
          <p:nvPr/>
        </p:nvSpPr>
        <p:spPr>
          <a:xfrm>
            <a:off x="7927848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457F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Level 4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927848" y="5148072"/>
            <a:ext cx="34838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4" dirty="0">
                <a:solidFill>
                  <a:srgbClr val="2A303C"/>
                </a:solidFill>
                <a:highlight>
                  <a:srgbClr val="EEF1F6"/>
                </a:highlight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layerEffect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ripple.</a:t>
            </a:r>
            <a:endParaRPr lang="en-US" sz="1204" dirty="0"/>
          </a:p>
        </p:txBody>
      </p:sp>
      <p:sp>
        <p:nvSpPr>
          <p:cNvPr id="30" name="Text 28"/>
          <p:cNvSpPr/>
          <p:nvPr/>
        </p:nvSpPr>
        <p:spPr>
          <a:xfrm>
            <a:off x="566928" y="2926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D657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Liquid Glass · Level by Level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023360" y="2926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Level 1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Level 2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Level 3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Level 4</a:t>
            </a:r>
            <a:pPr algn="r" indent="0" marL="0">
              <a:buNone/>
            </a:pPr>
            <a:r>
              <a:rPr lang="en-US" sz="1000" dirty="0">
                <a:solidFill>
                  <a:srgbClr val="2457F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  Tích hợp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Performance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Lưu ý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10607040" y="246888"/>
            <a:ext cx="1014984" cy="329184"/>
          </a:xfrm>
          <a:prstGeom prst="roundRect">
            <a:avLst>
              <a:gd name="adj" fmla="val 22222"/>
            </a:avLst>
          </a:prstGeom>
          <a:solidFill>
            <a:srgbClr val="2457F5"/>
          </a:solidFill>
          <a:ln/>
        </p:spPr>
      </p:sp>
      <p:sp>
        <p:nvSpPr>
          <p:cNvPr id="33" name="Text 31"/>
          <p:cNvSpPr/>
          <p:nvPr/>
        </p:nvSpPr>
        <p:spPr>
          <a:xfrm>
            <a:off x="10607040" y="246888"/>
            <a:ext cx="10149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DEMO all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19159"/>
            <a:ext cx="6537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2457F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PERFORMANCE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2131223"/>
            <a:ext cx="6537960" cy="5747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12151C"/>
                </a:solidFill>
                <a:latin typeface="Bricolage Grotesque 96pt" pitchFamily="34" charset="0"/>
                <a:ea typeface="Bricolage Grotesque 96pt" pitchFamily="34" charset="-122"/>
                <a:cs typeface="Bricolage Grotesque 96pt" pitchFamily="34" charset="-120"/>
              </a:rPr>
              <a:t>Đo GPU trên máy thật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2925409"/>
            <a:ext cx="54864" cy="451104"/>
          </a:xfrm>
          <a:prstGeom prst="rect">
            <a:avLst/>
          </a:prstGeom>
          <a:solidFill>
            <a:srgbClr val="2457F5"/>
          </a:solidFill>
          <a:ln/>
        </p:spPr>
      </p:sp>
      <p:sp>
        <p:nvSpPr>
          <p:cNvPr id="5" name="Text 3"/>
          <p:cNvSpPr/>
          <p:nvPr/>
        </p:nvSpPr>
        <p:spPr>
          <a:xfrm>
            <a:off x="786384" y="2925409"/>
            <a:ext cx="6318504" cy="451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2A303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Glass vẽ trên GPU: 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215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dùng Instruments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2A303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.</a:t>
            </a:r>
            <a:endParaRPr lang="en-US" sz="1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595969"/>
          <a:ext cx="65379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691640"/>
                <a:gridCol w="1691640"/>
                <a:gridCol w="169164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D657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SỐ PHẦN TỬ</a:t>
                      </a:r>
                      <a:endParaRPr lang="en-US" sz="9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D657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RIÊNG LẺ</a:t>
                      </a:r>
                      <a:endParaRPr lang="en-US" sz="9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D657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CONTAINER</a:t>
                      </a:r>
                      <a:endParaRPr lang="en-US" sz="9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D657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+ LAYEREFFECT</a:t>
                      </a:r>
                      <a:endParaRPr lang="en-US" sz="9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2151C"/>
                          </a:solidFill>
                          <a:latin typeface="Bricolage Grotesque 96pt SemiBold" pitchFamily="34" charset="0"/>
                          <a:ea typeface="Bricolage Grotesque 96pt SemiBold" pitchFamily="34" charset="-122"/>
                          <a:cs typeface="Bricolage Grotesque 96pt SemiBold" pitchFamily="34" charset="-120"/>
                        </a:rPr>
                        <a:t>5</a:t>
                      </a:r>
                      <a:endParaRPr lang="en-US" sz="1600" dirty="0">
                        <a:latin typeface="Bricolage Grotesque 96pt SemiBold" charset="0"/>
                        <a:ea typeface="Bricolage Grotesque 96pt SemiBold" charset="0"/>
                        <a:cs typeface="Bricolage Grotesque 96pt SemiBold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8C94A4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… ms</a:t>
                      </a:r>
                      <a:endParaRPr lang="en-US" sz="12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8C94A4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… ms</a:t>
                      </a:r>
                      <a:endParaRPr lang="en-US" sz="12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8C94A4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… ms</a:t>
                      </a:r>
                      <a:endParaRPr lang="en-US" sz="12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2151C"/>
                          </a:solidFill>
                          <a:latin typeface="Bricolage Grotesque 96pt SemiBold" pitchFamily="34" charset="0"/>
                          <a:ea typeface="Bricolage Grotesque 96pt SemiBold" pitchFamily="34" charset="-122"/>
                          <a:cs typeface="Bricolage Grotesque 96pt SemiBold" pitchFamily="34" charset="-120"/>
                        </a:rPr>
                        <a:t>20</a:t>
                      </a:r>
                      <a:endParaRPr lang="en-US" sz="1600" dirty="0">
                        <a:latin typeface="Bricolage Grotesque 96pt SemiBold" charset="0"/>
                        <a:ea typeface="Bricolage Grotesque 96pt SemiBold" charset="0"/>
                        <a:cs typeface="Bricolage Grotesque 96pt SemiBold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8C94A4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… ms</a:t>
                      </a:r>
                      <a:endParaRPr lang="en-US" sz="12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8C94A4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… ms</a:t>
                      </a:r>
                      <a:endParaRPr lang="en-US" sz="12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8C94A4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… ms</a:t>
                      </a:r>
                      <a:endParaRPr lang="en-US" sz="12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2151C"/>
                          </a:solidFill>
                          <a:latin typeface="Bricolage Grotesque 96pt SemiBold" pitchFamily="34" charset="0"/>
                          <a:ea typeface="Bricolage Grotesque 96pt SemiBold" pitchFamily="34" charset="-122"/>
                          <a:cs typeface="Bricolage Grotesque 96pt SemiBold" pitchFamily="34" charset="-120"/>
                        </a:rPr>
                        <a:t>50</a:t>
                      </a:r>
                      <a:endParaRPr lang="en-US" sz="1600" dirty="0">
                        <a:latin typeface="Bricolage Grotesque 96pt SemiBold" charset="0"/>
                        <a:ea typeface="Bricolage Grotesque 96pt SemiBold" charset="0"/>
                        <a:cs typeface="Bricolage Grotesque 96pt SemiBold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8C94A4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… ms</a:t>
                      </a:r>
                      <a:endParaRPr lang="en-US" sz="12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8C94A4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… ms</a:t>
                      </a:r>
                      <a:endParaRPr lang="en-US" sz="12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8C94A4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… ms</a:t>
                      </a:r>
                      <a:endParaRPr lang="en-US" sz="12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03504" y="5296753"/>
            <a:ext cx="82296" cy="82296"/>
          </a:xfrm>
          <a:prstGeom prst="rect">
            <a:avLst/>
          </a:prstGeom>
          <a:solidFill>
            <a:srgbClr val="2457F5"/>
          </a:solidFill>
          <a:ln/>
        </p:spPr>
      </p:sp>
      <p:sp>
        <p:nvSpPr>
          <p:cNvPr id="8" name="Text 5"/>
          <p:cNvSpPr/>
          <p:nvPr/>
        </p:nvSpPr>
        <p:spPr>
          <a:xfrm>
            <a:off x="841248" y="5205313"/>
            <a:ext cx="6263640" cy="307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Ngân sách: 16,7 ms (60 Hz) · 8,3 ms (120 Hz)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635240" y="1143000"/>
            <a:ext cx="3986784" cy="148132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1C2433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635240" y="1344168"/>
            <a:ext cx="64008" cy="1078992"/>
          </a:xfrm>
          <a:prstGeom prst="rect">
            <a:avLst/>
          </a:prstGeom>
          <a:solidFill>
            <a:srgbClr val="2457F5"/>
          </a:solidFill>
          <a:ln/>
        </p:spPr>
      </p:sp>
      <p:sp>
        <p:nvSpPr>
          <p:cNvPr id="11" name="Text 8"/>
          <p:cNvSpPr/>
          <p:nvPr/>
        </p:nvSpPr>
        <p:spPr>
          <a:xfrm>
            <a:off x="7927848" y="1362456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457F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Metal System Trace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927848" y="1783080"/>
            <a:ext cx="34838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GPU mỗi frame.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7635240" y="2825496"/>
            <a:ext cx="3986784" cy="148132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1C2433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7635240" y="3026664"/>
            <a:ext cx="64008" cy="1078992"/>
          </a:xfrm>
          <a:prstGeom prst="rect">
            <a:avLst/>
          </a:prstGeom>
          <a:solidFill>
            <a:srgbClr val="2457F5"/>
          </a:solidFill>
          <a:ln/>
        </p:spPr>
      </p:sp>
      <p:sp>
        <p:nvSpPr>
          <p:cNvPr id="15" name="Text 12"/>
          <p:cNvSpPr/>
          <p:nvPr/>
        </p:nvSpPr>
        <p:spPr>
          <a:xfrm>
            <a:off x="7927848" y="304495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457F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Shader.compile(as:)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7927848" y="3465576"/>
            <a:ext cx="34838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Tránh khựng lần đầu.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7635240" y="4507992"/>
            <a:ext cx="3986784" cy="148132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1C2433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635240" y="4709160"/>
            <a:ext cx="64008" cy="1078992"/>
          </a:xfrm>
          <a:prstGeom prst="rect">
            <a:avLst/>
          </a:prstGeom>
          <a:solidFill>
            <a:srgbClr val="2457F5"/>
          </a:solidFill>
          <a:ln/>
        </p:spPr>
      </p:sp>
      <p:sp>
        <p:nvSpPr>
          <p:cNvPr id="19" name="Text 16"/>
          <p:cNvSpPr/>
          <p:nvPr/>
        </p:nvSpPr>
        <p:spPr>
          <a:xfrm>
            <a:off x="7927848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457F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isEnabled: false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7927848" y="5148072"/>
            <a:ext cx="34838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Tắt shader khi không cần.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566928" y="2926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D657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Liquid Glass · Level by Level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4023360" y="2926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Level 1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Level 2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Level 3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Level 4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Tích hợp</a:t>
            </a:r>
            <a:pPr algn="r" indent="0" marL="0">
              <a:buNone/>
            </a:pPr>
            <a:r>
              <a:rPr lang="en-US" sz="1000" dirty="0">
                <a:solidFill>
                  <a:srgbClr val="2457F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  Performance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Lưu ý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10607040" y="246888"/>
            <a:ext cx="1014984" cy="329184"/>
          </a:xfrm>
          <a:prstGeom prst="roundRect">
            <a:avLst>
              <a:gd name="adj" fmla="val 22222"/>
            </a:avLst>
          </a:prstGeom>
          <a:solidFill>
            <a:srgbClr val="2457F5"/>
          </a:solidFill>
          <a:ln/>
        </p:spPr>
      </p:sp>
      <p:sp>
        <p:nvSpPr>
          <p:cNvPr id="24" name="Text 21"/>
          <p:cNvSpPr/>
          <p:nvPr/>
        </p:nvSpPr>
        <p:spPr>
          <a:xfrm>
            <a:off x="10607040" y="246888"/>
            <a:ext cx="10149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DEMO perf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331629"/>
            <a:ext cx="6537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2457F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LƯU Ý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2843693"/>
            <a:ext cx="6537960" cy="5747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12151C"/>
                </a:solidFill>
                <a:latin typeface="Bricolage Grotesque 96pt" pitchFamily="34" charset="0"/>
                <a:ea typeface="Bricolage Grotesque 96pt" pitchFamily="34" charset="-122"/>
                <a:cs typeface="Bricolage Grotesque 96pt" pitchFamily="34" charset="-120"/>
              </a:rPr>
              <a:t>3 lưu ý trước khi ship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3637879"/>
            <a:ext cx="54864" cy="451104"/>
          </a:xfrm>
          <a:prstGeom prst="rect">
            <a:avLst/>
          </a:prstGeom>
          <a:solidFill>
            <a:srgbClr val="2457F5"/>
          </a:solidFill>
          <a:ln/>
        </p:spPr>
      </p:sp>
      <p:sp>
        <p:nvSpPr>
          <p:cNvPr id="5" name="Text 3"/>
          <p:cNvSpPr/>
          <p:nvPr/>
        </p:nvSpPr>
        <p:spPr>
          <a:xfrm>
            <a:off x="786384" y="3637879"/>
            <a:ext cx="6318504" cy="451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2A303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Mỗi phần tử phải trả lời: 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215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chạm vào thì phản hồi gì?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66928" y="4308439"/>
            <a:ext cx="6537960" cy="492252"/>
          </a:xfrm>
          <a:prstGeom prst="roundRect">
            <a:avLst>
              <a:gd name="adj" fmla="val 18576"/>
            </a:avLst>
          </a:prstGeom>
          <a:solidFill>
            <a:srgbClr val="FFF3E2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0" y="4445599"/>
            <a:ext cx="566928" cy="256032"/>
          </a:xfrm>
          <a:prstGeom prst="roundRect">
            <a:avLst>
              <a:gd name="adj" fmla="val 21429"/>
            </a:avLst>
          </a:prstGeom>
          <a:solidFill>
            <a:srgbClr val="A64B00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4445599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BẪY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463040" y="4418167"/>
            <a:ext cx="5486400" cy="272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64B0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Glass không lấy mẫu glass: không chồng lớp lên nhau.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635240" y="1143000"/>
            <a:ext cx="3986784" cy="148132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1C2433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635240" y="1344168"/>
            <a:ext cx="64008" cy="1078992"/>
          </a:xfrm>
          <a:prstGeom prst="rect">
            <a:avLst/>
          </a:prstGeom>
          <a:solidFill>
            <a:srgbClr val="2457F5"/>
          </a:solidFill>
          <a:ln/>
        </p:spPr>
      </p:sp>
      <p:sp>
        <p:nvSpPr>
          <p:cNvPr id="12" name="Text 10"/>
          <p:cNvSpPr/>
          <p:nvPr/>
        </p:nvSpPr>
        <p:spPr>
          <a:xfrm>
            <a:off x="7927848" y="1362456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457F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Glass ≠ blur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927848" y="1783080"/>
            <a:ext cx="34838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Khúc xạ, highlight, đổi theo nền.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635240" y="2825496"/>
            <a:ext cx="3986784" cy="148132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1C2433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635240" y="3026664"/>
            <a:ext cx="64008" cy="1078992"/>
          </a:xfrm>
          <a:prstGeom prst="rect">
            <a:avLst/>
          </a:prstGeom>
          <a:solidFill>
            <a:srgbClr val="2457F5"/>
          </a:solidFill>
          <a:ln/>
        </p:spPr>
      </p:sp>
      <p:sp>
        <p:nvSpPr>
          <p:cNvPr id="16" name="Text 14"/>
          <p:cNvSpPr/>
          <p:nvPr/>
        </p:nvSpPr>
        <p:spPr>
          <a:xfrm>
            <a:off x="7927848" y="304495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457F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Trợ năng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927848" y="3465576"/>
            <a:ext cx="34838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Shader tự viết phải tự tắt.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635240" y="4507992"/>
            <a:ext cx="3986784" cy="148132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1C2433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635240" y="4709160"/>
            <a:ext cx="64008" cy="1078992"/>
          </a:xfrm>
          <a:prstGeom prst="rect">
            <a:avLst/>
          </a:prstGeom>
          <a:solidFill>
            <a:srgbClr val="2457F5"/>
          </a:solidFill>
          <a:ln/>
        </p:spPr>
      </p:sp>
      <p:sp>
        <p:nvSpPr>
          <p:cNvPr id="20" name="Text 18"/>
          <p:cNvSpPr/>
          <p:nvPr/>
        </p:nvSpPr>
        <p:spPr>
          <a:xfrm>
            <a:off x="7927848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457F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Quy tắc ship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927848" y="5148072"/>
            <a:ext cx="34838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303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 + ID + animation. Đo GPU.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66928" y="2926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D657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Liquid Glass · Level by Level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023360" y="2926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Level 1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Level 2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Level 3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Level 4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Tích hợp</a:t>
            </a:r>
            <a:pPr algn="r" indent="0" marL="0">
              <a:buNone/>
            </a:pPr>
            <a:r>
              <a:rPr lang="en-US" sz="1000" dirty="0">
                <a:solidFill>
                  <a:srgbClr val="8C94A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 Performance</a:t>
            </a:r>
            <a:pPr algn="r" indent="0" marL="0">
              <a:buNone/>
            </a:pPr>
            <a:r>
              <a:rPr lang="en-US" sz="1000" dirty="0">
                <a:solidFill>
                  <a:srgbClr val="2457F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  Lưu ý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0607040" y="246888"/>
            <a:ext cx="1014984" cy="329184"/>
          </a:xfrm>
          <a:prstGeom prst="roundRect">
            <a:avLst>
              <a:gd name="adj" fmla="val 22222"/>
            </a:avLst>
          </a:prstGeom>
          <a:solidFill>
            <a:srgbClr val="2457F5"/>
          </a:solidFill>
          <a:ln/>
        </p:spPr>
      </p:sp>
      <p:sp>
        <p:nvSpPr>
          <p:cNvPr id="25" name="Text 23"/>
          <p:cNvSpPr/>
          <p:nvPr/>
        </p:nvSpPr>
        <p:spPr>
          <a:xfrm>
            <a:off x="10607040" y="246888"/>
            <a:ext cx="10149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DEMO notes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41848" y="2377440"/>
            <a:ext cx="914400" cy="73152"/>
          </a:xfrm>
          <a:prstGeom prst="rect">
            <a:avLst/>
          </a:prstGeom>
          <a:solidFill>
            <a:srgbClr val="2457F5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2697480"/>
            <a:ext cx="103601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12151C"/>
                </a:solidFill>
                <a:latin typeface="Bricolage Grotesque 96pt" pitchFamily="34" charset="0"/>
                <a:ea typeface="Bricolage Grotesque 96pt" pitchFamily="34" charset="-122"/>
                <a:cs typeface="Bricolage Grotesque 96pt" pitchFamily="34" charset="-120"/>
              </a:rPr>
              <a:t>Hỏi &amp; đáp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731520" y="3931920"/>
            <a:ext cx="10725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D657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Demo </a:t>
            </a:r>
            <a:pPr algn="ctr" indent="0" marL="0">
              <a:buNone/>
            </a:pPr>
            <a:r>
              <a:rPr lang="en-US" sz="1800" dirty="0">
                <a:solidFill>
                  <a:srgbClr val="1215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LiquidGlassAdvanced</a:t>
            </a:r>
            <a:pPr algn="ctr" indent="0" marL="0">
              <a:buNone/>
            </a:pPr>
            <a:r>
              <a:rPr lang="en-US" sz="1800" dirty="0">
                <a:solidFill>
                  <a:srgbClr val="5D657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mở thẳng bằng </a:t>
            </a:r>
            <a:pPr algn="ctr" indent="0" marL="0">
              <a:buNone/>
            </a:pPr>
            <a:r>
              <a:rPr lang="en-US" sz="1548" dirty="0">
                <a:solidFill>
                  <a:srgbClr val="5D6576"/>
                </a:solidFill>
                <a:highlight>
                  <a:srgbClr val="EEF1F6"/>
                </a:highlight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-demo KEY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Trải nghiệm người dùng xuất sắc với Liquid Glass</dc:title>
  <dc:subject>4 level Liquid Glass, tích hợp, performance, lưu ý</dc:subject>
  <dc:creator>PptxGenJS</dc:creator>
  <cp:lastModifiedBy>PptxGenJS</cp:lastModifiedBy>
  <cp:revision>1</cp:revision>
  <dcterms:created xsi:type="dcterms:W3CDTF">2026-10-04T16:43:57Z</dcterms:created>
  <dcterms:modified xsi:type="dcterms:W3CDTF">2026-10-04T16:43:57Z</dcterms:modified>
</cp:coreProperties>
</file>