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/>
              <a:t>LÀM</a:t>
            </a:r>
          </a:p>
          <a:p>
            <a:r>
              <a:rPr lang="vi-VN" dirty="0"/>
              <a:t>• Cắm iPhone, bật mirroring và Focus.</a:t>
            </a:r>
          </a:p>
          <a:p>
            <a:r>
              <a:rPr lang="vi-VN" dirty="0"/>
              <a:t>• Mở LiquidGlassAdvanced, Xcode chia đôi màn hình.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/>
              <a:t>0:00–3:00 · Demo 0</a:t>
            </a:r>
          </a:p>
          <a:p>
            <a:endParaRPr lang="vi-VN" dirty="0"/>
          </a:p>
          <a:p>
            <a:r>
              <a:rPr lang="vi-VN" dirty="0"/>
              <a:t>NÓI</a:t>
            </a:r>
          </a:p>
          <a:p>
            <a:r>
              <a:rPr lang="vi-VN" dirty="0"/>
              <a:t>• Liquid Glass khúc xạ nội dung bên dưới, có highlight và tự đổi độ sáng theo nền.</a:t>
            </a:r>
          </a:p>
          <a:p>
            <a:r>
              <a:rPr lang="vi-VN" dirty="0"/>
              <a:t>• Material (blur + tint) chỉ làm mờ và phủ màu.</a:t>
            </a:r>
          </a:p>
          <a:p>
            <a:r>
              <a:rPr lang="vi-VN" dirty="0"/>
              <a:t>• Glass không lấy mẫu glass khác: không chồng lớp lên nhau.</a:t>
            </a:r>
          </a:p>
          <a:p>
            <a:endParaRPr lang="vi-VN" dirty="0"/>
          </a:p>
          <a:p>
            <a:r>
              <a:rPr lang="vi-VN" dirty="0"/>
              <a:t>LÀM</a:t>
            </a:r>
          </a:p>
          <a:p>
            <a:r>
              <a:rPr lang="vi-VN" dirty="0"/>
              <a:t>• Thanh nằm sẵn trên chữ “Aa” và dải màu ở nền sáng: so mép thanh glass (chữ và dải màu bị bẻ cong) với blur (chỉ nhoè).</a:t>
            </a:r>
          </a:p>
          <a:p>
            <a:r>
              <a:rPr lang="vi-VN" dirty="0"/>
              <a:t>• Kéo thanh sang nền tối ở cả hai nửa: glass tự tối lại theo nền, blur vẫn là mảng xám.</a:t>
            </a:r>
          </a:p>
          <a:p>
            <a:endParaRPr lang="vi-VN" dirty="0"/>
          </a:p>
          <a:p>
            <a:r>
              <a:rPr lang="vi-VN" dirty="0"/>
              <a:t>XCODE</a:t>
            </a:r>
          </a:p>
          <a:p>
            <a:r>
              <a:rPr lang="vi-VN" dirty="0"/>
              <a:t>GlassVsBlurDemo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/>
              <a:t>3:00–5:00 · Chỉ vào thanh điều hướng của app</a:t>
            </a:r>
          </a:p>
          <a:p>
            <a:endParaRPr lang="vi-VN" dirty="0"/>
          </a:p>
          <a:p>
            <a:r>
              <a:rPr lang="vi-VN" dirty="0"/>
              <a:t>NÓI</a:t>
            </a:r>
          </a:p>
          <a:p>
            <a:r>
              <a:rPr lang="vi-VN" dirty="0"/>
              <a:t>• Build bằng SDK 26: TabView, toolbar, sheet, Menu, thanh tìm kiếm tự đổi sang Liquid Glass, không sửa code.</a:t>
            </a:r>
          </a:p>
          <a:p>
            <a:r>
              <a:rPr lang="vi-VN" dirty="0"/>
              <a:t>• Phần lớn app chỉ cần tuỳ biến: tách nhóm nút bằng ToolbarSpacer, thu nhỏ tab bar khi cuộn, mini player bằng tabViewBottomAccessory.</a:t>
            </a:r>
          </a:p>
          <a:p>
            <a:r>
              <a:rPr lang="vi-VN" dirty="0"/>
              <a:t>• Chỉ tự vẽ glassEffect cho control riêng của app. Phần còn lại của bài nói về phần này.</a:t>
            </a:r>
          </a:p>
          <a:p>
            <a:endParaRPr lang="vi-VN" dirty="0"/>
          </a:p>
          <a:p>
            <a:r>
              <a:rPr lang="vi-VN" dirty="0"/>
              <a:t>LÀM</a:t>
            </a:r>
          </a:p>
          <a:p>
            <a:r>
              <a:rPr lang="vi-VN" dirty="0"/>
              <a:t>• Chỉ vào nút back và ⌃ ⌄ của app demo: glass hệ thống, không có dòng glassEffect nào.</a:t>
            </a:r>
          </a:p>
          <a:p>
            <a:endParaRPr lang="vi-VN" dirty="0"/>
          </a:p>
          <a:p>
            <a:r>
              <a:rPr lang="vi-VN" dirty="0"/>
              <a:t>BẪY</a:t>
            </a:r>
          </a:p>
          <a:p>
            <a:r>
              <a:rPr lang="vi-VN" dirty="0"/>
              <a:t>• Thêm glassEffect lên toolbar có sẵn là glass chồng glass.</a:t>
            </a:r>
          </a:p>
          <a:p>
            <a:endParaRPr lang="vi-VN" dirty="0"/>
          </a:p>
          <a:p>
            <a:r>
              <a:rPr lang="vi-VN" dirty="0"/>
              <a:t>XCODE</a:t>
            </a:r>
          </a:p>
          <a:p>
            <a:r>
              <a:rPr lang="vi-VN" dirty="0"/>
              <a:t>DemoCatalog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/>
              <a:t>5:00</a:t>
            </a:r>
          </a:p>
          <a:p>
            <a:endParaRPr lang="vi-VN" dirty="0"/>
          </a:p>
          <a:p>
            <a:r>
              <a:rPr lang="vi-VN" dirty="0"/>
              <a:t>NÓI</a:t>
            </a:r>
          </a:p>
          <a:p>
            <a:r>
              <a:rPr lang="vi-VN" dirty="0"/>
              <a:t>• Level 1: mỗi lần chạm phải có phản hồi nhìn thấy và cảm nhận được.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/>
              <a:t>5:30–8:00 · Demo 1</a:t>
            </a:r>
          </a:p>
          <a:p>
            <a:endParaRPr lang="vi-VN" dirty="0"/>
          </a:p>
          <a:p>
            <a:r>
              <a:rPr lang="vi-VN" dirty="0"/>
              <a:t>NÓI</a:t>
            </a:r>
          </a:p>
          <a:p>
            <a:r>
              <a:rPr lang="vi-VN" dirty="0"/>
              <a:t>• .buttonStyle(.glass) có sẵn highlight. View tự vẽ cần .glassEffect(.regular.interactive()).</a:t>
            </a:r>
          </a:p>
          <a:p>
            <a:r>
              <a:rPr lang="vi-VN" dirty="0"/>
              <a:t>• sensoryFeedback phát khi giá trị trigger đổi, không phát theo cử chỉ.</a:t>
            </a:r>
          </a:p>
          <a:p>
            <a:endParaRPr lang="vi-VN" dirty="0"/>
          </a:p>
          <a:p>
            <a:r>
              <a:rPr lang="vi-VN" dirty="0"/>
              <a:t>LÀM</a:t>
            </a:r>
          </a:p>
          <a:p>
            <a:r>
              <a:rPr lang="vi-VN" dirty="0"/>
              <a:t>• Tab Highlight: chạm nút trên (GOOD) rồi nút dưới (BAD).</a:t>
            </a:r>
          </a:p>
          <a:p>
            <a:r>
              <a:rPr lang="vi-VN" dirty="0"/>
              <a:t>• Tab Haptic: chạm liên tục. Số dưới nút là “số lần chạm · giá trị trigger”: BAD đứng yên ở true nên chỉ rung lần đầu.</a:t>
            </a:r>
          </a:p>
          <a:p>
            <a:endParaRPr lang="vi-VN" dirty="0"/>
          </a:p>
          <a:p>
            <a:r>
              <a:rPr lang="vi-VN" dirty="0"/>
              <a:t>BẪY</a:t>
            </a:r>
          </a:p>
          <a:p>
            <a:r>
              <a:rPr lang="vi-VN" dirty="0"/>
              <a:t>• Haptic không chạy trên simulator.</a:t>
            </a:r>
          </a:p>
          <a:p>
            <a:endParaRPr lang="vi-VN" dirty="0"/>
          </a:p>
          <a:p>
            <a:r>
              <a:rPr lang="vi-VN" dirty="0"/>
              <a:t>XCODE</a:t>
            </a:r>
          </a:p>
          <a:p>
            <a:r>
              <a:rPr lang="vi-VN" dirty="0"/>
              <a:t>TouchFeedbackDemo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/>
              <a:t>8:00</a:t>
            </a:r>
          </a:p>
          <a:p>
            <a:endParaRPr lang="vi-VN" dirty="0"/>
          </a:p>
          <a:p>
            <a:r>
              <a:rPr lang="vi-VN" dirty="0"/>
              <a:t>NÓI</a:t>
            </a:r>
          </a:p>
          <a:p>
            <a:r>
              <a:rPr lang="vi-VN" dirty="0"/>
              <a:t>• Level 2: đổi state thì morph liền mạch, không nhảy thẳng.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/>
              <a:t>8:30–12:30 · Demo 2a · Live code tab Thêm / bớt</a:t>
            </a:r>
          </a:p>
          <a:p>
            <a:endParaRPr lang="vi-VN" dirty="0"/>
          </a:p>
          <a:p>
            <a:r>
              <a:rPr lang="vi-VN" dirty="0"/>
              <a:t>NÓI</a:t>
            </a:r>
          </a:p>
          <a:p>
            <a:r>
              <a:rPr lang="vi-VN" dirty="0"/>
              <a:t>• Hòa nhau: chung GlassEffectContainer, khoảng cách hai mép nhỏ hơn spacing.</a:t>
            </a:r>
          </a:p>
          <a:p>
            <a:r>
              <a:rPr lang="vi-VN" dirty="0"/>
              <a:t>• Thêm/bớt: chung container, glassEffectID cùng @Namespace, state đổi trong withAnimation.</a:t>
            </a:r>
          </a:p>
          <a:p>
            <a:r>
              <a:rPr lang="vi-VN" dirty="0"/>
              <a:t>• Đổi shape: cùng một view thì SwiftUI nội suy frame và cornerRadius, không cần ID.</a:t>
            </a:r>
          </a:p>
          <a:p>
            <a:endParaRPr lang="vi-VN" dirty="0"/>
          </a:p>
          <a:p>
            <a:r>
              <a:rPr lang="vi-VN" dirty="0"/>
              <a:t>LÀM</a:t>
            </a:r>
          </a:p>
          <a:p>
            <a:r>
              <a:rPr lang="vi-VN" dirty="0"/>
              <a:t>• Tab Hòa nhau: BAD hai container, không bao giờ hòa.</a:t>
            </a:r>
          </a:p>
          <a:p>
            <a:r>
              <a:rPr lang="vi-VN" dirty="0"/>
              <a:t>• Tab Thêm / bớt: live code MorphMenu; BAD bỏ ID và withAnimation.</a:t>
            </a:r>
          </a:p>
          <a:p>
            <a:r>
              <a:rPr lang="vi-VN" dirty="0"/>
              <a:t>• Tab Đổi shape: BAD dùng if/else, chỉ fade.</a:t>
            </a:r>
          </a:p>
          <a:p>
            <a:endParaRPr lang="vi-VN" dirty="0"/>
          </a:p>
          <a:p>
            <a:r>
              <a:rPr lang="vi-VN" dirty="0"/>
              <a:t>XCODE</a:t>
            </a:r>
          </a:p>
          <a:p>
            <a:r>
              <a:rPr lang="vi-VN" dirty="0"/>
              <a:t>Level2, MorphMenu, ShapeMorphDemo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/>
              <a:t>12:30–15:00 · Demo 2b · Điểm nhấn</a:t>
            </a:r>
          </a:p>
          <a:p>
            <a:endParaRPr lang="vi-VN" dirty="0"/>
          </a:p>
          <a:p>
            <a:r>
              <a:rPr lang="vi-VN" dirty="0"/>
              <a:t>NÓI</a:t>
            </a:r>
          </a:p>
          <a:p>
            <a:r>
              <a:rPr lang="vi-VN" dirty="0"/>
              <a:t>• Morph hỏng hay gặp nhất: mỗi nút tự bọc container riêng. Các lỗi khác: thiếu withAnimation, ID đổi theo state, khác @Namespace.</a:t>
            </a:r>
          </a:p>
          <a:p>
            <a:r>
              <a:rPr lang="vi-VN" dirty="0"/>
              <a:t>• Shape tự viết thiếu animatableData: SwiftUI không có giá trị trung gian, path nhảy thẳng.</a:t>
            </a:r>
          </a:p>
          <a:p>
            <a:endParaRPr lang="vi-VN" dirty="0"/>
          </a:p>
          <a:p>
            <a:r>
              <a:rPr lang="vi-VN" dirty="0"/>
              <a:t>LÀM</a:t>
            </a:r>
          </a:p>
          <a:p>
            <a:r>
              <a:rPr lang="vi-VN" dirty="0"/>
              <a:t>• Tab Khác container: hỏi “Ai từng gặp lỗi này?”</a:t>
            </a:r>
          </a:p>
          <a:p>
            <a:r>
              <a:rPr lang="vi-VN" dirty="0"/>
              <a:t>• Tab Thiếu animatableData: so cung tròn trên và dưới.</a:t>
            </a:r>
          </a:p>
          <a:p>
            <a:endParaRPr lang="vi-VN" dirty="0"/>
          </a:p>
          <a:p>
            <a:r>
              <a:rPr lang="vi-VN" dirty="0"/>
              <a:t>XCODE</a:t>
            </a:r>
          </a:p>
          <a:p>
            <a:r>
              <a:rPr lang="vi-VN" dirty="0"/>
              <a:t>Level2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/>
              <a:t>15:00</a:t>
            </a:r>
          </a:p>
          <a:p>
            <a:endParaRPr lang="vi-VN" dirty="0"/>
          </a:p>
          <a:p>
            <a:r>
              <a:rPr lang="vi-VN" dirty="0"/>
              <a:t>NÓI</a:t>
            </a:r>
          </a:p>
          <a:p>
            <a:r>
              <a:rPr lang="vi-VN" dirty="0"/>
              <a:t>• Level 3: chuyển động theo tay người dùng, bị ngắt giữa chừng vẫn mượt.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/>
              <a:t>15:30–19:00 · Demo 3 · Đọc code Decay</a:t>
            </a:r>
          </a:p>
          <a:p>
            <a:endParaRPr lang="vi-VN" dirty="0"/>
          </a:p>
          <a:p>
            <a:r>
              <a:rPr lang="vi-VN" dirty="0"/>
              <a:t>NÓI</a:t>
            </a:r>
          </a:p>
          <a:p>
            <a:r>
              <a:rPr lang="vi-VN" dirty="0"/>
              <a:t>• Spring nhận vị trí và vận tốc hiện tại khi bị ngắt (shouldMerge), nên quay đầu ngay theo lệnh mới. Timing curve không merge: animation cũ vẫn chạy nốt và cộng dồn với animation mới, nên nút trôi tiếp về phía cũ rồi mới quay.</a:t>
            </a:r>
          </a:p>
          <a:p>
            <a:r>
              <a:rPr lang="vi-VN" dirty="0"/>
              <a:t>• Decay: Δ = v₀ / k để vận tốc đầu bằng vận tốc tay. k ≈ 2 /s như UIScrollView.</a:t>
            </a:r>
          </a:p>
          <a:p>
            <a:endParaRPr lang="vi-VN" dirty="0"/>
          </a:p>
          <a:p>
            <a:r>
              <a:rPr lang="vi-VN" dirty="0"/>
              <a:t>LÀM</a:t>
            </a:r>
          </a:p>
          <a:p>
            <a:r>
              <a:rPr lang="vi-VN" dirty="0"/>
              <a:t>• Tab Bị ngắt: mỗi chu kỳ nút chạy sang phải, 0,35 s sau bị gọi về. Vệt bên dưới là đường đi, chấm trắng là lúc bị ngắt. GOOD quay đầu ngay tại chấm; BAD còn trôi tiếp một đoạn rồi mới quay. Chạm vào làn để tự ngắt.</a:t>
            </a:r>
          </a:p>
          <a:p>
            <a:r>
              <a:rPr lang="vi-VN" dirty="0"/>
              <a:t>• Tab Thả tay: kéo thả mạnh; BAD dừng tại chỗ. Chỉ vào struct Decay (13 dòng).</a:t>
            </a:r>
          </a:p>
          <a:p>
            <a:endParaRPr lang="vi-VN" dirty="0"/>
          </a:p>
          <a:p>
            <a:r>
              <a:rPr lang="vi-VN" dirty="0"/>
              <a:t>XCODE</a:t>
            </a:r>
          </a:p>
          <a:p>
            <a:r>
              <a:rPr lang="vi-VN" dirty="0"/>
              <a:t>Level3, Decay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/>
              <a:t>19:00</a:t>
            </a:r>
          </a:p>
          <a:p>
            <a:endParaRPr lang="vi-VN" dirty="0"/>
          </a:p>
          <a:p>
            <a:r>
              <a:rPr lang="vi-VN" dirty="0"/>
              <a:t>NÓI</a:t>
            </a:r>
          </a:p>
          <a:p>
            <a:r>
              <a:rPr lang="vi-VN" dirty="0"/>
              <a:t>• Level 4: nền gợn sóng, méo theo ngón tay bằng Metal shader.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/>
              <a:t>19:30–23:00 · Demo 4 · Đọc code tab Ripple</a:t>
            </a:r>
          </a:p>
          <a:p>
            <a:endParaRPr lang="vi-VN" dirty="0"/>
          </a:p>
          <a:p>
            <a:r>
              <a:rPr lang="vi-VN" dirty="0"/>
              <a:t>NÓI</a:t>
            </a:r>
          </a:p>
          <a:p>
            <a:r>
              <a:rPr lang="vi-VN" dirty="0"/>
              <a:t>• So với ảnh gốc: colorEffect chỉ đổi màu (lưới vẫn thẳng), distortionEffect chỉ dời pixel (lưới lượn sóng, màu giữ nguyên), layerEffect trộn nhiều pixel (tách kênh màu ở mép chữ).</a:t>
            </a:r>
          </a:p>
          <a:p>
            <a:r>
              <a:rPr lang="vi-VN" dirty="0"/>
              <a:t>• Ripple: shader là hàm thuần; keyframeAnimator đưa time 0 → 1,5 s.</a:t>
            </a:r>
          </a:p>
          <a:p>
            <a:r>
              <a:rPr lang="vi-VN" dirty="0"/>
              <a:t>• GOOD: isEnabled tắt shader khi sóng xong. BAD: shader chạy mãi.</a:t>
            </a:r>
          </a:p>
          <a:p>
            <a:endParaRPr lang="vi-VN" dirty="0"/>
          </a:p>
          <a:p>
            <a:r>
              <a:rPr lang="vi-VN" dirty="0"/>
              <a:t>LÀM</a:t>
            </a:r>
          </a:p>
          <a:p>
            <a:r>
              <a:rPr lang="vi-VN" dirty="0"/>
              <a:t>• Tab 3 modifier: kéo slider cường độ về 0 rồi lên 100%.</a:t>
            </a:r>
          </a:p>
          <a:p>
            <a:r>
              <a:rPr lang="vi-VN" dirty="0"/>
              <a:t>• Tab Ripple: đọc ripple() trong .metal và .layerEffect; nhìn icon tia sét ở góc: sáng khi shader đang chạy, mờ khi đã tắt.</a:t>
            </a:r>
          </a:p>
          <a:p>
            <a:endParaRPr lang="vi-VN" dirty="0"/>
          </a:p>
          <a:p>
            <a:r>
              <a:rPr lang="vi-VN" dirty="0"/>
              <a:t>BẪY</a:t>
            </a:r>
          </a:p>
          <a:p>
            <a:r>
              <a:rPr lang="vi-VN" dirty="0"/>
              <a:t>• Closure keyframeAnimator là @Sendable: capture [origin] trước.</a:t>
            </a:r>
          </a:p>
          <a:p>
            <a:endParaRPr lang="vi-VN" dirty="0"/>
          </a:p>
          <a:p>
            <a:r>
              <a:rPr lang="vi-VN" dirty="0"/>
              <a:t>XCODE</a:t>
            </a:r>
          </a:p>
          <a:p>
            <a:r>
              <a:rPr lang="vi-VN" dirty="0"/>
              <a:t>Level4, ThreeModifiersDemo, Ripple, Shaders.metal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/>
              <a:t>23:00–26:00 · Demo cfg</a:t>
            </a:r>
          </a:p>
          <a:p>
            <a:endParaRPr lang="vi-VN" dirty="0"/>
          </a:p>
          <a:p>
            <a:r>
              <a:rPr lang="vi-VN" dirty="0"/>
              <a:t>NÓI</a:t>
            </a:r>
          </a:p>
          <a:p>
            <a:r>
              <a:rPr lang="vi-VN" dirty="0"/>
              <a:t>• Glass hệ thống tự đổi theo Giảm độ trong suốt, Tăng độ tương phản, sáng / tối. Không cần code.</a:t>
            </a:r>
          </a:p>
          <a:p>
            <a:r>
              <a:rPr lang="vi-VN" dirty="0"/>
              <a:t>• Shader và spring tự viết thì không: đọc @Environment rồi tự tắt. RippleOnTap tắt layerEffect khi bật Giảm chuyển động.</a:t>
            </a:r>
          </a:p>
          <a:p>
            <a:r>
              <a:rPr lang="vi-VN" dirty="0"/>
              <a:t>• iOS 26.1 có thêm lựa chọn Trong / Nhuộm màu. Không có API đọc lựa chọn này: kiểm tra giao diện ở cả hai.</a:t>
            </a:r>
          </a:p>
          <a:p>
            <a:endParaRPr lang="vi-VN" dirty="0"/>
          </a:p>
          <a:p>
            <a:r>
              <a:rPr lang="vi-VN" dirty="0"/>
              <a:t>LÀM</a:t>
            </a:r>
          </a:p>
          <a:p>
            <a:r>
              <a:rPr lang="vi-VN" dirty="0"/>
              <a:t>• Đổi icon trăng / mặt trời ở cuối màn hình để so glass sáng và tối.</a:t>
            </a:r>
          </a:p>
          <a:p>
            <a:r>
              <a:rPr lang="vi-VN" dirty="0"/>
              <a:t>• Bật Giảm độ trong suốt và Giảm chuyển động trong Cài đặt, quay lại app, chạm nền.</a:t>
            </a:r>
          </a:p>
          <a:p>
            <a:endParaRPr lang="vi-VN" dirty="0"/>
          </a:p>
          <a:p>
            <a:r>
              <a:rPr lang="vi-VN" dirty="0"/>
              <a:t>XCODE</a:t>
            </a:r>
          </a:p>
          <a:p>
            <a:r>
              <a:rPr lang="vi-VN" dirty="0"/>
              <a:t>SystemSettingsDemo, RippleModifier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/>
              <a:t>26:00–28:00 · Đọc Info.plist</a:t>
            </a:r>
          </a:p>
          <a:p>
            <a:endParaRPr lang="vi-VN" dirty="0"/>
          </a:p>
          <a:p>
            <a:r>
              <a:rPr lang="vi-VN" dirty="0"/>
              <a:t>NÓI</a:t>
            </a:r>
          </a:p>
          <a:p>
            <a:r>
              <a:rPr lang="vi-VN" dirty="0"/>
              <a:t>• UIDesignRequiresCompatibility = YES: build bằng SDK 26 mà vẫn giữ giao diện cũ. Đã thử trên SDK 27.1: vẫn có tác dụng.</a:t>
            </a:r>
          </a:p>
          <a:p>
            <a:r>
              <a:rPr lang="vi-VN" dirty="0"/>
              <a:t>• App còn hỗ trợ iOS cũ: gói #available trong một ViewModifier, fallback Material.</a:t>
            </a:r>
          </a:p>
          <a:p>
            <a:r>
              <a:rPr lang="vi-VN" dirty="0"/>
              <a:t>• Không có CADisableMinimumFrameDurationOnPhone thì CADisplayLink và animation tự viết tối đa 60 Hz trên iPhone.</a:t>
            </a:r>
          </a:p>
          <a:p>
            <a:endParaRPr lang="vi-VN" dirty="0"/>
          </a:p>
          <a:p>
            <a:r>
              <a:rPr lang="vi-VN" dirty="0"/>
              <a:t>BẪY</a:t>
            </a:r>
          </a:p>
          <a:p>
            <a:r>
              <a:rPr lang="vi-VN" dirty="0"/>
              <a:t>• Apple nói key compatibility chỉ là tạm thời: không dựa vào lâu dài.</a:t>
            </a:r>
          </a:p>
          <a:p>
            <a:endParaRPr lang="vi-VN" dirty="0"/>
          </a:p>
          <a:p>
            <a:r>
              <a:rPr lang="vi-VN" dirty="0"/>
              <a:t>XCODE</a:t>
            </a:r>
          </a:p>
          <a:p>
            <a:r>
              <a:rPr lang="vi-VN" dirty="0"/>
              <a:t>Info.plist, SystemSettingsDemo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/>
              <a:t>28:00–38:00 · Demo photo → arc → match → lens (nút ⌄ để chuyển)</a:t>
            </a:r>
          </a:p>
          <a:p>
            <a:endParaRPr lang="vi-VN" dirty="0"/>
          </a:p>
          <a:p>
            <a:r>
              <a:rPr lang="vi-VN" dirty="0"/>
              <a:t>NÓI</a:t>
            </a:r>
          </a:p>
          <a:p>
            <a:r>
              <a:rPr lang="vi-VN" dirty="0"/>
              <a:t>• photo: .clear cho nền nhiều hình ảnh, luôn kèm lớp LinearGradient làm tối phía sau nút.</a:t>
            </a:r>
          </a:p>
          <a:p>
            <a:r>
              <a:rPr lang="vi-VN" dirty="0"/>
              <a:t>• arc: hai style cùng vị trí cuối. Quạt: Layout + animatableData, nút quét theo cung. Toả thẳng: offset + delay lần lượt, nút bắn thẳng ra từ tâm.</a:t>
            </a:r>
          </a:p>
          <a:p>
            <a:r>
              <a:rPr lang="vi-VN" dirty="0"/>
              <a:t>• match: matchedTransitionSource + .navigationTransition(.zoom), dùng cho cả sheet lẫn push. matchedGeometryEffect chỉ trong cùng một màn.</a:t>
            </a:r>
          </a:p>
          <a:p>
            <a:r>
              <a:rPr lang="vi-VN" dirty="0"/>
              <a:t>• lens: cùng shader, hai style. Thấu kính bọc nền, glass giữ hình. Dẻo bọc cả nút, chỉ biến dạng lúc kéo.</a:t>
            </a:r>
          </a:p>
          <a:p>
            <a:endParaRPr lang="vi-VN" dirty="0"/>
          </a:p>
          <a:p>
            <a:r>
              <a:rPr lang="vi-VN" dirty="0"/>
              <a:t>LÀM</a:t>
            </a:r>
          </a:p>
          <a:p>
            <a:r>
              <a:rPr lang="vi-VN" dirty="0"/>
              <a:t>• photo: chờ mây trôi qua nút ở nửa BAD.</a:t>
            </a:r>
          </a:p>
          <a:p>
            <a:r>
              <a:rPr lang="vi-VN" dirty="0"/>
              <a:t>• arc: chạm nút + ở hai nửa, so đường đi: cung tròn và đường thẳng.</a:t>
            </a:r>
          </a:p>
          <a:p>
            <a:r>
              <a:rPr lang="vi-VN" dirty="0"/>
              <a:t>• match: tab Sheet chạm nút soạn bài rồi nút lọc; tab Hero chạm thẻ rồi vuốt back.</a:t>
            </a:r>
          </a:p>
          <a:p>
            <a:r>
              <a:rPr lang="vi-VN" dirty="0"/>
              <a:t>• lens: kéo thấu kính; kéo ở mép nút dẻo rồi thả.</a:t>
            </a:r>
          </a:p>
          <a:p>
            <a:endParaRPr lang="vi-VN" dirty="0"/>
          </a:p>
          <a:p>
            <a:r>
              <a:rPr lang="vi-VN" dirty="0"/>
              <a:t>XCODE</a:t>
            </a:r>
          </a:p>
          <a:p>
            <a:r>
              <a:rPr lang="vi-VN" dirty="0"/>
              <a:t>PhotoControlsDemo, ArcMenu, MatchedTransitionDemo, DistortionUnderGlassDemo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/>
              <a:t>38:00–40:30</a:t>
            </a:r>
          </a:p>
          <a:p>
            <a:endParaRPr lang="vi-VN" dirty="0"/>
          </a:p>
          <a:p>
            <a:r>
              <a:rPr lang="vi-VN" dirty="0"/>
              <a:t>NÓI</a:t>
            </a:r>
          </a:p>
          <a:p>
            <a:r>
              <a:rPr lang="vi-VN" dirty="0"/>
              <a:t>• Mỗi nguyên tắc gắn với một phần đã demo: 1 → 0, photo · 2 → Level 1 · 3 → Level 2 · 4 → Level 3 · 5 → Level 4, lens · 6 → cfg, slide tiếp theo.</a:t>
            </a:r>
          </a:p>
          <a:p>
            <a:r>
              <a:rPr lang="vi-VN" dirty="0"/>
              <a:t>• Câu chốt: “Mỗi phần tử Liquid Glass phải trả lời được: chạm vào thì phản hồi gì?”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/>
              <a:t>40:30–43:00 · Chỉ nói, không demo</a:t>
            </a:r>
          </a:p>
          <a:p>
            <a:endParaRPr lang="vi-VN" dirty="0"/>
          </a:p>
          <a:p>
            <a:r>
              <a:rPr lang="vi-VN" dirty="0"/>
              <a:t>NÓI</a:t>
            </a:r>
          </a:p>
          <a:p>
            <a:r>
              <a:rPr lang="vi-VN" dirty="0"/>
              <a:t>• Glass do render server vẽ trên GPU. Time Profiler và các đồng hồ đo trên main thread không thấy được phần này.</a:t>
            </a:r>
          </a:p>
          <a:p>
            <a:r>
              <a:rPr lang="vi-VN" dirty="0"/>
              <a:t>• Instruments: Metal System Trace cho thời gian GPU mỗi frame, Animation Hitches cho các frame trễ.</a:t>
            </a:r>
          </a:p>
          <a:p>
            <a:r>
              <a:rPr lang="vi-VN" dirty="0"/>
              <a:t>• Hai việc rẻ nhất: gom glass vào chung GlassEffectContainer, tắt shader bằng isEnabled khi không chạy. Shader.compile(as:) lúc khởi động để tránh khựng lần đầu.</a:t>
            </a:r>
          </a:p>
          <a:p>
            <a:r>
              <a:rPr lang="vi-VN" dirty="0"/>
              <a:t>• Chỉ dùng số đo trên máy thật, ghi rõ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/>
              <a:t>43:00–45:00</a:t>
            </a:r>
          </a:p>
          <a:p>
            <a:endParaRPr lang="vi-VN" dirty="0"/>
          </a:p>
          <a:p>
            <a:r>
              <a:rPr lang="vi-VN" dirty="0"/>
              <a:t>LÀM</a:t>
            </a:r>
          </a:p>
          <a:p>
            <a:r>
              <a:rPr lang="vi-VN" dirty="0"/>
              <a:t>• Mở link repo LiquidGlassAdvanced.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lg-cover-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44968" y="0"/>
            <a:ext cx="4446727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1325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5D65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IOS 26+ · SWIFTUI · METAL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777240" y="1737360"/>
            <a:ext cx="6675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5200" b="1" dirty="0">
                <a:solidFill>
                  <a:srgbClr val="12151C"/>
                </a:solidFill>
                <a:latin typeface="Bricolage Grotesque 96pt" pitchFamily="34" charset="0"/>
                <a:ea typeface="Bricolage Grotesque 96pt" pitchFamily="34" charset="-122"/>
                <a:cs typeface="Bricolage Grotesque 96pt" pitchFamily="34" charset="-120"/>
              </a:rPr>
              <a:t>Trải nghiệm người dùng xuất sắc với </a:t>
            </a:r>
            <a:pPr indent="0" marL="0">
              <a:lnSpc>
                <a:spcPct val="95000"/>
              </a:lnSpc>
              <a:buNone/>
            </a:pPr>
            <a:r>
              <a:rPr lang="en-US" sz="5200" b="1" dirty="0">
                <a:solidFill>
                  <a:srgbClr val="2457F5"/>
                </a:solidFill>
                <a:latin typeface="Bricolage Grotesque 96pt" pitchFamily="34" charset="0"/>
                <a:ea typeface="Bricolage Grotesque 96pt" pitchFamily="34" charset="-122"/>
                <a:cs typeface="Bricolage Grotesque 96pt" pitchFamily="34" charset="-120"/>
              </a:rPr>
              <a:t>Liquid Glass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777240" y="420624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5D657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 component hệ thống đến Metal shader.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777240" y="5257800"/>
            <a:ext cx="946404" cy="365760"/>
          </a:xfrm>
          <a:prstGeom prst="roundRect">
            <a:avLst>
              <a:gd name="adj" fmla="val 20000"/>
            </a:avLst>
          </a:prstGeom>
          <a:solidFill>
            <a:srgbClr val="F6F7FA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5257800"/>
            <a:ext cx="9464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30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45 phút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1851660" y="5257800"/>
            <a:ext cx="946404" cy="365760"/>
          </a:xfrm>
          <a:prstGeom prst="roundRect">
            <a:avLst>
              <a:gd name="adj" fmla="val 20000"/>
            </a:avLst>
          </a:prstGeom>
          <a:solidFill>
            <a:srgbClr val="F6F7FA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851660" y="5257800"/>
            <a:ext cx="9464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30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Dev iOS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926080" y="5257800"/>
            <a:ext cx="2674620" cy="365760"/>
          </a:xfrm>
          <a:prstGeom prst="roundRect">
            <a:avLst>
              <a:gd name="adj" fmla="val 20000"/>
            </a:avLst>
          </a:prstGeom>
          <a:solidFill>
            <a:srgbClr val="F6F7FA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926080" y="5257800"/>
            <a:ext cx="26746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30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Demo: LiquidGlassAdvanced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801277"/>
            <a:ext cx="6537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2457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GIỚI THIỆU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2313341"/>
            <a:ext cx="6537960" cy="574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12151C"/>
                </a:solidFill>
                <a:latin typeface="Bricolage Grotesque 96pt" pitchFamily="34" charset="0"/>
                <a:ea typeface="Bricolage Grotesque 96pt" pitchFamily="34" charset="-122"/>
                <a:cs typeface="Bricolage Grotesque 96pt" pitchFamily="34" charset="-120"/>
              </a:rPr>
              <a:t>Liquid Glass không phải blur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3107527"/>
            <a:ext cx="54864" cy="451104"/>
          </a:xfrm>
          <a:prstGeom prst="rect">
            <a:avLst/>
          </a:prstGeom>
          <a:solidFill>
            <a:srgbClr val="2457F5"/>
          </a:solidFill>
          <a:ln/>
        </p:spPr>
      </p:sp>
      <p:sp>
        <p:nvSpPr>
          <p:cNvPr id="5" name="Text 3"/>
          <p:cNvSpPr/>
          <p:nvPr/>
        </p:nvSpPr>
        <p:spPr>
          <a:xfrm>
            <a:off x="786384" y="3107527"/>
            <a:ext cx="6318504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A303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Glass 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215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khúc xạ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A303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nền và 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215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đổi theo nền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A303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. Blur chỉ làm mờ.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66928" y="3778087"/>
            <a:ext cx="6537960" cy="384048"/>
          </a:xfrm>
          <a:prstGeom prst="roundRect">
            <a:avLst>
              <a:gd name="adj" fmla="val 19048"/>
            </a:avLst>
          </a:prstGeom>
          <a:solidFill>
            <a:srgbClr val="E6F6EA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" y="3778087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8A3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GOOD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35608" y="3778087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215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.glassEffect(.regular)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928" y="4235287"/>
            <a:ext cx="6537960" cy="384048"/>
          </a:xfrm>
          <a:prstGeom prst="roundRect">
            <a:avLst>
              <a:gd name="adj" fmla="val 19048"/>
            </a:avLst>
          </a:prstGeom>
          <a:solidFill>
            <a:srgbClr val="FCE8E7"/>
          </a:solidFill>
          <a:ln/>
        </p:spPr>
      </p:sp>
      <p:sp>
        <p:nvSpPr>
          <p:cNvPr id="10" name="Text 8"/>
          <p:cNvSpPr/>
          <p:nvPr/>
        </p:nvSpPr>
        <p:spPr>
          <a:xfrm>
            <a:off x="694944" y="4235287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2362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435608" y="4235287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215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.background(.ultraThinMaterial)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6928" y="4838791"/>
            <a:ext cx="6537960" cy="492252"/>
          </a:xfrm>
          <a:prstGeom prst="roundRect">
            <a:avLst>
              <a:gd name="adj" fmla="val 18576"/>
            </a:avLst>
          </a:prstGeom>
          <a:solidFill>
            <a:srgbClr val="FFF3E2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4975951"/>
            <a:ext cx="566928" cy="256032"/>
          </a:xfrm>
          <a:prstGeom prst="roundRect">
            <a:avLst>
              <a:gd name="adj" fmla="val 21429"/>
            </a:avLst>
          </a:prstGeom>
          <a:solidFill>
            <a:srgbClr val="A64B0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975951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BẪY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463040" y="4948519"/>
            <a:ext cx="5486400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64B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Glass không lấy mẫu glass: không chồng lớp lên nhau.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635240" y="1143000"/>
            <a:ext cx="3986784" cy="148132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sx="100000" sy="100000" kx="0" ky="0" algn="bl" rotWithShape="0" blurRad="127000" dist="38100" dir="5400000">
              <a:srgbClr val="1C2433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635240" y="1344168"/>
            <a:ext cx="64008" cy="1078992"/>
          </a:xfrm>
          <a:prstGeom prst="rect">
            <a:avLst/>
          </a:prstGeom>
          <a:solidFill>
            <a:srgbClr val="2457F5"/>
          </a:solidFill>
          <a:ln/>
        </p:spPr>
      </p:sp>
      <p:sp>
        <p:nvSpPr>
          <p:cNvPr id="18" name="Text 16"/>
          <p:cNvSpPr/>
          <p:nvPr/>
        </p:nvSpPr>
        <p:spPr>
          <a:xfrm>
            <a:off x="7927848" y="1362456"/>
            <a:ext cx="3483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457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.regular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927848" y="1783080"/>
            <a:ext cx="34838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A303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Mặc định, tự thích ứng.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635240" y="2825496"/>
            <a:ext cx="3986784" cy="148132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sx="100000" sy="100000" kx="0" ky="0" algn="bl" rotWithShape="0" blurRad="127000" dist="38100" dir="5400000">
              <a:srgbClr val="1C2433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635240" y="3026664"/>
            <a:ext cx="64008" cy="1078992"/>
          </a:xfrm>
          <a:prstGeom prst="rect">
            <a:avLst/>
          </a:prstGeom>
          <a:solidFill>
            <a:srgbClr val="2457F5"/>
          </a:solidFill>
          <a:ln/>
        </p:spPr>
      </p:sp>
      <p:sp>
        <p:nvSpPr>
          <p:cNvPr id="22" name="Text 20"/>
          <p:cNvSpPr/>
          <p:nvPr/>
        </p:nvSpPr>
        <p:spPr>
          <a:xfrm>
            <a:off x="7927848" y="3044952"/>
            <a:ext cx="3483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457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.clear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927848" y="3465576"/>
            <a:ext cx="34838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A303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Trong hơn, cần nền tối.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635240" y="4507992"/>
            <a:ext cx="3986784" cy="148132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sx="100000" sy="100000" kx="0" ky="0" algn="bl" rotWithShape="0" blurRad="127000" dist="38100" dir="5400000">
              <a:srgbClr val="1C2433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635240" y="4709160"/>
            <a:ext cx="64008" cy="1078992"/>
          </a:xfrm>
          <a:prstGeom prst="rect">
            <a:avLst/>
          </a:prstGeom>
          <a:solidFill>
            <a:srgbClr val="2457F5"/>
          </a:solidFill>
          <a:ln/>
        </p:spPr>
      </p:sp>
      <p:sp>
        <p:nvSpPr>
          <p:cNvPr id="26" name="Text 24"/>
          <p:cNvSpPr/>
          <p:nvPr/>
        </p:nvSpPr>
        <p:spPr>
          <a:xfrm>
            <a:off x="7927848" y="4727448"/>
            <a:ext cx="3483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457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.identity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927848" y="5148072"/>
            <a:ext cx="34838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A303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Tắt glass có điều kiện.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66928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5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Liquid Glass · Level by Level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023360" y="292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457F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Giới thiệu</a:t>
            </a:r>
            <a:pPr algn="r" indent="0" marL="0">
              <a:buNone/>
            </a:pPr>
            <a:r>
              <a:rPr lang="en-US" sz="10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Level 1</a:t>
            </a:r>
            <a:pPr algn="r" indent="0" marL="0">
              <a:buNone/>
            </a:pPr>
            <a:r>
              <a:rPr lang="en-US" sz="10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Level 2</a:t>
            </a:r>
            <a:pPr algn="r" indent="0" marL="0">
              <a:buNone/>
            </a:pPr>
            <a:r>
              <a:rPr lang="en-US" sz="10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Level 3</a:t>
            </a:r>
            <a:pPr algn="r" indent="0" marL="0">
              <a:buNone/>
            </a:pPr>
            <a:r>
              <a:rPr lang="en-US" sz="10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Level 4</a:t>
            </a:r>
            <a:pPr algn="r" indent="0" marL="0">
              <a:buNone/>
            </a:pPr>
            <a:r>
              <a:rPr lang="en-US" sz="10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Cấu hình</a:t>
            </a:r>
            <a:pPr algn="r" indent="0" marL="0">
              <a:buNone/>
            </a:pPr>
            <a:r>
              <a:rPr lang="en-US" sz="10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Ví dụ</a:t>
            </a:r>
            <a:pPr algn="r" indent="0" marL="0">
              <a:buNone/>
            </a:pPr>
            <a:r>
              <a:rPr lang="en-US" sz="10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Nguyên tắc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0607040" y="246888"/>
            <a:ext cx="1014984" cy="329184"/>
          </a:xfrm>
          <a:prstGeom prst="roundRect">
            <a:avLst>
              <a:gd name="adj" fmla="val 22222"/>
            </a:avLst>
          </a:prstGeom>
          <a:solidFill>
            <a:srgbClr val="2457F5"/>
          </a:solidFill>
          <a:ln/>
        </p:spPr>
      </p:sp>
      <p:sp>
        <p:nvSpPr>
          <p:cNvPr id="31" name="Text 29"/>
          <p:cNvSpPr/>
          <p:nvPr/>
        </p:nvSpPr>
        <p:spPr>
          <a:xfrm>
            <a:off x="10607040" y="246888"/>
            <a:ext cx="1014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DEMO 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133003"/>
            <a:ext cx="6537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2457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GIỚI THIỆU · COMPONENT HỆ THỐNG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1645067"/>
            <a:ext cx="6537960" cy="574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12151C"/>
                </a:solidFill>
                <a:latin typeface="Bricolage Grotesque 96pt" pitchFamily="34" charset="0"/>
                <a:ea typeface="Bricolage Grotesque 96pt" pitchFamily="34" charset="-122"/>
                <a:cs typeface="Bricolage Grotesque 96pt" pitchFamily="34" charset="-120"/>
              </a:rPr>
              <a:t>Component hệ thống có sẵn glass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2439253"/>
            <a:ext cx="54864" cy="719328"/>
          </a:xfrm>
          <a:prstGeom prst="rect">
            <a:avLst/>
          </a:prstGeom>
          <a:solidFill>
            <a:srgbClr val="2457F5"/>
          </a:solidFill>
          <a:ln/>
        </p:spPr>
      </p:sp>
      <p:sp>
        <p:nvSpPr>
          <p:cNvPr id="5" name="Text 3"/>
          <p:cNvSpPr/>
          <p:nvPr/>
        </p:nvSpPr>
        <p:spPr>
          <a:xfrm>
            <a:off x="786384" y="2439253"/>
            <a:ext cx="6318504" cy="719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A303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Build bằng SDK 26 là thanh điều hướng, tab bar, sheet 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215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tự có glass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A303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66928" y="3414613"/>
            <a:ext cx="292608" cy="292608"/>
          </a:xfrm>
          <a:prstGeom prst="ellipse">
            <a:avLst/>
          </a:prstGeom>
          <a:solidFill>
            <a:srgbClr val="2457F5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3414613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3378037"/>
            <a:ext cx="6099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15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Tự có</a:t>
            </a:r>
            <a:pPr indent="0" marL="0">
              <a:buNone/>
            </a:pPr>
            <a:r>
              <a:rPr lang="en-US" sz="1500" dirty="0">
                <a:solidFill>
                  <a:srgbClr val="2A303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 </a:t>
            </a:r>
            <a:pPr indent="0" marL="0">
              <a:buNone/>
            </a:pPr>
            <a:r>
              <a:rPr lang="en-US" sz="1290" dirty="0">
                <a:solidFill>
                  <a:srgbClr val="2A303C"/>
                </a:solidFill>
                <a:highlight>
                  <a:srgbClr val="EEF1F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TabView</a:t>
            </a:r>
            <a:pPr indent="0" marL="0">
              <a:buNone/>
            </a:pPr>
            <a:r>
              <a:rPr lang="en-US" sz="1500" dirty="0">
                <a:solidFill>
                  <a:srgbClr val="2A303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, toolbar, </a:t>
            </a:r>
            <a:pPr indent="0" marL="0">
              <a:buNone/>
            </a:pPr>
            <a:r>
              <a:rPr lang="en-US" sz="1290" dirty="0">
                <a:solidFill>
                  <a:srgbClr val="2A303C"/>
                </a:solidFill>
                <a:highlight>
                  <a:srgbClr val="EEF1F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.sheet</a:t>
            </a:r>
            <a:pPr indent="0" marL="0">
              <a:buNone/>
            </a:pPr>
            <a:r>
              <a:rPr lang="en-US" sz="1500" dirty="0">
                <a:solidFill>
                  <a:srgbClr val="2A303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, </a:t>
            </a:r>
            <a:pPr indent="0" marL="0">
              <a:buNone/>
            </a:pPr>
            <a:r>
              <a:rPr lang="en-US" sz="1290" dirty="0">
                <a:solidFill>
                  <a:srgbClr val="2A303C"/>
                </a:solidFill>
                <a:highlight>
                  <a:srgbClr val="EEF1F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Menu</a:t>
            </a:r>
            <a:pPr indent="0" marL="0">
              <a:buNone/>
            </a:pPr>
            <a:r>
              <a:rPr lang="en-US" sz="1500" dirty="0">
                <a:solidFill>
                  <a:srgbClr val="2A303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, </a:t>
            </a:r>
            <a:pPr indent="0" marL="0">
              <a:buNone/>
            </a:pPr>
            <a:r>
              <a:rPr lang="en-US" sz="1290" dirty="0">
                <a:solidFill>
                  <a:srgbClr val="2A303C"/>
                </a:solidFill>
                <a:highlight>
                  <a:srgbClr val="EEF1F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.searchable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66928" y="3780373"/>
            <a:ext cx="292608" cy="292608"/>
          </a:xfrm>
          <a:prstGeom prst="ellipse">
            <a:avLst/>
          </a:prstGeom>
          <a:solidFill>
            <a:srgbClr val="2457F5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3780373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3743797"/>
            <a:ext cx="6099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15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Tuỳ biến</a:t>
            </a:r>
            <a:pPr indent="0" marL="0">
              <a:buNone/>
            </a:pPr>
            <a:r>
              <a:rPr lang="en-US" sz="1500" dirty="0">
                <a:solidFill>
                  <a:srgbClr val="2A303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toolbar: </a:t>
            </a:r>
            <a:pPr indent="0" marL="0">
              <a:buNone/>
            </a:pPr>
            <a:r>
              <a:rPr lang="en-US" sz="1290" dirty="0">
                <a:solidFill>
                  <a:srgbClr val="2A303C"/>
                </a:solidFill>
                <a:highlight>
                  <a:srgbClr val="EEF1F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ToolbarSpacer</a:t>
            </a:r>
            <a:pPr indent="0" marL="0">
              <a:buNone/>
            </a:pPr>
            <a:r>
              <a:rPr lang="en-US" sz="1500" dirty="0">
                <a:solidFill>
                  <a:srgbClr val="2A303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, </a:t>
            </a:r>
            <a:pPr indent="0" marL="0">
              <a:buNone/>
            </a:pPr>
            <a:r>
              <a:rPr lang="en-US" sz="1290" dirty="0">
                <a:solidFill>
                  <a:srgbClr val="2A303C"/>
                </a:solidFill>
                <a:highlight>
                  <a:srgbClr val="EEF1F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sharedBackgroundVisibility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66928" y="4260433"/>
            <a:ext cx="292608" cy="292608"/>
          </a:xfrm>
          <a:prstGeom prst="ellipse">
            <a:avLst/>
          </a:prstGeom>
          <a:solidFill>
            <a:srgbClr val="2457F5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4260433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4109557"/>
            <a:ext cx="6099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15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Tuỳ biến</a:t>
            </a:r>
            <a:pPr indent="0" marL="0">
              <a:buNone/>
            </a:pPr>
            <a:r>
              <a:rPr lang="en-US" sz="1500" dirty="0">
                <a:solidFill>
                  <a:srgbClr val="2A303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tab bar: </a:t>
            </a:r>
            <a:pPr indent="0" marL="0">
              <a:buNone/>
            </a:pPr>
            <a:r>
              <a:rPr lang="en-US" sz="1290" dirty="0">
                <a:solidFill>
                  <a:srgbClr val="2A303C"/>
                </a:solidFill>
                <a:highlight>
                  <a:srgbClr val="EEF1F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tabBarMinimizeBehavior</a:t>
            </a:r>
            <a:pPr indent="0" marL="0">
              <a:buNone/>
            </a:pPr>
            <a:r>
              <a:rPr lang="en-US" sz="1500" dirty="0">
                <a:solidFill>
                  <a:srgbClr val="2A303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, </a:t>
            </a:r>
            <a:pPr indent="0" marL="0">
              <a:buNone/>
            </a:pPr>
            <a:r>
              <a:rPr lang="en-US" sz="1290" dirty="0">
                <a:solidFill>
                  <a:srgbClr val="2A303C"/>
                </a:solidFill>
                <a:highlight>
                  <a:srgbClr val="EEF1F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tabViewBottomAccessory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66928" y="4740493"/>
            <a:ext cx="292608" cy="292608"/>
          </a:xfrm>
          <a:prstGeom prst="ellipse">
            <a:avLst/>
          </a:prstGeom>
          <a:solidFill>
            <a:srgbClr val="2457F5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4740493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4703917"/>
            <a:ext cx="6099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15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Tự vẽ</a:t>
            </a:r>
            <a:pPr indent="0" marL="0">
              <a:buNone/>
            </a:pPr>
            <a:r>
              <a:rPr lang="en-US" sz="1500" dirty="0">
                <a:solidFill>
                  <a:srgbClr val="2A303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 </a:t>
            </a:r>
            <a:pPr indent="0" marL="0">
              <a:buNone/>
            </a:pPr>
            <a:r>
              <a:rPr lang="en-US" sz="1290" dirty="0">
                <a:solidFill>
                  <a:srgbClr val="2A303C"/>
                </a:solidFill>
                <a:highlight>
                  <a:srgbClr val="EEF1F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glassEffect</a:t>
            </a:r>
            <a:pPr indent="0" marL="0">
              <a:buNone/>
            </a:pPr>
            <a:r>
              <a:rPr lang="en-US" sz="1500" dirty="0">
                <a:solidFill>
                  <a:srgbClr val="2A303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, </a:t>
            </a:r>
            <a:pPr indent="0" marL="0">
              <a:buNone/>
            </a:pPr>
            <a:r>
              <a:rPr lang="en-US" sz="1290" dirty="0">
                <a:solidFill>
                  <a:srgbClr val="2A303C"/>
                </a:solidFill>
                <a:highlight>
                  <a:srgbClr val="EEF1F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GlassEffectContainer</a:t>
            </a:r>
            <a:pPr indent="0" marL="0">
              <a:buNone/>
            </a:pPr>
            <a:r>
              <a:rPr lang="en-US" sz="1500" dirty="0">
                <a:solidFill>
                  <a:srgbClr val="2A303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, </a:t>
            </a:r>
            <a:pPr indent="0" marL="0">
              <a:buNone/>
            </a:pPr>
            <a:r>
              <a:rPr lang="en-US" sz="1290" dirty="0">
                <a:solidFill>
                  <a:srgbClr val="2A303C"/>
                </a:solidFill>
                <a:highlight>
                  <a:srgbClr val="EEF1F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.buttonStyle(.glass)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66928" y="5289133"/>
            <a:ext cx="6537960" cy="710184"/>
          </a:xfrm>
          <a:prstGeom prst="roundRect">
            <a:avLst>
              <a:gd name="adj" fmla="val 12876"/>
            </a:avLst>
          </a:prstGeom>
          <a:solidFill>
            <a:srgbClr val="FFF3E2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" y="5426293"/>
            <a:ext cx="566928" cy="256032"/>
          </a:xfrm>
          <a:prstGeom prst="roundRect">
            <a:avLst>
              <a:gd name="adj" fmla="val 21429"/>
            </a:avLst>
          </a:prstGeom>
          <a:solidFill>
            <a:srgbClr val="A64B00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5426293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BẪY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463040" y="5398861"/>
            <a:ext cx="5486400" cy="49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64B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 thêm </a:t>
            </a:r>
            <a:pPr indent="0" marL="0">
              <a:buNone/>
            </a:pPr>
            <a:r>
              <a:rPr lang="en-US" sz="1118" dirty="0">
                <a:solidFill>
                  <a:srgbClr val="A64B00"/>
                </a:solidFill>
                <a:highlight>
                  <a:srgbClr val="FBE6CC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glassEffect</a:t>
            </a:r>
            <a:pPr indent="0" marL="0">
              <a:buNone/>
            </a:pPr>
            <a:r>
              <a:rPr lang="en-US" sz="1300" dirty="0">
                <a:solidFill>
                  <a:srgbClr val="A64B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 toolbar, tab bar: thành glass chồng glass.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635240" y="1143000"/>
            <a:ext cx="3986784" cy="148132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sx="100000" sy="100000" kx="0" ky="0" algn="bl" rotWithShape="0" blurRad="127000" dist="38100" dir="5400000">
              <a:srgbClr val="1C2433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635240" y="1344168"/>
            <a:ext cx="64008" cy="1078992"/>
          </a:xfrm>
          <a:prstGeom prst="rect">
            <a:avLst/>
          </a:prstGeom>
          <a:solidFill>
            <a:srgbClr val="2457F5"/>
          </a:solidFill>
          <a:ln/>
        </p:spPr>
      </p:sp>
      <p:sp>
        <p:nvSpPr>
          <p:cNvPr id="24" name="Text 22"/>
          <p:cNvSpPr/>
          <p:nvPr/>
        </p:nvSpPr>
        <p:spPr>
          <a:xfrm>
            <a:off x="7927848" y="1362456"/>
            <a:ext cx="3483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457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Tự có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927848" y="1783080"/>
            <a:ext cx="34838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A303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Build bằng SDK 26 là có, không cần code.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635240" y="2825496"/>
            <a:ext cx="3986784" cy="148132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sx="100000" sy="100000" kx="0" ky="0" algn="bl" rotWithShape="0" blurRad="127000" dist="38100" dir="5400000">
              <a:srgbClr val="1C2433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635240" y="3026664"/>
            <a:ext cx="64008" cy="1078992"/>
          </a:xfrm>
          <a:prstGeom prst="rect">
            <a:avLst/>
          </a:prstGeom>
          <a:solidFill>
            <a:srgbClr val="2457F5"/>
          </a:solidFill>
          <a:ln/>
        </p:spPr>
      </p:sp>
      <p:sp>
        <p:nvSpPr>
          <p:cNvPr id="28" name="Text 26"/>
          <p:cNvSpPr/>
          <p:nvPr/>
        </p:nvSpPr>
        <p:spPr>
          <a:xfrm>
            <a:off x="7927848" y="3044952"/>
            <a:ext cx="3483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457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Tuỳ biến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927848" y="3465576"/>
            <a:ext cx="34838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A303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Gom, tách, thu nhỏ. Nền tràn dưới sidebar: </a:t>
            </a:r>
            <a:pPr indent="0" marL="0">
              <a:lnSpc>
                <a:spcPct val="115000"/>
              </a:lnSpc>
              <a:buNone/>
            </a:pPr>
            <a:r>
              <a:rPr lang="en-US" sz="1204" dirty="0">
                <a:solidFill>
                  <a:srgbClr val="2A303C"/>
                </a:solidFill>
                <a:highlight>
                  <a:srgbClr val="EEF1F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backgroundExtensionEffect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A303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635240" y="4507992"/>
            <a:ext cx="3986784" cy="148132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sx="100000" sy="100000" kx="0" ky="0" algn="bl" rotWithShape="0" blurRad="127000" dist="38100" dir="5400000">
              <a:srgbClr val="1C2433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635240" y="4709160"/>
            <a:ext cx="64008" cy="1078992"/>
          </a:xfrm>
          <a:prstGeom prst="rect">
            <a:avLst/>
          </a:prstGeom>
          <a:solidFill>
            <a:srgbClr val="2457F5"/>
          </a:solidFill>
          <a:ln/>
        </p:spPr>
      </p:sp>
      <p:sp>
        <p:nvSpPr>
          <p:cNvPr id="32" name="Text 30"/>
          <p:cNvSpPr/>
          <p:nvPr/>
        </p:nvSpPr>
        <p:spPr>
          <a:xfrm>
            <a:off x="7927848" y="4727448"/>
            <a:ext cx="3483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457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Tự vẽ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927848" y="5148072"/>
            <a:ext cx="34838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A303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 cho control riêng của app. UIKit: </a:t>
            </a:r>
            <a:pPr indent="0" marL="0">
              <a:lnSpc>
                <a:spcPct val="115000"/>
              </a:lnSpc>
              <a:buNone/>
            </a:pPr>
            <a:r>
              <a:rPr lang="en-US" sz="1204" dirty="0">
                <a:solidFill>
                  <a:srgbClr val="2A303C"/>
                </a:solidFill>
                <a:highlight>
                  <a:srgbClr val="EEF1F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UIGlassEffect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A303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66928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5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Liquid Glass · Level by Level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023360" y="292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457F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Giới thiệu</a:t>
            </a:r>
            <a:pPr algn="r" indent="0" marL="0">
              <a:buNone/>
            </a:pPr>
            <a:r>
              <a:rPr lang="en-US" sz="10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Level 1</a:t>
            </a:r>
            <a:pPr algn="r" indent="0" marL="0">
              <a:buNone/>
            </a:pPr>
            <a:r>
              <a:rPr lang="en-US" sz="10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Level 2</a:t>
            </a:r>
            <a:pPr algn="r" indent="0" marL="0">
              <a:buNone/>
            </a:pPr>
            <a:r>
              <a:rPr lang="en-US" sz="10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Level 3</a:t>
            </a:r>
            <a:pPr algn="r" indent="0" marL="0">
              <a:buNone/>
            </a:pPr>
            <a:r>
              <a:rPr lang="en-US" sz="10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Level 4</a:t>
            </a:r>
            <a:pPr algn="r" indent="0" marL="0">
              <a:buNone/>
            </a:pPr>
            <a:r>
              <a:rPr lang="en-US" sz="10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Cấu hình</a:t>
            </a:r>
            <a:pPr algn="r" indent="0" marL="0">
              <a:buNone/>
            </a:pPr>
            <a:r>
              <a:rPr lang="en-US" sz="10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Ví dụ</a:t>
            </a:r>
            <a:pPr algn="r" indent="0" marL="0">
              <a:buNone/>
            </a:pPr>
            <a:r>
              <a:rPr lang="en-US" sz="10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Nguyên tắc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457F5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1234440"/>
            <a:ext cx="1143000" cy="1143000"/>
          </a:xfrm>
          <a:prstGeom prst="ellipse">
            <a:avLst/>
          </a:prstGeom>
          <a:solidFill>
            <a:srgbClr val="2457F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23444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ricolage Grotesque 96pt" pitchFamily="34" charset="0"/>
                <a:ea typeface="Bricolage Grotesque 96pt" pitchFamily="34" charset="-122"/>
                <a:cs typeface="Bricolage Grotesque 96pt" pitchFamily="34" charset="-120"/>
              </a:rPr>
              <a:t>1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938528" y="129844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2457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LEVEL 1 / 4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938528" y="1645920"/>
            <a:ext cx="5440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12151C"/>
                </a:solidFill>
                <a:latin typeface="Bricolage Grotesque 96pt" pitchFamily="34" charset="0"/>
                <a:ea typeface="Bricolage Grotesque 96pt" pitchFamily="34" charset="-122"/>
                <a:cs typeface="Bricolage Grotesque 96pt" pitchFamily="34" charset="-120"/>
              </a:rPr>
              <a:t>Phản hồi chạm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54864" cy="868680"/>
          </a:xfrm>
          <a:prstGeom prst="rect">
            <a:avLst/>
          </a:prstGeom>
          <a:solidFill>
            <a:srgbClr val="2457F5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274320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A303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Chạm là phải </a:t>
            </a:r>
            <a:pPr indent="0" marL="0">
              <a:buNone/>
            </a:pPr>
            <a:r>
              <a:rPr lang="en-US" sz="1700" dirty="0">
                <a:solidFill>
                  <a:srgbClr val="1215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thấy</a:t>
            </a:r>
            <a:pPr indent="0" marL="0">
              <a:buNone/>
            </a:pPr>
            <a:r>
              <a:rPr lang="en-US" sz="1700" dirty="0">
                <a:solidFill>
                  <a:srgbClr val="2A303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 </a:t>
            </a:r>
            <a:pPr indent="0" marL="0">
              <a:buNone/>
            </a:pPr>
            <a:r>
              <a:rPr lang="en-US" sz="1700" dirty="0">
                <a:solidFill>
                  <a:srgbClr val="1215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cảm</a:t>
            </a:r>
            <a:pPr indent="0" marL="0">
              <a:buNone/>
            </a:pPr>
            <a:r>
              <a:rPr lang="en-US" sz="1700" dirty="0">
                <a:solidFill>
                  <a:srgbClr val="2A303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được.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66928" y="3886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5D65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NỘI DUNG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66928" y="4288536"/>
            <a:ext cx="274320" cy="274320"/>
          </a:xfrm>
          <a:prstGeom prst="ellipse">
            <a:avLst/>
          </a:prstGeom>
          <a:solidFill>
            <a:srgbClr val="2457F5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42885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87552" y="4251960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303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Highlight khi nhấn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66928" y="4709160"/>
            <a:ext cx="274320" cy="274320"/>
          </a:xfrm>
          <a:prstGeom prst="ellipse">
            <a:avLst/>
          </a:prstGeom>
          <a:solidFill>
            <a:srgbClr val="2457F5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4709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87552" y="4672584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303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Haptic khi state đổi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635240" y="1143000"/>
            <a:ext cx="3986784" cy="148132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sx="100000" sy="100000" kx="0" ky="0" algn="bl" rotWithShape="0" blurRad="127000" dist="38100" dir="5400000">
              <a:srgbClr val="1C2433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635240" y="1344168"/>
            <a:ext cx="64008" cy="1078992"/>
          </a:xfrm>
          <a:prstGeom prst="rect">
            <a:avLst/>
          </a:prstGeom>
          <a:solidFill>
            <a:srgbClr val="2457F5"/>
          </a:solidFill>
          <a:ln/>
        </p:spPr>
      </p:sp>
      <p:sp>
        <p:nvSpPr>
          <p:cNvPr id="18" name="Text 16"/>
          <p:cNvSpPr/>
          <p:nvPr/>
        </p:nvSpPr>
        <p:spPr>
          <a:xfrm>
            <a:off x="7927848" y="1362456"/>
            <a:ext cx="3483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457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.interactive()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927848" y="1783080"/>
            <a:ext cx="34838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A303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Highlight cho view tự vẽ.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635240" y="2825496"/>
            <a:ext cx="3986784" cy="148132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sx="100000" sy="100000" kx="0" ky="0" algn="bl" rotWithShape="0" blurRad="127000" dist="38100" dir="5400000">
              <a:srgbClr val="1C2433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635240" y="3026664"/>
            <a:ext cx="64008" cy="1078992"/>
          </a:xfrm>
          <a:prstGeom prst="rect">
            <a:avLst/>
          </a:prstGeom>
          <a:solidFill>
            <a:srgbClr val="2457F5"/>
          </a:solidFill>
          <a:ln/>
        </p:spPr>
      </p:sp>
      <p:sp>
        <p:nvSpPr>
          <p:cNvPr id="22" name="Text 20"/>
          <p:cNvSpPr/>
          <p:nvPr/>
        </p:nvSpPr>
        <p:spPr>
          <a:xfrm>
            <a:off x="7927848" y="3044952"/>
            <a:ext cx="3483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457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.buttonStyle(.glass)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927848" y="3465576"/>
            <a:ext cx="34838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A303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Button có sẵn.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635240" y="4507992"/>
            <a:ext cx="3986784" cy="148132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sx="100000" sy="100000" kx="0" ky="0" algn="bl" rotWithShape="0" blurRad="127000" dist="38100" dir="5400000">
              <a:srgbClr val="1C2433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635240" y="4709160"/>
            <a:ext cx="64008" cy="1078992"/>
          </a:xfrm>
          <a:prstGeom prst="rect">
            <a:avLst/>
          </a:prstGeom>
          <a:solidFill>
            <a:srgbClr val="2457F5"/>
          </a:solidFill>
          <a:ln/>
        </p:spPr>
      </p:sp>
      <p:sp>
        <p:nvSpPr>
          <p:cNvPr id="26" name="Text 24"/>
          <p:cNvSpPr/>
          <p:nvPr/>
        </p:nvSpPr>
        <p:spPr>
          <a:xfrm>
            <a:off x="7927848" y="4727448"/>
            <a:ext cx="3483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457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sensoryFeedback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927848" y="5148072"/>
            <a:ext cx="34838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A303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Haptic theo state.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66928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5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Liquid Glass · Level by Level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023360" y="292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 thiệu</a:t>
            </a:r>
            <a:pPr algn="r" indent="0" marL="0">
              <a:buNone/>
            </a:pPr>
            <a:r>
              <a:rPr lang="en-US" sz="1000" dirty="0">
                <a:solidFill>
                  <a:srgbClr val="2457F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  Level 1</a:t>
            </a:r>
            <a:pPr algn="r" indent="0" marL="0">
              <a:buNone/>
            </a:pPr>
            <a:r>
              <a:rPr lang="en-US" sz="10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Level 2</a:t>
            </a:r>
            <a:pPr algn="r" indent="0" marL="0">
              <a:buNone/>
            </a:pPr>
            <a:r>
              <a:rPr lang="en-US" sz="10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Level 3</a:t>
            </a:r>
            <a:pPr algn="r" indent="0" marL="0">
              <a:buNone/>
            </a:pPr>
            <a:r>
              <a:rPr lang="en-US" sz="10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Level 4</a:t>
            </a:r>
            <a:pPr algn="r" indent="0" marL="0">
              <a:buNone/>
            </a:pPr>
            <a:r>
              <a:rPr lang="en-US" sz="10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Cấu hình</a:t>
            </a:r>
            <a:pPr algn="r" indent="0" marL="0">
              <a:buNone/>
            </a:pPr>
            <a:r>
              <a:rPr lang="en-US" sz="10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Ví dụ</a:t>
            </a:r>
            <a:pPr algn="r" indent="0" marL="0">
              <a:buNone/>
            </a:pPr>
            <a:r>
              <a:rPr lang="en-US" sz="10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Nguyên tắc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66928" y="6400800"/>
            <a:ext cx="2377440" cy="45720"/>
          </a:xfrm>
          <a:prstGeom prst="rect">
            <a:avLst/>
          </a:prstGeom>
          <a:solidFill>
            <a:srgbClr val="2457F5"/>
          </a:solidFill>
          <a:ln/>
        </p:spPr>
      </p:sp>
      <p:sp>
        <p:nvSpPr>
          <p:cNvPr id="31" name="Text 29"/>
          <p:cNvSpPr/>
          <p:nvPr/>
        </p:nvSpPr>
        <p:spPr>
          <a:xfrm>
            <a:off x="566928" y="647395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457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LEVEL 1  </a:t>
            </a:r>
            <a:pPr indent="0" marL="0">
              <a:buNone/>
            </a:pPr>
            <a:r>
              <a:rPr lang="en-US" sz="900" dirty="0">
                <a:solidFill>
                  <a:srgbClr val="2457F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Phản hồi chạm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054096" y="6400800"/>
            <a:ext cx="2377440" cy="45720"/>
          </a:xfrm>
          <a:prstGeom prst="rect">
            <a:avLst/>
          </a:prstGeom>
          <a:solidFill>
            <a:srgbClr val="E3E6EC"/>
          </a:solidFill>
          <a:ln/>
        </p:spPr>
      </p:sp>
      <p:sp>
        <p:nvSpPr>
          <p:cNvPr id="33" name="Text 31"/>
          <p:cNvSpPr/>
          <p:nvPr/>
        </p:nvSpPr>
        <p:spPr>
          <a:xfrm>
            <a:off x="3054096" y="647395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4A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LEVEL 2  </a:t>
            </a:r>
            <a:pPr indent="0" marL="0">
              <a:buNone/>
            </a:pPr>
            <a:r>
              <a:rPr lang="en-US" sz="9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Chuyển trạng thái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541264" y="6400800"/>
            <a:ext cx="2377440" cy="45720"/>
          </a:xfrm>
          <a:prstGeom prst="rect">
            <a:avLst/>
          </a:prstGeom>
          <a:solidFill>
            <a:srgbClr val="E3E6EC"/>
          </a:solidFill>
          <a:ln/>
        </p:spPr>
      </p:sp>
      <p:sp>
        <p:nvSpPr>
          <p:cNvPr id="35" name="Text 33"/>
          <p:cNvSpPr/>
          <p:nvPr/>
        </p:nvSpPr>
        <p:spPr>
          <a:xfrm>
            <a:off x="5541264" y="647395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4A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LEVEL 3  </a:t>
            </a:r>
            <a:pPr indent="0" marL="0">
              <a:buNone/>
            </a:pPr>
            <a:r>
              <a:rPr lang="en-US" sz="9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Chuyển động vật lý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8028432" y="6400800"/>
            <a:ext cx="2377440" cy="45720"/>
          </a:xfrm>
          <a:prstGeom prst="rect">
            <a:avLst/>
          </a:prstGeom>
          <a:solidFill>
            <a:srgbClr val="E3E6EC"/>
          </a:solidFill>
          <a:ln/>
        </p:spPr>
      </p:sp>
      <p:sp>
        <p:nvSpPr>
          <p:cNvPr id="37" name="Text 35"/>
          <p:cNvSpPr/>
          <p:nvPr/>
        </p:nvSpPr>
        <p:spPr>
          <a:xfrm>
            <a:off x="8028432" y="647395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4A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LEVEL 4  </a:t>
            </a:r>
            <a:pPr indent="0" marL="0">
              <a:buNone/>
            </a:pPr>
            <a:r>
              <a:rPr lang="en-US" sz="9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Biến dạng tại điểm chạm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99931"/>
            <a:ext cx="6537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2457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LEVEL 1 · CÁCH LÀM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2211995"/>
            <a:ext cx="6537960" cy="574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12151C"/>
                </a:solidFill>
                <a:latin typeface="Bricolage Grotesque 96pt" pitchFamily="34" charset="0"/>
                <a:ea typeface="Bricolage Grotesque 96pt" pitchFamily="34" charset="-122"/>
                <a:cs typeface="Bricolage Grotesque 96pt" pitchFamily="34" charset="-120"/>
              </a:rPr>
              <a:t>Highlight + haptic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3006181"/>
            <a:ext cx="54864" cy="451104"/>
          </a:xfrm>
          <a:prstGeom prst="rect">
            <a:avLst/>
          </a:prstGeom>
          <a:solidFill>
            <a:srgbClr val="2457F5"/>
          </a:solidFill>
          <a:ln/>
        </p:spPr>
      </p:sp>
      <p:sp>
        <p:nvSpPr>
          <p:cNvPr id="5" name="Text 3"/>
          <p:cNvSpPr/>
          <p:nvPr/>
        </p:nvSpPr>
        <p:spPr>
          <a:xfrm>
            <a:off x="786384" y="3006181"/>
            <a:ext cx="6318504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215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Thị giác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A303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: sáng, co giãn. 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215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Xúc giác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A303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: rung khi state đổi.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66928" y="3676741"/>
            <a:ext cx="6537960" cy="384048"/>
          </a:xfrm>
          <a:prstGeom prst="roundRect">
            <a:avLst>
              <a:gd name="adj" fmla="val 19048"/>
            </a:avLst>
          </a:prstGeom>
          <a:solidFill>
            <a:srgbClr val="E6F6EA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" y="3676741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8A3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GOOD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35608" y="3676741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8" dirty="0">
                <a:solidFill>
                  <a:srgbClr val="12151C"/>
                </a:solidFill>
                <a:highlight>
                  <a:srgbClr val="E6F6EA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.glassEffect(.regular.interactive())</a:t>
            </a:r>
            <a:endParaRPr lang="en-US" sz="1118" dirty="0"/>
          </a:p>
        </p:txBody>
      </p:sp>
      <p:sp>
        <p:nvSpPr>
          <p:cNvPr id="9" name="Shape 7"/>
          <p:cNvSpPr/>
          <p:nvPr/>
        </p:nvSpPr>
        <p:spPr>
          <a:xfrm>
            <a:off x="566928" y="4133941"/>
            <a:ext cx="6537960" cy="384048"/>
          </a:xfrm>
          <a:prstGeom prst="roundRect">
            <a:avLst>
              <a:gd name="adj" fmla="val 19048"/>
            </a:avLst>
          </a:prstGeom>
          <a:solidFill>
            <a:srgbClr val="FCE8E7"/>
          </a:solidFill>
          <a:ln/>
        </p:spPr>
      </p:sp>
      <p:sp>
        <p:nvSpPr>
          <p:cNvPr id="10" name="Text 8"/>
          <p:cNvSpPr/>
          <p:nvPr/>
        </p:nvSpPr>
        <p:spPr>
          <a:xfrm>
            <a:off x="694944" y="4133941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2362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435608" y="4133941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8" dirty="0">
                <a:solidFill>
                  <a:srgbClr val="12151C"/>
                </a:solidFill>
                <a:highlight>
                  <a:srgbClr val="FCE8E7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.glassEffect(.regular)</a:t>
            </a:r>
            <a:endParaRPr lang="en-US" sz="1118" dirty="0"/>
          </a:p>
        </p:txBody>
      </p:sp>
      <p:sp>
        <p:nvSpPr>
          <p:cNvPr id="12" name="Shape 10"/>
          <p:cNvSpPr/>
          <p:nvPr/>
        </p:nvSpPr>
        <p:spPr>
          <a:xfrm>
            <a:off x="566928" y="4591141"/>
            <a:ext cx="6537960" cy="384048"/>
          </a:xfrm>
          <a:prstGeom prst="roundRect">
            <a:avLst>
              <a:gd name="adj" fmla="val 19048"/>
            </a:avLst>
          </a:prstGeom>
          <a:solidFill>
            <a:srgbClr val="E6F6EA"/>
          </a:solidFill>
          <a:ln/>
        </p:spPr>
      </p:sp>
      <p:sp>
        <p:nvSpPr>
          <p:cNvPr id="13" name="Text 11"/>
          <p:cNvSpPr/>
          <p:nvPr/>
        </p:nvSpPr>
        <p:spPr>
          <a:xfrm>
            <a:off x="694944" y="4591141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8A3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GOOD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435608" y="4591141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215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trigger: </a:t>
            </a:r>
            <a:pPr indent="0" marL="0">
              <a:buNone/>
            </a:pPr>
            <a:r>
              <a:rPr lang="en-US" sz="1118" dirty="0">
                <a:solidFill>
                  <a:srgbClr val="12151C"/>
                </a:solidFill>
                <a:highlight>
                  <a:srgbClr val="E6F6EA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count += 1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66928" y="5048341"/>
            <a:ext cx="6537960" cy="384048"/>
          </a:xfrm>
          <a:prstGeom prst="roundRect">
            <a:avLst>
              <a:gd name="adj" fmla="val 19048"/>
            </a:avLst>
          </a:prstGeom>
          <a:solidFill>
            <a:srgbClr val="FCE8E7"/>
          </a:solidFill>
          <a:ln/>
        </p:spPr>
      </p:sp>
      <p:sp>
        <p:nvSpPr>
          <p:cNvPr id="16" name="Text 14"/>
          <p:cNvSpPr/>
          <p:nvPr/>
        </p:nvSpPr>
        <p:spPr>
          <a:xfrm>
            <a:off x="694944" y="5048341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2362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35608" y="5048341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215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trigger: </a:t>
            </a:r>
            <a:pPr indent="0" marL="0">
              <a:buNone/>
            </a:pPr>
            <a:r>
              <a:rPr lang="en-US" sz="1118" dirty="0">
                <a:solidFill>
                  <a:srgbClr val="12151C"/>
                </a:solidFill>
                <a:highlight>
                  <a:srgbClr val="FCE8E7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liked = true</a:t>
            </a:r>
            <a:pPr indent="0" marL="0">
              <a:buNone/>
            </a:pPr>
            <a:r>
              <a:rPr lang="en-US" sz="1300" dirty="0">
                <a:solidFill>
                  <a:srgbClr val="1215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lặp lại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635240" y="1143000"/>
            <a:ext cx="3986784" cy="148132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sx="100000" sy="100000" kx="0" ky="0" algn="bl" rotWithShape="0" blurRad="127000" dist="38100" dir="5400000">
              <a:srgbClr val="1C2433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635240" y="1344168"/>
            <a:ext cx="64008" cy="1078992"/>
          </a:xfrm>
          <a:prstGeom prst="rect">
            <a:avLst/>
          </a:prstGeom>
          <a:solidFill>
            <a:srgbClr val="2457F5"/>
          </a:solidFill>
          <a:ln/>
        </p:spPr>
      </p:sp>
      <p:sp>
        <p:nvSpPr>
          <p:cNvPr id="20" name="Text 18"/>
          <p:cNvSpPr/>
          <p:nvPr/>
        </p:nvSpPr>
        <p:spPr>
          <a:xfrm>
            <a:off x="7927848" y="1362456"/>
            <a:ext cx="3483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57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.glassEffect(.regular.interactive())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927848" y="1783080"/>
            <a:ext cx="34838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A303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View tự vẽ.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35240" y="2825496"/>
            <a:ext cx="3986784" cy="148132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sx="100000" sy="100000" kx="0" ky="0" algn="bl" rotWithShape="0" blurRad="127000" dist="38100" dir="5400000">
              <a:srgbClr val="1C2433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635240" y="3026664"/>
            <a:ext cx="64008" cy="1078992"/>
          </a:xfrm>
          <a:prstGeom prst="rect">
            <a:avLst/>
          </a:prstGeom>
          <a:solidFill>
            <a:srgbClr val="2457F5"/>
          </a:solidFill>
          <a:ln/>
        </p:spPr>
      </p:sp>
      <p:sp>
        <p:nvSpPr>
          <p:cNvPr id="24" name="Text 22"/>
          <p:cNvSpPr/>
          <p:nvPr/>
        </p:nvSpPr>
        <p:spPr>
          <a:xfrm>
            <a:off x="7927848" y="3044952"/>
            <a:ext cx="3483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457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.buttonStyle(.glass)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927848" y="3465576"/>
            <a:ext cx="34838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A303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 cần thêm gì.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635240" y="4507992"/>
            <a:ext cx="3986784" cy="148132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sx="100000" sy="100000" kx="0" ky="0" algn="bl" rotWithShape="0" blurRad="127000" dist="38100" dir="5400000">
              <a:srgbClr val="1C2433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635240" y="4709160"/>
            <a:ext cx="64008" cy="1078992"/>
          </a:xfrm>
          <a:prstGeom prst="rect">
            <a:avLst/>
          </a:prstGeom>
          <a:solidFill>
            <a:srgbClr val="2457F5"/>
          </a:solidFill>
          <a:ln/>
        </p:spPr>
      </p:sp>
      <p:sp>
        <p:nvSpPr>
          <p:cNvPr id="28" name="Text 26"/>
          <p:cNvSpPr/>
          <p:nvPr/>
        </p:nvSpPr>
        <p:spPr>
          <a:xfrm>
            <a:off x="7927848" y="4727448"/>
            <a:ext cx="3483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57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sensoryFeedback(_:trigger:)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927848" y="5148072"/>
            <a:ext cx="34838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A303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Phát khi </a:t>
            </a:r>
            <a:pPr indent="0" marL="0">
              <a:lnSpc>
                <a:spcPct val="115000"/>
              </a:lnSpc>
              <a:buNone/>
            </a:pPr>
            <a:r>
              <a:rPr lang="en-US" sz="1204" dirty="0">
                <a:solidFill>
                  <a:srgbClr val="2A303C"/>
                </a:solidFill>
                <a:highlight>
                  <a:srgbClr val="EEF1F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trigger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A303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66928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5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Liquid Glass · Level by Level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023360" y="292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 thiệu</a:t>
            </a:r>
            <a:pPr algn="r" indent="0" marL="0">
              <a:buNone/>
            </a:pPr>
            <a:r>
              <a:rPr lang="en-US" sz="1000" dirty="0">
                <a:solidFill>
                  <a:srgbClr val="2457F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  Level 1</a:t>
            </a:r>
            <a:pPr algn="r" indent="0" marL="0">
              <a:buNone/>
            </a:pPr>
            <a:r>
              <a:rPr lang="en-US" sz="10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Level 2</a:t>
            </a:r>
            <a:pPr algn="r" indent="0" marL="0">
              <a:buNone/>
            </a:pPr>
            <a:r>
              <a:rPr lang="en-US" sz="10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Level 3</a:t>
            </a:r>
            <a:pPr algn="r" indent="0" marL="0">
              <a:buNone/>
            </a:pPr>
            <a:r>
              <a:rPr lang="en-US" sz="10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Level 4</a:t>
            </a:r>
            <a:pPr algn="r" indent="0" marL="0">
              <a:buNone/>
            </a:pPr>
            <a:r>
              <a:rPr lang="en-US" sz="10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Cấu hình</a:t>
            </a:r>
            <a:pPr algn="r" indent="0" marL="0">
              <a:buNone/>
            </a:pPr>
            <a:r>
              <a:rPr lang="en-US" sz="10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Ví dụ</a:t>
            </a:r>
            <a:pPr algn="r" indent="0" marL="0">
              <a:buNone/>
            </a:pPr>
            <a:r>
              <a:rPr lang="en-US" sz="10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Nguyên tắc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0607040" y="246888"/>
            <a:ext cx="1014984" cy="329184"/>
          </a:xfrm>
          <a:prstGeom prst="roundRect">
            <a:avLst>
              <a:gd name="adj" fmla="val 22222"/>
            </a:avLst>
          </a:prstGeom>
          <a:solidFill>
            <a:srgbClr val="2457F5"/>
          </a:solidFill>
          <a:ln/>
        </p:spPr>
      </p:sp>
      <p:sp>
        <p:nvSpPr>
          <p:cNvPr id="33" name="Text 31"/>
          <p:cNvSpPr/>
          <p:nvPr/>
        </p:nvSpPr>
        <p:spPr>
          <a:xfrm>
            <a:off x="10607040" y="246888"/>
            <a:ext cx="1014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DEMO 1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66928" y="6400800"/>
            <a:ext cx="2377440" cy="45720"/>
          </a:xfrm>
          <a:prstGeom prst="rect">
            <a:avLst/>
          </a:prstGeom>
          <a:solidFill>
            <a:srgbClr val="2457F5"/>
          </a:solidFill>
          <a:ln/>
        </p:spPr>
      </p:sp>
      <p:sp>
        <p:nvSpPr>
          <p:cNvPr id="35" name="Text 33"/>
          <p:cNvSpPr/>
          <p:nvPr/>
        </p:nvSpPr>
        <p:spPr>
          <a:xfrm>
            <a:off x="566928" y="647395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457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LEVEL 1  </a:t>
            </a:r>
            <a:pPr indent="0" marL="0">
              <a:buNone/>
            </a:pPr>
            <a:r>
              <a:rPr lang="en-US" sz="900" dirty="0">
                <a:solidFill>
                  <a:srgbClr val="2457F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Phản hồi chạm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054096" y="6400800"/>
            <a:ext cx="2377440" cy="45720"/>
          </a:xfrm>
          <a:prstGeom prst="rect">
            <a:avLst/>
          </a:prstGeom>
          <a:solidFill>
            <a:srgbClr val="E3E6EC"/>
          </a:solidFill>
          <a:ln/>
        </p:spPr>
      </p:sp>
      <p:sp>
        <p:nvSpPr>
          <p:cNvPr id="37" name="Text 35"/>
          <p:cNvSpPr/>
          <p:nvPr/>
        </p:nvSpPr>
        <p:spPr>
          <a:xfrm>
            <a:off x="3054096" y="647395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4A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LEVEL 2  </a:t>
            </a:r>
            <a:pPr indent="0" marL="0">
              <a:buNone/>
            </a:pPr>
            <a:r>
              <a:rPr lang="en-US" sz="9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Chuyển trạng thái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541264" y="6400800"/>
            <a:ext cx="2377440" cy="45720"/>
          </a:xfrm>
          <a:prstGeom prst="rect">
            <a:avLst/>
          </a:prstGeom>
          <a:solidFill>
            <a:srgbClr val="E3E6EC"/>
          </a:solidFill>
          <a:ln/>
        </p:spPr>
      </p:sp>
      <p:sp>
        <p:nvSpPr>
          <p:cNvPr id="39" name="Text 37"/>
          <p:cNvSpPr/>
          <p:nvPr/>
        </p:nvSpPr>
        <p:spPr>
          <a:xfrm>
            <a:off x="5541264" y="647395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4A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LEVEL 3  </a:t>
            </a:r>
            <a:pPr indent="0" marL="0">
              <a:buNone/>
            </a:pPr>
            <a:r>
              <a:rPr lang="en-US" sz="9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Chuyển động vật lý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8028432" y="6400800"/>
            <a:ext cx="2377440" cy="45720"/>
          </a:xfrm>
          <a:prstGeom prst="rect">
            <a:avLst/>
          </a:prstGeom>
          <a:solidFill>
            <a:srgbClr val="E3E6EC"/>
          </a:solidFill>
          <a:ln/>
        </p:spPr>
      </p:sp>
      <p:sp>
        <p:nvSpPr>
          <p:cNvPr id="41" name="Text 39"/>
          <p:cNvSpPr/>
          <p:nvPr/>
        </p:nvSpPr>
        <p:spPr>
          <a:xfrm>
            <a:off x="8028432" y="647395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4A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LEVEL 4  </a:t>
            </a:r>
            <a:pPr indent="0" marL="0">
              <a:buNone/>
            </a:pPr>
            <a:r>
              <a:rPr lang="en-US" sz="9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Biến dạng tại điểm chạm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8F7C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1234440"/>
            <a:ext cx="1143000" cy="1143000"/>
          </a:xfrm>
          <a:prstGeom prst="ellipse">
            <a:avLst/>
          </a:prstGeom>
          <a:solidFill>
            <a:srgbClr val="0B8F7C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23444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ricolage Grotesque 96pt" pitchFamily="34" charset="0"/>
                <a:ea typeface="Bricolage Grotesque 96pt" pitchFamily="34" charset="-122"/>
                <a:cs typeface="Bricolage Grotesque 96pt" pitchFamily="34" charset="-120"/>
              </a:rPr>
              <a:t>2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938528" y="129844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0B8F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LEVEL 2 / 4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938528" y="1645920"/>
            <a:ext cx="5440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12151C"/>
                </a:solidFill>
                <a:latin typeface="Bricolage Grotesque 96pt" pitchFamily="34" charset="0"/>
                <a:ea typeface="Bricolage Grotesque 96pt" pitchFamily="34" charset="-122"/>
                <a:cs typeface="Bricolage Grotesque 96pt" pitchFamily="34" charset="-120"/>
              </a:rPr>
              <a:t>Chuyển trạng thái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54864" cy="868680"/>
          </a:xfrm>
          <a:prstGeom prst="rect">
            <a:avLst/>
          </a:prstGeom>
          <a:solidFill>
            <a:srgbClr val="0B8F7C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274320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A303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Đổi state thì </a:t>
            </a:r>
            <a:pPr indent="0" marL="0">
              <a:buNone/>
            </a:pPr>
            <a:r>
              <a:rPr lang="en-US" sz="1700" dirty="0">
                <a:solidFill>
                  <a:srgbClr val="1215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morph</a:t>
            </a:r>
            <a:pPr indent="0" marL="0">
              <a:buNone/>
            </a:pPr>
            <a:r>
              <a:rPr lang="en-US" sz="1700" dirty="0">
                <a:solidFill>
                  <a:srgbClr val="2A303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, không nhảy.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66928" y="3886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5D65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NỘI DUNG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66928" y="4288536"/>
            <a:ext cx="274320" cy="274320"/>
          </a:xfrm>
          <a:prstGeom prst="ellipse">
            <a:avLst/>
          </a:prstGeom>
          <a:solidFill>
            <a:srgbClr val="0B8F7C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42885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87552" y="4251960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303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Hòa nhau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66928" y="4709160"/>
            <a:ext cx="274320" cy="274320"/>
          </a:xfrm>
          <a:prstGeom prst="ellipse">
            <a:avLst/>
          </a:prstGeom>
          <a:solidFill>
            <a:srgbClr val="0B8F7C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4709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87552" y="4672584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303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 / bớt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66928" y="5129784"/>
            <a:ext cx="274320" cy="274320"/>
          </a:xfrm>
          <a:prstGeom prst="ellipse">
            <a:avLst/>
          </a:prstGeom>
          <a:solidFill>
            <a:srgbClr val="0B8F7C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51297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87552" y="5093208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303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Đổi shape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635240" y="1143000"/>
            <a:ext cx="3986784" cy="148132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sx="100000" sy="100000" kx="0" ky="0" algn="bl" rotWithShape="0" blurRad="127000" dist="38100" dir="5400000">
              <a:srgbClr val="1C2433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635240" y="1344168"/>
            <a:ext cx="64008" cy="1078992"/>
          </a:xfrm>
          <a:prstGeom prst="rect">
            <a:avLst/>
          </a:prstGeom>
          <a:solidFill>
            <a:srgbClr val="0B8F7C"/>
          </a:solidFill>
          <a:ln/>
        </p:spPr>
      </p:sp>
      <p:sp>
        <p:nvSpPr>
          <p:cNvPr id="21" name="Text 19"/>
          <p:cNvSpPr/>
          <p:nvPr/>
        </p:nvSpPr>
        <p:spPr>
          <a:xfrm>
            <a:off x="7927848" y="1362456"/>
            <a:ext cx="3483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B8F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GlassEffectContainer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927848" y="1783080"/>
            <a:ext cx="34838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A303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 phần tử morph.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635240" y="2825496"/>
            <a:ext cx="3986784" cy="148132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sx="100000" sy="100000" kx="0" ky="0" algn="bl" rotWithShape="0" blurRad="127000" dist="38100" dir="5400000">
              <a:srgbClr val="1C2433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635240" y="3026664"/>
            <a:ext cx="64008" cy="1078992"/>
          </a:xfrm>
          <a:prstGeom prst="rect">
            <a:avLst/>
          </a:prstGeom>
          <a:solidFill>
            <a:srgbClr val="0B8F7C"/>
          </a:solidFill>
          <a:ln/>
        </p:spPr>
      </p:sp>
      <p:sp>
        <p:nvSpPr>
          <p:cNvPr id="25" name="Text 23"/>
          <p:cNvSpPr/>
          <p:nvPr/>
        </p:nvSpPr>
        <p:spPr>
          <a:xfrm>
            <a:off x="7927848" y="3044952"/>
            <a:ext cx="3483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B8F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glassEffectID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927848" y="3465576"/>
            <a:ext cx="34838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A303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Nối cũ với mới.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635240" y="4507992"/>
            <a:ext cx="3986784" cy="148132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sx="100000" sy="100000" kx="0" ky="0" algn="bl" rotWithShape="0" blurRad="127000" dist="38100" dir="5400000">
              <a:srgbClr val="1C2433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635240" y="4709160"/>
            <a:ext cx="64008" cy="1078992"/>
          </a:xfrm>
          <a:prstGeom prst="rect">
            <a:avLst/>
          </a:prstGeom>
          <a:solidFill>
            <a:srgbClr val="0B8F7C"/>
          </a:solidFill>
          <a:ln/>
        </p:spPr>
      </p:sp>
      <p:sp>
        <p:nvSpPr>
          <p:cNvPr id="29" name="Text 27"/>
          <p:cNvSpPr/>
          <p:nvPr/>
        </p:nvSpPr>
        <p:spPr>
          <a:xfrm>
            <a:off x="7927848" y="4727448"/>
            <a:ext cx="3483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B8F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withAnimation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927848" y="5148072"/>
            <a:ext cx="34838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A303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Bọc thay đổi state.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66928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5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Liquid Glass · Level by Level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023360" y="292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 thiệu</a:t>
            </a:r>
            <a:pPr algn="r" indent="0" marL="0">
              <a:buNone/>
            </a:pPr>
            <a:r>
              <a:rPr lang="en-US" sz="10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Level 1</a:t>
            </a:r>
            <a:pPr algn="r" indent="0" marL="0">
              <a:buNone/>
            </a:pPr>
            <a:r>
              <a:rPr lang="en-US" sz="1000" dirty="0">
                <a:solidFill>
                  <a:srgbClr val="0B8F7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  Level 2</a:t>
            </a:r>
            <a:pPr algn="r" indent="0" marL="0">
              <a:buNone/>
            </a:pPr>
            <a:r>
              <a:rPr lang="en-US" sz="10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Level 3</a:t>
            </a:r>
            <a:pPr algn="r" indent="0" marL="0">
              <a:buNone/>
            </a:pPr>
            <a:r>
              <a:rPr lang="en-US" sz="10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Level 4</a:t>
            </a:r>
            <a:pPr algn="r" indent="0" marL="0">
              <a:buNone/>
            </a:pPr>
            <a:r>
              <a:rPr lang="en-US" sz="10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Cấu hình</a:t>
            </a:r>
            <a:pPr algn="r" indent="0" marL="0">
              <a:buNone/>
            </a:pPr>
            <a:r>
              <a:rPr lang="en-US" sz="10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Ví dụ</a:t>
            </a:r>
            <a:pPr algn="r" indent="0" marL="0">
              <a:buNone/>
            </a:pPr>
            <a:r>
              <a:rPr lang="en-US" sz="10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Nguyên tắc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66928" y="6400800"/>
            <a:ext cx="2377440" cy="45720"/>
          </a:xfrm>
          <a:prstGeom prst="rect">
            <a:avLst/>
          </a:prstGeom>
          <a:solidFill>
            <a:srgbClr val="C9CED8"/>
          </a:solidFill>
          <a:ln/>
        </p:spPr>
      </p:sp>
      <p:sp>
        <p:nvSpPr>
          <p:cNvPr id="34" name="Text 32"/>
          <p:cNvSpPr/>
          <p:nvPr/>
        </p:nvSpPr>
        <p:spPr>
          <a:xfrm>
            <a:off x="566928" y="647395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4A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LEVEL 1  </a:t>
            </a:r>
            <a:pPr indent="0" marL="0">
              <a:buNone/>
            </a:pPr>
            <a:r>
              <a:rPr lang="en-US" sz="9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Phản hồi chạm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054096" y="6400800"/>
            <a:ext cx="2377440" cy="45720"/>
          </a:xfrm>
          <a:prstGeom prst="rect">
            <a:avLst/>
          </a:prstGeom>
          <a:solidFill>
            <a:srgbClr val="0B8F7C"/>
          </a:solidFill>
          <a:ln/>
        </p:spPr>
      </p:sp>
      <p:sp>
        <p:nvSpPr>
          <p:cNvPr id="36" name="Text 34"/>
          <p:cNvSpPr/>
          <p:nvPr/>
        </p:nvSpPr>
        <p:spPr>
          <a:xfrm>
            <a:off x="3054096" y="647395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8F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LEVEL 2  </a:t>
            </a:r>
            <a:pPr indent="0" marL="0">
              <a:buNone/>
            </a:pPr>
            <a:r>
              <a:rPr lang="en-US" sz="900" dirty="0">
                <a:solidFill>
                  <a:srgbClr val="0B8F7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Chuyển trạng thái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541264" y="6400800"/>
            <a:ext cx="2377440" cy="45720"/>
          </a:xfrm>
          <a:prstGeom prst="rect">
            <a:avLst/>
          </a:prstGeom>
          <a:solidFill>
            <a:srgbClr val="E3E6EC"/>
          </a:solidFill>
          <a:ln/>
        </p:spPr>
      </p:sp>
      <p:sp>
        <p:nvSpPr>
          <p:cNvPr id="38" name="Text 36"/>
          <p:cNvSpPr/>
          <p:nvPr/>
        </p:nvSpPr>
        <p:spPr>
          <a:xfrm>
            <a:off x="5541264" y="647395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4A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LEVEL 3  </a:t>
            </a:r>
            <a:pPr indent="0" marL="0">
              <a:buNone/>
            </a:pPr>
            <a:r>
              <a:rPr lang="en-US" sz="9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Chuyển động vật lý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028432" y="6400800"/>
            <a:ext cx="2377440" cy="45720"/>
          </a:xfrm>
          <a:prstGeom prst="rect">
            <a:avLst/>
          </a:prstGeom>
          <a:solidFill>
            <a:srgbClr val="E3E6EC"/>
          </a:solidFill>
          <a:ln/>
        </p:spPr>
      </p:sp>
      <p:sp>
        <p:nvSpPr>
          <p:cNvPr id="40" name="Text 38"/>
          <p:cNvSpPr/>
          <p:nvPr/>
        </p:nvSpPr>
        <p:spPr>
          <a:xfrm>
            <a:off x="8028432" y="647395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4A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LEVEL 4  </a:t>
            </a:r>
            <a:pPr indent="0" marL="0">
              <a:buNone/>
            </a:pPr>
            <a:r>
              <a:rPr lang="en-US" sz="9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Biến dạng tại điểm chạm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99931"/>
            <a:ext cx="6537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0B8F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LEVEL 2 · CÁCH LÀM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2211995"/>
            <a:ext cx="6537960" cy="574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12151C"/>
                </a:solidFill>
                <a:latin typeface="Bricolage Grotesque 96pt" pitchFamily="34" charset="0"/>
                <a:ea typeface="Bricolage Grotesque 96pt" pitchFamily="34" charset="-122"/>
                <a:cs typeface="Bricolage Grotesque 96pt" pitchFamily="34" charset="-120"/>
              </a:rPr>
              <a:t>Ba kiểu morph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3006181"/>
            <a:ext cx="54864" cy="451104"/>
          </a:xfrm>
          <a:prstGeom prst="rect">
            <a:avLst/>
          </a:prstGeom>
          <a:solidFill>
            <a:srgbClr val="0B8F7C"/>
          </a:solidFill>
          <a:ln/>
        </p:spPr>
      </p:sp>
      <p:sp>
        <p:nvSpPr>
          <p:cNvPr id="5" name="Text 3"/>
          <p:cNvSpPr/>
          <p:nvPr/>
        </p:nvSpPr>
        <p:spPr>
          <a:xfrm>
            <a:off x="786384" y="3006181"/>
            <a:ext cx="6318504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A303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Thêm/bớt cần 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215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container + ID + animation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A303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66928" y="3676741"/>
            <a:ext cx="6537960" cy="384048"/>
          </a:xfrm>
          <a:prstGeom prst="roundRect">
            <a:avLst>
              <a:gd name="adj" fmla="val 19048"/>
            </a:avLst>
          </a:prstGeom>
          <a:solidFill>
            <a:srgbClr val="E6F6EA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" y="3676741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8A3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GOOD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35608" y="3676741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215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Hòa nhau: chung </a:t>
            </a:r>
            <a:pPr indent="0" marL="0">
              <a:buNone/>
            </a:pPr>
            <a:r>
              <a:rPr lang="en-US" sz="1118" dirty="0">
                <a:solidFill>
                  <a:srgbClr val="12151C"/>
                </a:solidFill>
                <a:highlight>
                  <a:srgbClr val="E6F6EA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GlassEffectContainer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928" y="4133941"/>
            <a:ext cx="6537960" cy="384048"/>
          </a:xfrm>
          <a:prstGeom prst="roundRect">
            <a:avLst>
              <a:gd name="adj" fmla="val 19048"/>
            </a:avLst>
          </a:prstGeom>
          <a:solidFill>
            <a:srgbClr val="E6F6EA"/>
          </a:solidFill>
          <a:ln/>
        </p:spPr>
      </p:sp>
      <p:sp>
        <p:nvSpPr>
          <p:cNvPr id="10" name="Text 8"/>
          <p:cNvSpPr/>
          <p:nvPr/>
        </p:nvSpPr>
        <p:spPr>
          <a:xfrm>
            <a:off x="694944" y="4133941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8A3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GOOD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435608" y="4133941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215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Thêm / bớt: </a:t>
            </a:r>
            <a:pPr indent="0" marL="0">
              <a:buNone/>
            </a:pPr>
            <a:r>
              <a:rPr lang="en-US" sz="1118" dirty="0">
                <a:solidFill>
                  <a:srgbClr val="12151C"/>
                </a:solidFill>
                <a:highlight>
                  <a:srgbClr val="E6F6EA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glassEffectID</a:t>
            </a:r>
            <a:pPr indent="0" marL="0">
              <a:buNone/>
            </a:pPr>
            <a:r>
              <a:rPr lang="en-US" sz="1300" dirty="0">
                <a:solidFill>
                  <a:srgbClr val="1215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+ </a:t>
            </a:r>
            <a:pPr indent="0" marL="0">
              <a:buNone/>
            </a:pPr>
            <a:r>
              <a:rPr lang="en-US" sz="1118" dirty="0">
                <a:solidFill>
                  <a:srgbClr val="12151C"/>
                </a:solidFill>
                <a:highlight>
                  <a:srgbClr val="E6F6EA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withAnimation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6928" y="4591141"/>
            <a:ext cx="6537960" cy="384048"/>
          </a:xfrm>
          <a:prstGeom prst="roundRect">
            <a:avLst>
              <a:gd name="adj" fmla="val 19048"/>
            </a:avLst>
          </a:prstGeom>
          <a:solidFill>
            <a:srgbClr val="E6F6EA"/>
          </a:solidFill>
          <a:ln/>
        </p:spPr>
      </p:sp>
      <p:sp>
        <p:nvSpPr>
          <p:cNvPr id="13" name="Text 11"/>
          <p:cNvSpPr/>
          <p:nvPr/>
        </p:nvSpPr>
        <p:spPr>
          <a:xfrm>
            <a:off x="694944" y="4591141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8A3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GOOD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435608" y="4591141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215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Đổi shape: một view, đổi </a:t>
            </a:r>
            <a:pPr indent="0" marL="0">
              <a:buNone/>
            </a:pPr>
            <a:r>
              <a:rPr lang="en-US" sz="1118" dirty="0">
                <a:solidFill>
                  <a:srgbClr val="12151C"/>
                </a:solidFill>
                <a:highlight>
                  <a:srgbClr val="E6F6EA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frame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66928" y="5048341"/>
            <a:ext cx="6537960" cy="384048"/>
          </a:xfrm>
          <a:prstGeom prst="roundRect">
            <a:avLst>
              <a:gd name="adj" fmla="val 19048"/>
            </a:avLst>
          </a:prstGeom>
          <a:solidFill>
            <a:srgbClr val="FCE8E7"/>
          </a:solidFill>
          <a:ln/>
        </p:spPr>
      </p:sp>
      <p:sp>
        <p:nvSpPr>
          <p:cNvPr id="16" name="Text 14"/>
          <p:cNvSpPr/>
          <p:nvPr/>
        </p:nvSpPr>
        <p:spPr>
          <a:xfrm>
            <a:off x="694944" y="5048341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2362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35608" y="5048341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8" dirty="0">
                <a:solidFill>
                  <a:srgbClr val="12151C"/>
                </a:solidFill>
                <a:highlight>
                  <a:srgbClr val="FCE8E7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if/else</a:t>
            </a:r>
            <a:pPr indent="0" marL="0">
              <a:buNone/>
            </a:pPr>
            <a:r>
              <a:rPr lang="en-US" sz="1300" dirty="0">
                <a:solidFill>
                  <a:srgbClr val="1215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hai view: chỉ fade</a:t>
            </a:r>
            <a:endParaRPr lang="en-US" sz="1118" dirty="0"/>
          </a:p>
        </p:txBody>
      </p:sp>
      <p:sp>
        <p:nvSpPr>
          <p:cNvPr id="18" name="Shape 16"/>
          <p:cNvSpPr/>
          <p:nvPr/>
        </p:nvSpPr>
        <p:spPr>
          <a:xfrm>
            <a:off x="7635240" y="1143000"/>
            <a:ext cx="3986784" cy="148132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sx="100000" sy="100000" kx="0" ky="0" algn="bl" rotWithShape="0" blurRad="127000" dist="38100" dir="5400000">
              <a:srgbClr val="1C2433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635240" y="1344168"/>
            <a:ext cx="64008" cy="1078992"/>
          </a:xfrm>
          <a:prstGeom prst="rect">
            <a:avLst/>
          </a:prstGeom>
          <a:solidFill>
            <a:srgbClr val="0B8F7C"/>
          </a:solidFill>
          <a:ln/>
        </p:spPr>
      </p:sp>
      <p:sp>
        <p:nvSpPr>
          <p:cNvPr id="20" name="Text 18"/>
          <p:cNvSpPr/>
          <p:nvPr/>
        </p:nvSpPr>
        <p:spPr>
          <a:xfrm>
            <a:off x="7927848" y="1362456"/>
            <a:ext cx="3483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B8F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spacing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927848" y="1783080"/>
            <a:ext cx="34838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A303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Khoảng cách bắt đầu hòa.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35240" y="2825496"/>
            <a:ext cx="3986784" cy="148132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sx="100000" sy="100000" kx="0" ky="0" algn="bl" rotWithShape="0" blurRad="127000" dist="38100" dir="5400000">
              <a:srgbClr val="1C2433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635240" y="3026664"/>
            <a:ext cx="64008" cy="1078992"/>
          </a:xfrm>
          <a:prstGeom prst="rect">
            <a:avLst/>
          </a:prstGeom>
          <a:solidFill>
            <a:srgbClr val="0B8F7C"/>
          </a:solidFill>
          <a:ln/>
        </p:spPr>
      </p:sp>
      <p:sp>
        <p:nvSpPr>
          <p:cNvPr id="24" name="Text 22"/>
          <p:cNvSpPr/>
          <p:nvPr/>
        </p:nvSpPr>
        <p:spPr>
          <a:xfrm>
            <a:off x="7927848" y="3044952"/>
            <a:ext cx="3483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B8F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glassEffectID(_:in:)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927848" y="3465576"/>
            <a:ext cx="34838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A303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 cần khi thêm/bớt view.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635240" y="4507992"/>
            <a:ext cx="3986784" cy="148132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sx="100000" sy="100000" kx="0" ky="0" algn="bl" rotWithShape="0" blurRad="127000" dist="38100" dir="5400000">
              <a:srgbClr val="1C2433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635240" y="4709160"/>
            <a:ext cx="64008" cy="1078992"/>
          </a:xfrm>
          <a:prstGeom prst="rect">
            <a:avLst/>
          </a:prstGeom>
          <a:solidFill>
            <a:srgbClr val="0B8F7C"/>
          </a:solidFill>
          <a:ln/>
        </p:spPr>
      </p:sp>
      <p:sp>
        <p:nvSpPr>
          <p:cNvPr id="28" name="Text 26"/>
          <p:cNvSpPr/>
          <p:nvPr/>
        </p:nvSpPr>
        <p:spPr>
          <a:xfrm>
            <a:off x="7927848" y="4727448"/>
            <a:ext cx="3483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B8F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frame + cornerRadius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927848" y="5148072"/>
            <a:ext cx="34838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A303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SwiftUI tự nội suy.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66928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5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Liquid Glass · Level by Level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023360" y="292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 thiệu</a:t>
            </a:r>
            <a:pPr algn="r" indent="0" marL="0">
              <a:buNone/>
            </a:pPr>
            <a:r>
              <a:rPr lang="en-US" sz="10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Level 1</a:t>
            </a:r>
            <a:pPr algn="r" indent="0" marL="0">
              <a:buNone/>
            </a:pPr>
            <a:r>
              <a:rPr lang="en-US" sz="1000" dirty="0">
                <a:solidFill>
                  <a:srgbClr val="0B8F7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  Level 2</a:t>
            </a:r>
            <a:pPr algn="r" indent="0" marL="0">
              <a:buNone/>
            </a:pPr>
            <a:r>
              <a:rPr lang="en-US" sz="10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Level 3</a:t>
            </a:r>
            <a:pPr algn="r" indent="0" marL="0">
              <a:buNone/>
            </a:pPr>
            <a:r>
              <a:rPr lang="en-US" sz="10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Level 4</a:t>
            </a:r>
            <a:pPr algn="r" indent="0" marL="0">
              <a:buNone/>
            </a:pPr>
            <a:r>
              <a:rPr lang="en-US" sz="10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Cấu hình</a:t>
            </a:r>
            <a:pPr algn="r" indent="0" marL="0">
              <a:buNone/>
            </a:pPr>
            <a:r>
              <a:rPr lang="en-US" sz="10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Ví dụ</a:t>
            </a:r>
            <a:pPr algn="r" indent="0" marL="0">
              <a:buNone/>
            </a:pPr>
            <a:r>
              <a:rPr lang="en-US" sz="10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Nguyên tắc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0607040" y="246888"/>
            <a:ext cx="1014984" cy="329184"/>
          </a:xfrm>
          <a:prstGeom prst="roundRect">
            <a:avLst>
              <a:gd name="adj" fmla="val 22222"/>
            </a:avLst>
          </a:prstGeom>
          <a:solidFill>
            <a:srgbClr val="0B8F7C"/>
          </a:solidFill>
          <a:ln/>
        </p:spPr>
      </p:sp>
      <p:sp>
        <p:nvSpPr>
          <p:cNvPr id="33" name="Text 31"/>
          <p:cNvSpPr/>
          <p:nvPr/>
        </p:nvSpPr>
        <p:spPr>
          <a:xfrm>
            <a:off x="10607040" y="246888"/>
            <a:ext cx="1014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DEMO 2a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66928" y="6400800"/>
            <a:ext cx="2377440" cy="45720"/>
          </a:xfrm>
          <a:prstGeom prst="rect">
            <a:avLst/>
          </a:prstGeom>
          <a:solidFill>
            <a:srgbClr val="C9CED8"/>
          </a:solidFill>
          <a:ln/>
        </p:spPr>
      </p:sp>
      <p:sp>
        <p:nvSpPr>
          <p:cNvPr id="35" name="Text 33"/>
          <p:cNvSpPr/>
          <p:nvPr/>
        </p:nvSpPr>
        <p:spPr>
          <a:xfrm>
            <a:off x="566928" y="647395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4A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LEVEL 1  </a:t>
            </a:r>
            <a:pPr indent="0" marL="0">
              <a:buNone/>
            </a:pPr>
            <a:r>
              <a:rPr lang="en-US" sz="9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Phản hồi chạm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054096" y="6400800"/>
            <a:ext cx="2377440" cy="45720"/>
          </a:xfrm>
          <a:prstGeom prst="rect">
            <a:avLst/>
          </a:prstGeom>
          <a:solidFill>
            <a:srgbClr val="0B8F7C"/>
          </a:solidFill>
          <a:ln/>
        </p:spPr>
      </p:sp>
      <p:sp>
        <p:nvSpPr>
          <p:cNvPr id="37" name="Text 35"/>
          <p:cNvSpPr/>
          <p:nvPr/>
        </p:nvSpPr>
        <p:spPr>
          <a:xfrm>
            <a:off x="3054096" y="647395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8F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LEVEL 2  </a:t>
            </a:r>
            <a:pPr indent="0" marL="0">
              <a:buNone/>
            </a:pPr>
            <a:r>
              <a:rPr lang="en-US" sz="900" dirty="0">
                <a:solidFill>
                  <a:srgbClr val="0B8F7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Chuyển trạng thái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541264" y="6400800"/>
            <a:ext cx="2377440" cy="45720"/>
          </a:xfrm>
          <a:prstGeom prst="rect">
            <a:avLst/>
          </a:prstGeom>
          <a:solidFill>
            <a:srgbClr val="E3E6EC"/>
          </a:solidFill>
          <a:ln/>
        </p:spPr>
      </p:sp>
      <p:sp>
        <p:nvSpPr>
          <p:cNvPr id="39" name="Text 37"/>
          <p:cNvSpPr/>
          <p:nvPr/>
        </p:nvSpPr>
        <p:spPr>
          <a:xfrm>
            <a:off x="5541264" y="647395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4A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LEVEL 3  </a:t>
            </a:r>
            <a:pPr indent="0" marL="0">
              <a:buNone/>
            </a:pPr>
            <a:r>
              <a:rPr lang="en-US" sz="9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Chuyển động vật lý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8028432" y="6400800"/>
            <a:ext cx="2377440" cy="45720"/>
          </a:xfrm>
          <a:prstGeom prst="rect">
            <a:avLst/>
          </a:prstGeom>
          <a:solidFill>
            <a:srgbClr val="E3E6EC"/>
          </a:solidFill>
          <a:ln/>
        </p:spPr>
      </p:sp>
      <p:sp>
        <p:nvSpPr>
          <p:cNvPr id="41" name="Text 39"/>
          <p:cNvSpPr/>
          <p:nvPr/>
        </p:nvSpPr>
        <p:spPr>
          <a:xfrm>
            <a:off x="8028432" y="647395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4A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LEVEL 4  </a:t>
            </a:r>
            <a:pPr indent="0" marL="0">
              <a:buNone/>
            </a:pPr>
            <a:r>
              <a:rPr lang="en-US" sz="9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Biến dạng tại điểm chạm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344077"/>
            <a:ext cx="6537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0B8F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LEVEL 2 · LỖI HAY GẶP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1856141"/>
            <a:ext cx="6537960" cy="574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12151C"/>
                </a:solidFill>
                <a:latin typeface="Bricolage Grotesque 96pt" pitchFamily="34" charset="0"/>
                <a:ea typeface="Bricolage Grotesque 96pt" pitchFamily="34" charset="-122"/>
                <a:cs typeface="Bricolage Grotesque 96pt" pitchFamily="34" charset="-120"/>
              </a:rPr>
              <a:t>Hai lỗi hay gặp nhất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2650327"/>
            <a:ext cx="54864" cy="451104"/>
          </a:xfrm>
          <a:prstGeom prst="rect">
            <a:avLst/>
          </a:prstGeom>
          <a:solidFill>
            <a:srgbClr val="0B8F7C"/>
          </a:solidFill>
          <a:ln/>
        </p:spPr>
      </p:sp>
      <p:sp>
        <p:nvSpPr>
          <p:cNvPr id="5" name="Text 3"/>
          <p:cNvSpPr/>
          <p:nvPr/>
        </p:nvSpPr>
        <p:spPr>
          <a:xfrm>
            <a:off x="786384" y="2650327"/>
            <a:ext cx="6318504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A303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Thiếu một điều kiện là 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215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view nhảy thẳng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A303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66928" y="3320887"/>
            <a:ext cx="6537960" cy="384048"/>
          </a:xfrm>
          <a:prstGeom prst="roundRect">
            <a:avLst>
              <a:gd name="adj" fmla="val 19048"/>
            </a:avLst>
          </a:prstGeom>
          <a:solidFill>
            <a:srgbClr val="E6F6EA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" y="3320887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8A3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GOOD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35608" y="3320887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215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một container cho cả nhóm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928" y="3778087"/>
            <a:ext cx="6537960" cy="384048"/>
          </a:xfrm>
          <a:prstGeom prst="roundRect">
            <a:avLst>
              <a:gd name="adj" fmla="val 19048"/>
            </a:avLst>
          </a:prstGeom>
          <a:solidFill>
            <a:srgbClr val="FCE8E7"/>
          </a:solidFill>
          <a:ln/>
        </p:spPr>
      </p:sp>
      <p:sp>
        <p:nvSpPr>
          <p:cNvPr id="10" name="Text 8"/>
          <p:cNvSpPr/>
          <p:nvPr/>
        </p:nvSpPr>
        <p:spPr>
          <a:xfrm>
            <a:off x="694944" y="3778087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2362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435608" y="3778087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215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mỗi nút tự bọc container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6928" y="4235287"/>
            <a:ext cx="6537960" cy="384048"/>
          </a:xfrm>
          <a:prstGeom prst="roundRect">
            <a:avLst>
              <a:gd name="adj" fmla="val 19048"/>
            </a:avLst>
          </a:prstGeom>
          <a:solidFill>
            <a:srgbClr val="E6F6EA"/>
          </a:solidFill>
          <a:ln/>
        </p:spPr>
      </p:sp>
      <p:sp>
        <p:nvSpPr>
          <p:cNvPr id="13" name="Text 11"/>
          <p:cNvSpPr/>
          <p:nvPr/>
        </p:nvSpPr>
        <p:spPr>
          <a:xfrm>
            <a:off x="694944" y="4235287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8A3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GOOD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435608" y="4235287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8" dirty="0">
                <a:solidFill>
                  <a:srgbClr val="12151C"/>
                </a:solidFill>
                <a:highlight>
                  <a:srgbClr val="E6F6EA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var animatableData { progress }</a:t>
            </a:r>
            <a:endParaRPr lang="en-US" sz="1118" dirty="0"/>
          </a:p>
        </p:txBody>
      </p:sp>
      <p:sp>
        <p:nvSpPr>
          <p:cNvPr id="15" name="Shape 13"/>
          <p:cNvSpPr/>
          <p:nvPr/>
        </p:nvSpPr>
        <p:spPr>
          <a:xfrm>
            <a:off x="566928" y="4692487"/>
            <a:ext cx="6537960" cy="384048"/>
          </a:xfrm>
          <a:prstGeom prst="roundRect">
            <a:avLst>
              <a:gd name="adj" fmla="val 19048"/>
            </a:avLst>
          </a:prstGeom>
          <a:solidFill>
            <a:srgbClr val="FCE8E7"/>
          </a:solidFill>
          <a:ln/>
        </p:spPr>
      </p:sp>
      <p:sp>
        <p:nvSpPr>
          <p:cNvPr id="16" name="Text 14"/>
          <p:cNvSpPr/>
          <p:nvPr/>
        </p:nvSpPr>
        <p:spPr>
          <a:xfrm>
            <a:off x="694944" y="4692487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2362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35608" y="4692487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215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Shape thiếu </a:t>
            </a:r>
            <a:pPr indent="0" marL="0">
              <a:buNone/>
            </a:pPr>
            <a:r>
              <a:rPr lang="en-US" sz="1118" dirty="0">
                <a:solidFill>
                  <a:srgbClr val="12151C"/>
                </a:solidFill>
                <a:highlight>
                  <a:srgbClr val="FCE8E7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animatableData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66928" y="5295991"/>
            <a:ext cx="6537960" cy="492252"/>
          </a:xfrm>
          <a:prstGeom prst="roundRect">
            <a:avLst>
              <a:gd name="adj" fmla="val 18576"/>
            </a:avLst>
          </a:prstGeom>
          <a:solidFill>
            <a:srgbClr val="FFF3E2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" y="5433151"/>
            <a:ext cx="566928" cy="256032"/>
          </a:xfrm>
          <a:prstGeom prst="roundRect">
            <a:avLst>
              <a:gd name="adj" fmla="val 21429"/>
            </a:avLst>
          </a:prstGeom>
          <a:solidFill>
            <a:srgbClr val="A64B00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5433151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BẪY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463040" y="5405719"/>
            <a:ext cx="5486400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18" dirty="0">
                <a:solidFill>
                  <a:srgbClr val="A64B00"/>
                </a:solidFill>
                <a:highlight>
                  <a:srgbClr val="FBE6CC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glassEffect</a:t>
            </a:r>
            <a:pPr indent="0" marL="0">
              <a:buNone/>
            </a:pPr>
            <a:r>
              <a:rPr lang="en-US" sz="1300" dirty="0">
                <a:solidFill>
                  <a:srgbClr val="A64B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 </a:t>
            </a:r>
            <a:pPr indent="0" marL="0">
              <a:buNone/>
            </a:pPr>
            <a:r>
              <a:rPr lang="en-US" sz="1118" dirty="0">
                <a:solidFill>
                  <a:srgbClr val="A64B00"/>
                </a:solidFill>
                <a:highlight>
                  <a:srgbClr val="FBE6CC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.frame</a:t>
            </a:r>
            <a:pPr indent="0" marL="0">
              <a:buNone/>
            </a:pPr>
            <a:r>
              <a:rPr lang="en-US" sz="1300" dirty="0">
                <a:solidFill>
                  <a:srgbClr val="A64B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 sai kích thước, không phải lỗi morph.</a:t>
            </a:r>
            <a:endParaRPr lang="en-US" sz="1118" dirty="0"/>
          </a:p>
        </p:txBody>
      </p:sp>
      <p:sp>
        <p:nvSpPr>
          <p:cNvPr id="22" name="Shape 20"/>
          <p:cNvSpPr/>
          <p:nvPr/>
        </p:nvSpPr>
        <p:spPr>
          <a:xfrm>
            <a:off x="7635240" y="1143000"/>
            <a:ext cx="3986784" cy="148132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sx="100000" sy="100000" kx="0" ky="0" algn="bl" rotWithShape="0" blurRad="127000" dist="38100" dir="5400000">
              <a:srgbClr val="1C2433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635240" y="1344168"/>
            <a:ext cx="64008" cy="1078992"/>
          </a:xfrm>
          <a:prstGeom prst="rect">
            <a:avLst/>
          </a:prstGeom>
          <a:solidFill>
            <a:srgbClr val="0B8F7C"/>
          </a:solidFill>
          <a:ln/>
        </p:spPr>
      </p:sp>
      <p:sp>
        <p:nvSpPr>
          <p:cNvPr id="24" name="Text 22"/>
          <p:cNvSpPr/>
          <p:nvPr/>
        </p:nvSpPr>
        <p:spPr>
          <a:xfrm>
            <a:off x="7927848" y="1362456"/>
            <a:ext cx="3483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B8F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Cùng container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927848" y="1783080"/>
            <a:ext cx="34838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A303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Morph trong một container.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635240" y="2825496"/>
            <a:ext cx="3986784" cy="148132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sx="100000" sy="100000" kx="0" ky="0" algn="bl" rotWithShape="0" blurRad="127000" dist="38100" dir="5400000">
              <a:srgbClr val="1C2433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635240" y="3026664"/>
            <a:ext cx="64008" cy="1078992"/>
          </a:xfrm>
          <a:prstGeom prst="rect">
            <a:avLst/>
          </a:prstGeom>
          <a:solidFill>
            <a:srgbClr val="0B8F7C"/>
          </a:solidFill>
          <a:ln/>
        </p:spPr>
      </p:sp>
      <p:sp>
        <p:nvSpPr>
          <p:cNvPr id="28" name="Text 26"/>
          <p:cNvSpPr/>
          <p:nvPr/>
        </p:nvSpPr>
        <p:spPr>
          <a:xfrm>
            <a:off x="7927848" y="3044952"/>
            <a:ext cx="3483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B8F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@Animatable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927848" y="3465576"/>
            <a:ext cx="34838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A303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Khai báo giá trị cần nội suy.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635240" y="4507992"/>
            <a:ext cx="3986784" cy="148132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sx="100000" sy="100000" kx="0" ky="0" algn="bl" rotWithShape="0" blurRad="127000" dist="38100" dir="5400000">
              <a:srgbClr val="1C2433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635240" y="4709160"/>
            <a:ext cx="64008" cy="1078992"/>
          </a:xfrm>
          <a:prstGeom prst="rect">
            <a:avLst/>
          </a:prstGeom>
          <a:solidFill>
            <a:srgbClr val="0B8F7C"/>
          </a:solidFill>
          <a:ln/>
        </p:spPr>
      </p:sp>
      <p:sp>
        <p:nvSpPr>
          <p:cNvPr id="32" name="Text 30"/>
          <p:cNvSpPr/>
          <p:nvPr/>
        </p:nvSpPr>
        <p:spPr>
          <a:xfrm>
            <a:off x="7927848" y="4727448"/>
            <a:ext cx="3483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B8F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ID ổn định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927848" y="5148072"/>
            <a:ext cx="34838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A303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 đổi theo state.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66928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5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Liquid Glass · Level by Level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023360" y="292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 thiệu</a:t>
            </a:r>
            <a:pPr algn="r" indent="0" marL="0">
              <a:buNone/>
            </a:pPr>
            <a:r>
              <a:rPr lang="en-US" sz="10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Level 1</a:t>
            </a:r>
            <a:pPr algn="r" indent="0" marL="0">
              <a:buNone/>
            </a:pPr>
            <a:r>
              <a:rPr lang="en-US" sz="1000" dirty="0">
                <a:solidFill>
                  <a:srgbClr val="0B8F7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  Level 2</a:t>
            </a:r>
            <a:pPr algn="r" indent="0" marL="0">
              <a:buNone/>
            </a:pPr>
            <a:r>
              <a:rPr lang="en-US" sz="10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Level 3</a:t>
            </a:r>
            <a:pPr algn="r" indent="0" marL="0">
              <a:buNone/>
            </a:pPr>
            <a:r>
              <a:rPr lang="en-US" sz="10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Level 4</a:t>
            </a:r>
            <a:pPr algn="r" indent="0" marL="0">
              <a:buNone/>
            </a:pPr>
            <a:r>
              <a:rPr lang="en-US" sz="10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Cấu hình</a:t>
            </a:r>
            <a:pPr algn="r" indent="0" marL="0">
              <a:buNone/>
            </a:pPr>
            <a:r>
              <a:rPr lang="en-US" sz="10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Ví dụ</a:t>
            </a:r>
            <a:pPr algn="r" indent="0" marL="0">
              <a:buNone/>
            </a:pPr>
            <a:r>
              <a:rPr lang="en-US" sz="10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Nguyên tắc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0607040" y="246888"/>
            <a:ext cx="1014984" cy="329184"/>
          </a:xfrm>
          <a:prstGeom prst="roundRect">
            <a:avLst>
              <a:gd name="adj" fmla="val 22222"/>
            </a:avLst>
          </a:prstGeom>
          <a:solidFill>
            <a:srgbClr val="0B8F7C"/>
          </a:solidFill>
          <a:ln/>
        </p:spPr>
      </p:sp>
      <p:sp>
        <p:nvSpPr>
          <p:cNvPr id="37" name="Text 35"/>
          <p:cNvSpPr/>
          <p:nvPr/>
        </p:nvSpPr>
        <p:spPr>
          <a:xfrm>
            <a:off x="10607040" y="246888"/>
            <a:ext cx="1014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DEMO 2b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66928" y="6400800"/>
            <a:ext cx="2377440" cy="45720"/>
          </a:xfrm>
          <a:prstGeom prst="rect">
            <a:avLst/>
          </a:prstGeom>
          <a:solidFill>
            <a:srgbClr val="C9CED8"/>
          </a:solidFill>
          <a:ln/>
        </p:spPr>
      </p:sp>
      <p:sp>
        <p:nvSpPr>
          <p:cNvPr id="39" name="Text 37"/>
          <p:cNvSpPr/>
          <p:nvPr/>
        </p:nvSpPr>
        <p:spPr>
          <a:xfrm>
            <a:off x="566928" y="647395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4A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LEVEL 1  </a:t>
            </a:r>
            <a:pPr indent="0" marL="0">
              <a:buNone/>
            </a:pPr>
            <a:r>
              <a:rPr lang="en-US" sz="9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Phản hồi chạm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054096" y="6400800"/>
            <a:ext cx="2377440" cy="45720"/>
          </a:xfrm>
          <a:prstGeom prst="rect">
            <a:avLst/>
          </a:prstGeom>
          <a:solidFill>
            <a:srgbClr val="0B8F7C"/>
          </a:solidFill>
          <a:ln/>
        </p:spPr>
      </p:sp>
      <p:sp>
        <p:nvSpPr>
          <p:cNvPr id="41" name="Text 39"/>
          <p:cNvSpPr/>
          <p:nvPr/>
        </p:nvSpPr>
        <p:spPr>
          <a:xfrm>
            <a:off x="3054096" y="647395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8F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LEVEL 2  </a:t>
            </a:r>
            <a:pPr indent="0" marL="0">
              <a:buNone/>
            </a:pPr>
            <a:r>
              <a:rPr lang="en-US" sz="900" dirty="0">
                <a:solidFill>
                  <a:srgbClr val="0B8F7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Chuyển trạng thái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541264" y="6400800"/>
            <a:ext cx="2377440" cy="45720"/>
          </a:xfrm>
          <a:prstGeom prst="rect">
            <a:avLst/>
          </a:prstGeom>
          <a:solidFill>
            <a:srgbClr val="E3E6EC"/>
          </a:solidFill>
          <a:ln/>
        </p:spPr>
      </p:sp>
      <p:sp>
        <p:nvSpPr>
          <p:cNvPr id="43" name="Text 41"/>
          <p:cNvSpPr/>
          <p:nvPr/>
        </p:nvSpPr>
        <p:spPr>
          <a:xfrm>
            <a:off x="5541264" y="647395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4A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LEVEL 3  </a:t>
            </a:r>
            <a:pPr indent="0" marL="0">
              <a:buNone/>
            </a:pPr>
            <a:r>
              <a:rPr lang="en-US" sz="9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Chuyển động vật lý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8028432" y="6400800"/>
            <a:ext cx="2377440" cy="45720"/>
          </a:xfrm>
          <a:prstGeom prst="rect">
            <a:avLst/>
          </a:prstGeom>
          <a:solidFill>
            <a:srgbClr val="E3E6EC"/>
          </a:solidFill>
          <a:ln/>
        </p:spPr>
      </p:sp>
      <p:sp>
        <p:nvSpPr>
          <p:cNvPr id="45" name="Text 43"/>
          <p:cNvSpPr/>
          <p:nvPr/>
        </p:nvSpPr>
        <p:spPr>
          <a:xfrm>
            <a:off x="8028432" y="647395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4A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LEVEL 4  </a:t>
            </a:r>
            <a:pPr indent="0" marL="0">
              <a:buNone/>
            </a:pPr>
            <a:r>
              <a:rPr lang="en-US" sz="9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Biến dạng tại điểm chạm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640A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1234440"/>
            <a:ext cx="1143000" cy="1143000"/>
          </a:xfrm>
          <a:prstGeom prst="ellipse">
            <a:avLst/>
          </a:prstGeom>
          <a:solidFill>
            <a:srgbClr val="D9640A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23444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ricolage Grotesque 96pt" pitchFamily="34" charset="0"/>
                <a:ea typeface="Bricolage Grotesque 96pt" pitchFamily="34" charset="-122"/>
                <a:cs typeface="Bricolage Grotesque 96pt" pitchFamily="34" charset="-120"/>
              </a:rPr>
              <a:t>3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938528" y="129844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D964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LEVEL 3 / 4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938528" y="1645920"/>
            <a:ext cx="5440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12151C"/>
                </a:solidFill>
                <a:latin typeface="Bricolage Grotesque 96pt" pitchFamily="34" charset="0"/>
                <a:ea typeface="Bricolage Grotesque 96pt" pitchFamily="34" charset="-122"/>
                <a:cs typeface="Bricolage Grotesque 96pt" pitchFamily="34" charset="-120"/>
              </a:rPr>
              <a:t>Chuyển động vật lý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54864" cy="868680"/>
          </a:xfrm>
          <a:prstGeom prst="rect">
            <a:avLst/>
          </a:prstGeom>
          <a:solidFill>
            <a:srgbClr val="D9640A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274320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A303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Chuyển động </a:t>
            </a:r>
            <a:pPr indent="0" marL="0">
              <a:buNone/>
            </a:pPr>
            <a:r>
              <a:rPr lang="en-US" sz="1700" dirty="0">
                <a:solidFill>
                  <a:srgbClr val="1215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theo tay</a:t>
            </a:r>
            <a:pPr indent="0" marL="0">
              <a:buNone/>
            </a:pPr>
            <a:r>
              <a:rPr lang="en-US" sz="1700" dirty="0">
                <a:solidFill>
                  <a:srgbClr val="2A303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, ngắt vẫn mượt.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66928" y="3886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5D65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NỘI DUNG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66928" y="4288536"/>
            <a:ext cx="274320" cy="274320"/>
          </a:xfrm>
          <a:prstGeom prst="ellipse">
            <a:avLst/>
          </a:prstGeom>
          <a:solidFill>
            <a:srgbClr val="D9640A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42885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87552" y="4251960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303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Spring khi bị ngắt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66928" y="4709160"/>
            <a:ext cx="274320" cy="274320"/>
          </a:xfrm>
          <a:prstGeom prst="ellipse">
            <a:avLst/>
          </a:prstGeom>
          <a:solidFill>
            <a:srgbClr val="D9640A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4709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87552" y="4672584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303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Decay khi thả tay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635240" y="1143000"/>
            <a:ext cx="3986784" cy="148132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sx="100000" sy="100000" kx="0" ky="0" algn="bl" rotWithShape="0" blurRad="127000" dist="38100" dir="5400000">
              <a:srgbClr val="1C2433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635240" y="1344168"/>
            <a:ext cx="64008" cy="1078992"/>
          </a:xfrm>
          <a:prstGeom prst="rect">
            <a:avLst/>
          </a:prstGeom>
          <a:solidFill>
            <a:srgbClr val="D9640A"/>
          </a:solidFill>
          <a:ln/>
        </p:spPr>
      </p:sp>
      <p:sp>
        <p:nvSpPr>
          <p:cNvPr id="18" name="Text 16"/>
          <p:cNvSpPr/>
          <p:nvPr/>
        </p:nvSpPr>
        <p:spPr>
          <a:xfrm>
            <a:off x="7927848" y="1362456"/>
            <a:ext cx="3483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964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spring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927848" y="1783080"/>
            <a:ext cx="34838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A303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 vận tốc khi bị ngắt.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635240" y="2825496"/>
            <a:ext cx="3986784" cy="148132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sx="100000" sy="100000" kx="0" ky="0" algn="bl" rotWithShape="0" blurRad="127000" dist="38100" dir="5400000">
              <a:srgbClr val="1C2433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635240" y="3026664"/>
            <a:ext cx="64008" cy="1078992"/>
          </a:xfrm>
          <a:prstGeom prst="rect">
            <a:avLst/>
          </a:prstGeom>
          <a:solidFill>
            <a:srgbClr val="D9640A"/>
          </a:solidFill>
          <a:ln/>
        </p:spPr>
      </p:sp>
      <p:sp>
        <p:nvSpPr>
          <p:cNvPr id="22" name="Text 20"/>
          <p:cNvSpPr/>
          <p:nvPr/>
        </p:nvSpPr>
        <p:spPr>
          <a:xfrm>
            <a:off x="7927848" y="3044952"/>
            <a:ext cx="3483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964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CustomAnimation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927848" y="3465576"/>
            <a:ext cx="34838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A303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Tự viết decay.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635240" y="4507992"/>
            <a:ext cx="3986784" cy="148132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sx="100000" sy="100000" kx="0" ky="0" algn="bl" rotWithShape="0" blurRad="127000" dist="38100" dir="5400000">
              <a:srgbClr val="1C2433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635240" y="4709160"/>
            <a:ext cx="64008" cy="1078992"/>
          </a:xfrm>
          <a:prstGeom prst="rect">
            <a:avLst/>
          </a:prstGeom>
          <a:solidFill>
            <a:srgbClr val="D9640A"/>
          </a:solidFill>
          <a:ln/>
        </p:spPr>
      </p:sp>
      <p:sp>
        <p:nvSpPr>
          <p:cNvPr id="26" name="Text 24"/>
          <p:cNvSpPr/>
          <p:nvPr/>
        </p:nvSpPr>
        <p:spPr>
          <a:xfrm>
            <a:off x="7927848" y="4727448"/>
            <a:ext cx="3483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964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Value.velocity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927848" y="5148072"/>
            <a:ext cx="34838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A303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Vận tốc lúc thả tay.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66928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5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Liquid Glass · Level by Level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023360" y="292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 thiệu</a:t>
            </a:r>
            <a:pPr algn="r" indent="0" marL="0">
              <a:buNone/>
            </a:pPr>
            <a:r>
              <a:rPr lang="en-US" sz="10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Level 1</a:t>
            </a:r>
            <a:pPr algn="r" indent="0" marL="0">
              <a:buNone/>
            </a:pPr>
            <a:r>
              <a:rPr lang="en-US" sz="10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Level 2</a:t>
            </a:r>
            <a:pPr algn="r" indent="0" marL="0">
              <a:buNone/>
            </a:pPr>
            <a:r>
              <a:rPr lang="en-US" sz="1000" dirty="0">
                <a:solidFill>
                  <a:srgbClr val="D9640A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  Level 3</a:t>
            </a:r>
            <a:pPr algn="r" indent="0" marL="0">
              <a:buNone/>
            </a:pPr>
            <a:r>
              <a:rPr lang="en-US" sz="10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Level 4</a:t>
            </a:r>
            <a:pPr algn="r" indent="0" marL="0">
              <a:buNone/>
            </a:pPr>
            <a:r>
              <a:rPr lang="en-US" sz="10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Cấu hình</a:t>
            </a:r>
            <a:pPr algn="r" indent="0" marL="0">
              <a:buNone/>
            </a:pPr>
            <a:r>
              <a:rPr lang="en-US" sz="10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Ví dụ</a:t>
            </a:r>
            <a:pPr algn="r" indent="0" marL="0">
              <a:buNone/>
            </a:pPr>
            <a:r>
              <a:rPr lang="en-US" sz="10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Nguyên tắc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66928" y="6400800"/>
            <a:ext cx="2377440" cy="45720"/>
          </a:xfrm>
          <a:prstGeom prst="rect">
            <a:avLst/>
          </a:prstGeom>
          <a:solidFill>
            <a:srgbClr val="C9CED8"/>
          </a:solidFill>
          <a:ln/>
        </p:spPr>
      </p:sp>
      <p:sp>
        <p:nvSpPr>
          <p:cNvPr id="31" name="Text 29"/>
          <p:cNvSpPr/>
          <p:nvPr/>
        </p:nvSpPr>
        <p:spPr>
          <a:xfrm>
            <a:off x="566928" y="647395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4A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LEVEL 1  </a:t>
            </a:r>
            <a:pPr indent="0" marL="0">
              <a:buNone/>
            </a:pPr>
            <a:r>
              <a:rPr lang="en-US" sz="9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Phản hồi chạm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054096" y="6400800"/>
            <a:ext cx="2377440" cy="45720"/>
          </a:xfrm>
          <a:prstGeom prst="rect">
            <a:avLst/>
          </a:prstGeom>
          <a:solidFill>
            <a:srgbClr val="C9CED8"/>
          </a:solidFill>
          <a:ln/>
        </p:spPr>
      </p:sp>
      <p:sp>
        <p:nvSpPr>
          <p:cNvPr id="33" name="Text 31"/>
          <p:cNvSpPr/>
          <p:nvPr/>
        </p:nvSpPr>
        <p:spPr>
          <a:xfrm>
            <a:off x="3054096" y="647395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4A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LEVEL 2  </a:t>
            </a:r>
            <a:pPr indent="0" marL="0">
              <a:buNone/>
            </a:pPr>
            <a:r>
              <a:rPr lang="en-US" sz="9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Chuyển trạng thái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541264" y="6400800"/>
            <a:ext cx="2377440" cy="45720"/>
          </a:xfrm>
          <a:prstGeom prst="rect">
            <a:avLst/>
          </a:prstGeom>
          <a:solidFill>
            <a:srgbClr val="D9640A"/>
          </a:solidFill>
          <a:ln/>
        </p:spPr>
      </p:sp>
      <p:sp>
        <p:nvSpPr>
          <p:cNvPr id="35" name="Text 33"/>
          <p:cNvSpPr/>
          <p:nvPr/>
        </p:nvSpPr>
        <p:spPr>
          <a:xfrm>
            <a:off x="5541264" y="647395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64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LEVEL 3  </a:t>
            </a:r>
            <a:pPr indent="0" marL="0">
              <a:buNone/>
            </a:pPr>
            <a:r>
              <a:rPr lang="en-US" sz="900" dirty="0">
                <a:solidFill>
                  <a:srgbClr val="D9640A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Chuyển động vật lý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8028432" y="6400800"/>
            <a:ext cx="2377440" cy="45720"/>
          </a:xfrm>
          <a:prstGeom prst="rect">
            <a:avLst/>
          </a:prstGeom>
          <a:solidFill>
            <a:srgbClr val="E3E6EC"/>
          </a:solidFill>
          <a:ln/>
        </p:spPr>
      </p:sp>
      <p:sp>
        <p:nvSpPr>
          <p:cNvPr id="37" name="Text 35"/>
          <p:cNvSpPr/>
          <p:nvPr/>
        </p:nvSpPr>
        <p:spPr>
          <a:xfrm>
            <a:off x="8028432" y="647395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4A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LEVEL 4  </a:t>
            </a:r>
            <a:pPr indent="0" marL="0">
              <a:buNone/>
            </a:pPr>
            <a:r>
              <a:rPr lang="en-US" sz="9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Biến dạng tại điểm chạm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361603"/>
            <a:ext cx="6537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D964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LEVEL 3 · CÁCH LÀM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1873667"/>
            <a:ext cx="6537960" cy="574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12151C"/>
                </a:solidFill>
                <a:latin typeface="Bricolage Grotesque 96pt" pitchFamily="34" charset="0"/>
                <a:ea typeface="Bricolage Grotesque 96pt" pitchFamily="34" charset="-122"/>
                <a:cs typeface="Bricolage Grotesque 96pt" pitchFamily="34" charset="-120"/>
              </a:rPr>
              <a:t>Spring khi ngắt, decay khi thả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2667853"/>
            <a:ext cx="54864" cy="451104"/>
          </a:xfrm>
          <a:prstGeom prst="rect">
            <a:avLst/>
          </a:prstGeom>
          <a:solidFill>
            <a:srgbClr val="D9640A"/>
          </a:solidFill>
          <a:ln/>
        </p:spPr>
      </p:sp>
      <p:sp>
        <p:nvSpPr>
          <p:cNvPr id="5" name="Text 3"/>
          <p:cNvSpPr/>
          <p:nvPr/>
        </p:nvSpPr>
        <p:spPr>
          <a:xfrm>
            <a:off x="786384" y="2667853"/>
            <a:ext cx="6318504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215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Spring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A303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giữ vận tốc. 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215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Decay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A303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trượt theo tay.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66928" y="3338413"/>
            <a:ext cx="6537960" cy="384048"/>
          </a:xfrm>
          <a:prstGeom prst="roundRect">
            <a:avLst>
              <a:gd name="adj" fmla="val 19048"/>
            </a:avLst>
          </a:prstGeom>
          <a:solidFill>
            <a:srgbClr val="E6F6EA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" y="3338413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8A3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GOOD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35608" y="3338413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8" dirty="0">
                <a:solidFill>
                  <a:srgbClr val="12151C"/>
                </a:solidFill>
                <a:highlight>
                  <a:srgbClr val="E6F6EA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.spring(duration: 0.8, bounce: 0)</a:t>
            </a:r>
            <a:endParaRPr lang="en-US" sz="1118" dirty="0"/>
          </a:p>
        </p:txBody>
      </p:sp>
      <p:sp>
        <p:nvSpPr>
          <p:cNvPr id="9" name="Shape 7"/>
          <p:cNvSpPr/>
          <p:nvPr/>
        </p:nvSpPr>
        <p:spPr>
          <a:xfrm>
            <a:off x="566928" y="3795613"/>
            <a:ext cx="6537960" cy="384048"/>
          </a:xfrm>
          <a:prstGeom prst="roundRect">
            <a:avLst>
              <a:gd name="adj" fmla="val 19048"/>
            </a:avLst>
          </a:prstGeom>
          <a:solidFill>
            <a:srgbClr val="FCE8E7"/>
          </a:solidFill>
          <a:ln/>
        </p:spPr>
      </p:sp>
      <p:sp>
        <p:nvSpPr>
          <p:cNvPr id="10" name="Text 8"/>
          <p:cNvSpPr/>
          <p:nvPr/>
        </p:nvSpPr>
        <p:spPr>
          <a:xfrm>
            <a:off x="694944" y="3795613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2362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435608" y="3795613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8" dirty="0">
                <a:solidFill>
                  <a:srgbClr val="12151C"/>
                </a:solidFill>
                <a:highlight>
                  <a:srgbClr val="FCE8E7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.easeInOut(duration: 0.8)</a:t>
            </a:r>
            <a:endParaRPr lang="en-US" sz="1118" dirty="0"/>
          </a:p>
        </p:txBody>
      </p:sp>
      <p:sp>
        <p:nvSpPr>
          <p:cNvPr id="12" name="Shape 10"/>
          <p:cNvSpPr/>
          <p:nvPr/>
        </p:nvSpPr>
        <p:spPr>
          <a:xfrm>
            <a:off x="566928" y="4252813"/>
            <a:ext cx="6537960" cy="384048"/>
          </a:xfrm>
          <a:prstGeom prst="roundRect">
            <a:avLst>
              <a:gd name="adj" fmla="val 19048"/>
            </a:avLst>
          </a:prstGeom>
          <a:solidFill>
            <a:srgbClr val="E6F6EA"/>
          </a:solidFill>
          <a:ln/>
        </p:spPr>
      </p:sp>
      <p:sp>
        <p:nvSpPr>
          <p:cNvPr id="13" name="Text 11"/>
          <p:cNvSpPr/>
          <p:nvPr/>
        </p:nvSpPr>
        <p:spPr>
          <a:xfrm>
            <a:off x="694944" y="4252813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8A3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GOOD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435608" y="4252813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215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thả tay: </a:t>
            </a:r>
            <a:pPr indent="0" marL="0">
              <a:buNone/>
            </a:pPr>
            <a:r>
              <a:rPr lang="en-US" sz="1118" dirty="0">
                <a:solidFill>
                  <a:srgbClr val="12151C"/>
                </a:solidFill>
                <a:highlight>
                  <a:srgbClr val="E6F6EA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Decay(k: 2)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66928" y="4710013"/>
            <a:ext cx="6537960" cy="384048"/>
          </a:xfrm>
          <a:prstGeom prst="roundRect">
            <a:avLst>
              <a:gd name="adj" fmla="val 19048"/>
            </a:avLst>
          </a:prstGeom>
          <a:solidFill>
            <a:srgbClr val="FCE8E7"/>
          </a:solidFill>
          <a:ln/>
        </p:spPr>
      </p:sp>
      <p:sp>
        <p:nvSpPr>
          <p:cNvPr id="16" name="Text 14"/>
          <p:cNvSpPr/>
          <p:nvPr/>
        </p:nvSpPr>
        <p:spPr>
          <a:xfrm>
            <a:off x="694944" y="4710013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2362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35608" y="4710013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215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thả tay: dừng tại chỗ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66928" y="5313517"/>
            <a:ext cx="65379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5313517"/>
            <a:ext cx="6172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15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đích = p₀ + v₀ / k · k ≈ 2 /s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635240" y="1143000"/>
            <a:ext cx="3986784" cy="148132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sx="100000" sy="100000" kx="0" ky="0" algn="bl" rotWithShape="0" blurRad="127000" dist="38100" dir="5400000">
              <a:srgbClr val="1C2433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635240" y="1344168"/>
            <a:ext cx="64008" cy="1078992"/>
          </a:xfrm>
          <a:prstGeom prst="rect">
            <a:avLst/>
          </a:prstGeom>
          <a:solidFill>
            <a:srgbClr val="D9640A"/>
          </a:solidFill>
          <a:ln/>
        </p:spPr>
      </p:sp>
      <p:sp>
        <p:nvSpPr>
          <p:cNvPr id="22" name="Text 20"/>
          <p:cNvSpPr/>
          <p:nvPr/>
        </p:nvSpPr>
        <p:spPr>
          <a:xfrm>
            <a:off x="7927848" y="1362456"/>
            <a:ext cx="3483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964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shouldMerge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927848" y="1783080"/>
            <a:ext cx="34838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A303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Spring đổi đích liền mạch.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635240" y="2825496"/>
            <a:ext cx="3986784" cy="148132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sx="100000" sy="100000" kx="0" ky="0" algn="bl" rotWithShape="0" blurRad="127000" dist="38100" dir="5400000">
              <a:srgbClr val="1C2433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635240" y="3026664"/>
            <a:ext cx="64008" cy="1078992"/>
          </a:xfrm>
          <a:prstGeom prst="rect">
            <a:avLst/>
          </a:prstGeom>
          <a:solidFill>
            <a:srgbClr val="D9640A"/>
          </a:solidFill>
          <a:ln/>
        </p:spPr>
      </p:sp>
      <p:sp>
        <p:nvSpPr>
          <p:cNvPr id="26" name="Text 24"/>
          <p:cNvSpPr/>
          <p:nvPr/>
        </p:nvSpPr>
        <p:spPr>
          <a:xfrm>
            <a:off x="7927848" y="3044952"/>
            <a:ext cx="3483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964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DragGesture.Value.velocity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927848" y="3465576"/>
            <a:ext cx="34838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A303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Vận tốc lúc thả.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635240" y="4507992"/>
            <a:ext cx="3986784" cy="148132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sx="100000" sy="100000" kx="0" ky="0" algn="bl" rotWithShape="0" blurRad="127000" dist="38100" dir="5400000">
              <a:srgbClr val="1C2433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635240" y="4709160"/>
            <a:ext cx="64008" cy="1078992"/>
          </a:xfrm>
          <a:prstGeom prst="rect">
            <a:avLst/>
          </a:prstGeom>
          <a:solidFill>
            <a:srgbClr val="D9640A"/>
          </a:solidFill>
          <a:ln/>
        </p:spPr>
      </p:sp>
      <p:sp>
        <p:nvSpPr>
          <p:cNvPr id="30" name="Text 28"/>
          <p:cNvSpPr/>
          <p:nvPr/>
        </p:nvSpPr>
        <p:spPr>
          <a:xfrm>
            <a:off x="7927848" y="4727448"/>
            <a:ext cx="3483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964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CustomAnimation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927848" y="5148072"/>
            <a:ext cx="34838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4" dirty="0">
                <a:solidFill>
                  <a:srgbClr val="2A303C"/>
                </a:solidFill>
                <a:highlight>
                  <a:srgbClr val="EEF1F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animate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A303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204" dirty="0">
                <a:solidFill>
                  <a:srgbClr val="2A303C"/>
                </a:solidFill>
                <a:highlight>
                  <a:srgbClr val="EEF1F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velocity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A303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1204" dirty="0"/>
          </a:p>
        </p:txBody>
      </p:sp>
      <p:sp>
        <p:nvSpPr>
          <p:cNvPr id="32" name="Text 30"/>
          <p:cNvSpPr/>
          <p:nvPr/>
        </p:nvSpPr>
        <p:spPr>
          <a:xfrm>
            <a:off x="566928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5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Liquid Glass · Level by Level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023360" y="292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 thiệu</a:t>
            </a:r>
            <a:pPr algn="r" indent="0" marL="0">
              <a:buNone/>
            </a:pPr>
            <a:r>
              <a:rPr lang="en-US" sz="10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Level 1</a:t>
            </a:r>
            <a:pPr algn="r" indent="0" marL="0">
              <a:buNone/>
            </a:pPr>
            <a:r>
              <a:rPr lang="en-US" sz="10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Level 2</a:t>
            </a:r>
            <a:pPr algn="r" indent="0" marL="0">
              <a:buNone/>
            </a:pPr>
            <a:r>
              <a:rPr lang="en-US" sz="1000" dirty="0">
                <a:solidFill>
                  <a:srgbClr val="D9640A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  Level 3</a:t>
            </a:r>
            <a:pPr algn="r" indent="0" marL="0">
              <a:buNone/>
            </a:pPr>
            <a:r>
              <a:rPr lang="en-US" sz="10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Level 4</a:t>
            </a:r>
            <a:pPr algn="r" indent="0" marL="0">
              <a:buNone/>
            </a:pPr>
            <a:r>
              <a:rPr lang="en-US" sz="10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Cấu hình</a:t>
            </a:r>
            <a:pPr algn="r" indent="0" marL="0">
              <a:buNone/>
            </a:pPr>
            <a:r>
              <a:rPr lang="en-US" sz="10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Ví dụ</a:t>
            </a:r>
            <a:pPr algn="r" indent="0" marL="0">
              <a:buNone/>
            </a:pPr>
            <a:r>
              <a:rPr lang="en-US" sz="10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Nguyên tắc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0607040" y="246888"/>
            <a:ext cx="1014984" cy="329184"/>
          </a:xfrm>
          <a:prstGeom prst="roundRect">
            <a:avLst>
              <a:gd name="adj" fmla="val 22222"/>
            </a:avLst>
          </a:prstGeom>
          <a:solidFill>
            <a:srgbClr val="D9640A"/>
          </a:solidFill>
          <a:ln/>
        </p:spPr>
      </p:sp>
      <p:sp>
        <p:nvSpPr>
          <p:cNvPr id="35" name="Text 33"/>
          <p:cNvSpPr/>
          <p:nvPr/>
        </p:nvSpPr>
        <p:spPr>
          <a:xfrm>
            <a:off x="10607040" y="246888"/>
            <a:ext cx="1014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DEMO 3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66928" y="6400800"/>
            <a:ext cx="2377440" cy="45720"/>
          </a:xfrm>
          <a:prstGeom prst="rect">
            <a:avLst/>
          </a:prstGeom>
          <a:solidFill>
            <a:srgbClr val="C9CED8"/>
          </a:solidFill>
          <a:ln/>
        </p:spPr>
      </p:sp>
      <p:sp>
        <p:nvSpPr>
          <p:cNvPr id="37" name="Text 35"/>
          <p:cNvSpPr/>
          <p:nvPr/>
        </p:nvSpPr>
        <p:spPr>
          <a:xfrm>
            <a:off x="566928" y="647395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4A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LEVEL 1  </a:t>
            </a:r>
            <a:pPr indent="0" marL="0">
              <a:buNone/>
            </a:pPr>
            <a:r>
              <a:rPr lang="en-US" sz="9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Phản hồi chạm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054096" y="6400800"/>
            <a:ext cx="2377440" cy="45720"/>
          </a:xfrm>
          <a:prstGeom prst="rect">
            <a:avLst/>
          </a:prstGeom>
          <a:solidFill>
            <a:srgbClr val="C9CED8"/>
          </a:solidFill>
          <a:ln/>
        </p:spPr>
      </p:sp>
      <p:sp>
        <p:nvSpPr>
          <p:cNvPr id="39" name="Text 37"/>
          <p:cNvSpPr/>
          <p:nvPr/>
        </p:nvSpPr>
        <p:spPr>
          <a:xfrm>
            <a:off x="3054096" y="647395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4A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LEVEL 2  </a:t>
            </a:r>
            <a:pPr indent="0" marL="0">
              <a:buNone/>
            </a:pPr>
            <a:r>
              <a:rPr lang="en-US" sz="9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Chuyển trạng thái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541264" y="6400800"/>
            <a:ext cx="2377440" cy="45720"/>
          </a:xfrm>
          <a:prstGeom prst="rect">
            <a:avLst/>
          </a:prstGeom>
          <a:solidFill>
            <a:srgbClr val="D9640A"/>
          </a:solidFill>
          <a:ln/>
        </p:spPr>
      </p:sp>
      <p:sp>
        <p:nvSpPr>
          <p:cNvPr id="41" name="Text 39"/>
          <p:cNvSpPr/>
          <p:nvPr/>
        </p:nvSpPr>
        <p:spPr>
          <a:xfrm>
            <a:off x="5541264" y="647395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64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LEVEL 3  </a:t>
            </a:r>
            <a:pPr indent="0" marL="0">
              <a:buNone/>
            </a:pPr>
            <a:r>
              <a:rPr lang="en-US" sz="900" dirty="0">
                <a:solidFill>
                  <a:srgbClr val="D9640A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Chuyển động vật lý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8028432" y="6400800"/>
            <a:ext cx="2377440" cy="45720"/>
          </a:xfrm>
          <a:prstGeom prst="rect">
            <a:avLst/>
          </a:prstGeom>
          <a:solidFill>
            <a:srgbClr val="E3E6EC"/>
          </a:solidFill>
          <a:ln/>
        </p:spPr>
      </p:sp>
      <p:sp>
        <p:nvSpPr>
          <p:cNvPr id="43" name="Text 41"/>
          <p:cNvSpPr/>
          <p:nvPr/>
        </p:nvSpPr>
        <p:spPr>
          <a:xfrm>
            <a:off x="8028432" y="647395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4A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LEVEL 4  </a:t>
            </a:r>
            <a:pPr indent="0" marL="0">
              <a:buNone/>
            </a:pPr>
            <a:r>
              <a:rPr lang="en-US" sz="9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Biến dạng tại điểm chạm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92A6A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1234440"/>
            <a:ext cx="1143000" cy="1143000"/>
          </a:xfrm>
          <a:prstGeom prst="ellipse">
            <a:avLst/>
          </a:prstGeom>
          <a:solidFill>
            <a:srgbClr val="C92A6A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23444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ricolage Grotesque 96pt" pitchFamily="34" charset="0"/>
                <a:ea typeface="Bricolage Grotesque 96pt" pitchFamily="34" charset="-122"/>
                <a:cs typeface="Bricolage Grotesque 96pt" pitchFamily="34" charset="-120"/>
              </a:rPr>
              <a:t>4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938528" y="129844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C92A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LEVEL 4 / 4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938528" y="1645920"/>
            <a:ext cx="5440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12151C"/>
                </a:solidFill>
                <a:latin typeface="Bricolage Grotesque 96pt" pitchFamily="34" charset="0"/>
                <a:ea typeface="Bricolage Grotesque 96pt" pitchFamily="34" charset="-122"/>
                <a:cs typeface="Bricolage Grotesque 96pt" pitchFamily="34" charset="-120"/>
              </a:rPr>
              <a:t>Biến dạng tại điểm chạm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54864" cy="868680"/>
          </a:xfrm>
          <a:prstGeom prst="rect">
            <a:avLst/>
          </a:prstGeom>
          <a:solidFill>
            <a:srgbClr val="C92A6A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274320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A303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Nền </a:t>
            </a:r>
            <a:pPr indent="0" marL="0">
              <a:buNone/>
            </a:pPr>
            <a:r>
              <a:rPr lang="en-US" sz="1700" dirty="0">
                <a:solidFill>
                  <a:srgbClr val="1215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gợn sóng theo ngón tay</a:t>
            </a:r>
            <a:pPr indent="0" marL="0">
              <a:buNone/>
            </a:pPr>
            <a:r>
              <a:rPr lang="en-US" sz="1700" dirty="0">
                <a:solidFill>
                  <a:srgbClr val="2A303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bằng Metal.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66928" y="3886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5D65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NỘI DUNG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66928" y="4288536"/>
            <a:ext cx="274320" cy="274320"/>
          </a:xfrm>
          <a:prstGeom prst="ellipse">
            <a:avLst/>
          </a:prstGeom>
          <a:solidFill>
            <a:srgbClr val="C92A6A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42885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87552" y="4251960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303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 shader modifier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66928" y="4709160"/>
            <a:ext cx="274320" cy="274320"/>
          </a:xfrm>
          <a:prstGeom prst="ellipse">
            <a:avLst/>
          </a:prstGeom>
          <a:solidFill>
            <a:srgbClr val="C92A6A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4709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87552" y="4672584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303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Ripple tại điểm chạm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66928" y="5129784"/>
            <a:ext cx="274320" cy="274320"/>
          </a:xfrm>
          <a:prstGeom prst="ellipse">
            <a:avLst/>
          </a:prstGeom>
          <a:solidFill>
            <a:srgbClr val="C92A6A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51297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87552" y="5093208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303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Tắt shader khi không chạy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635240" y="1143000"/>
            <a:ext cx="3986784" cy="148132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sx="100000" sy="100000" kx="0" ky="0" algn="bl" rotWithShape="0" blurRad="127000" dist="38100" dir="5400000">
              <a:srgbClr val="1C2433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635240" y="1344168"/>
            <a:ext cx="64008" cy="1078992"/>
          </a:xfrm>
          <a:prstGeom prst="rect">
            <a:avLst/>
          </a:prstGeom>
          <a:solidFill>
            <a:srgbClr val="C92A6A"/>
          </a:solidFill>
          <a:ln/>
        </p:spPr>
      </p:sp>
      <p:sp>
        <p:nvSpPr>
          <p:cNvPr id="21" name="Text 19"/>
          <p:cNvSpPr/>
          <p:nvPr/>
        </p:nvSpPr>
        <p:spPr>
          <a:xfrm>
            <a:off x="7927848" y="1362456"/>
            <a:ext cx="3483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92A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layerEffect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927848" y="1783080"/>
            <a:ext cx="34838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A303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 nhiều pixel.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635240" y="2825496"/>
            <a:ext cx="3986784" cy="148132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sx="100000" sy="100000" kx="0" ky="0" algn="bl" rotWithShape="0" blurRad="127000" dist="38100" dir="5400000">
              <a:srgbClr val="1C2433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635240" y="3026664"/>
            <a:ext cx="64008" cy="1078992"/>
          </a:xfrm>
          <a:prstGeom prst="rect">
            <a:avLst/>
          </a:prstGeom>
          <a:solidFill>
            <a:srgbClr val="C92A6A"/>
          </a:solidFill>
          <a:ln/>
        </p:spPr>
      </p:sp>
      <p:sp>
        <p:nvSpPr>
          <p:cNvPr id="25" name="Text 23"/>
          <p:cNvSpPr/>
          <p:nvPr/>
        </p:nvSpPr>
        <p:spPr>
          <a:xfrm>
            <a:off x="7927848" y="3044952"/>
            <a:ext cx="3483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92A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distortionEffect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927848" y="3465576"/>
            <a:ext cx="34838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A303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Trả về vị trí nguồn.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635240" y="4507992"/>
            <a:ext cx="3986784" cy="148132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sx="100000" sy="100000" kx="0" ky="0" algn="bl" rotWithShape="0" blurRad="127000" dist="38100" dir="5400000">
              <a:srgbClr val="1C2433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635240" y="4709160"/>
            <a:ext cx="64008" cy="1078992"/>
          </a:xfrm>
          <a:prstGeom prst="rect">
            <a:avLst/>
          </a:prstGeom>
          <a:solidFill>
            <a:srgbClr val="C92A6A"/>
          </a:solidFill>
          <a:ln/>
        </p:spPr>
      </p:sp>
      <p:sp>
        <p:nvSpPr>
          <p:cNvPr id="29" name="Text 27"/>
          <p:cNvSpPr/>
          <p:nvPr/>
        </p:nvSpPr>
        <p:spPr>
          <a:xfrm>
            <a:off x="7927848" y="4727448"/>
            <a:ext cx="3483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92A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keyframeAnimator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927848" y="5148072"/>
            <a:ext cx="34838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A303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Đưa thời gian vào shader.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66928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5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Liquid Glass · Level by Level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023360" y="292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 thiệu</a:t>
            </a:r>
            <a:pPr algn="r" indent="0" marL="0">
              <a:buNone/>
            </a:pPr>
            <a:r>
              <a:rPr lang="en-US" sz="10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Level 1</a:t>
            </a:r>
            <a:pPr algn="r" indent="0" marL="0">
              <a:buNone/>
            </a:pPr>
            <a:r>
              <a:rPr lang="en-US" sz="10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Level 2</a:t>
            </a:r>
            <a:pPr algn="r" indent="0" marL="0">
              <a:buNone/>
            </a:pPr>
            <a:r>
              <a:rPr lang="en-US" sz="10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Level 3</a:t>
            </a:r>
            <a:pPr algn="r" indent="0" marL="0">
              <a:buNone/>
            </a:pPr>
            <a:r>
              <a:rPr lang="en-US" sz="1000" dirty="0">
                <a:solidFill>
                  <a:srgbClr val="C92A6A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  Level 4</a:t>
            </a:r>
            <a:pPr algn="r" indent="0" marL="0">
              <a:buNone/>
            </a:pPr>
            <a:r>
              <a:rPr lang="en-US" sz="10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Cấu hình</a:t>
            </a:r>
            <a:pPr algn="r" indent="0" marL="0">
              <a:buNone/>
            </a:pPr>
            <a:r>
              <a:rPr lang="en-US" sz="10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Ví dụ</a:t>
            </a:r>
            <a:pPr algn="r" indent="0" marL="0">
              <a:buNone/>
            </a:pPr>
            <a:r>
              <a:rPr lang="en-US" sz="10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Nguyên tắc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66928" y="6400800"/>
            <a:ext cx="2377440" cy="45720"/>
          </a:xfrm>
          <a:prstGeom prst="rect">
            <a:avLst/>
          </a:prstGeom>
          <a:solidFill>
            <a:srgbClr val="C9CED8"/>
          </a:solidFill>
          <a:ln/>
        </p:spPr>
      </p:sp>
      <p:sp>
        <p:nvSpPr>
          <p:cNvPr id="34" name="Text 32"/>
          <p:cNvSpPr/>
          <p:nvPr/>
        </p:nvSpPr>
        <p:spPr>
          <a:xfrm>
            <a:off x="566928" y="647395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4A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LEVEL 1  </a:t>
            </a:r>
            <a:pPr indent="0" marL="0">
              <a:buNone/>
            </a:pPr>
            <a:r>
              <a:rPr lang="en-US" sz="9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Phản hồi chạm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054096" y="6400800"/>
            <a:ext cx="2377440" cy="45720"/>
          </a:xfrm>
          <a:prstGeom prst="rect">
            <a:avLst/>
          </a:prstGeom>
          <a:solidFill>
            <a:srgbClr val="C9CED8"/>
          </a:solidFill>
          <a:ln/>
        </p:spPr>
      </p:sp>
      <p:sp>
        <p:nvSpPr>
          <p:cNvPr id="36" name="Text 34"/>
          <p:cNvSpPr/>
          <p:nvPr/>
        </p:nvSpPr>
        <p:spPr>
          <a:xfrm>
            <a:off x="3054096" y="647395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4A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LEVEL 2  </a:t>
            </a:r>
            <a:pPr indent="0" marL="0">
              <a:buNone/>
            </a:pPr>
            <a:r>
              <a:rPr lang="en-US" sz="9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Chuyển trạng thái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541264" y="6400800"/>
            <a:ext cx="2377440" cy="45720"/>
          </a:xfrm>
          <a:prstGeom prst="rect">
            <a:avLst/>
          </a:prstGeom>
          <a:solidFill>
            <a:srgbClr val="C9CED8"/>
          </a:solidFill>
          <a:ln/>
        </p:spPr>
      </p:sp>
      <p:sp>
        <p:nvSpPr>
          <p:cNvPr id="38" name="Text 36"/>
          <p:cNvSpPr/>
          <p:nvPr/>
        </p:nvSpPr>
        <p:spPr>
          <a:xfrm>
            <a:off x="5541264" y="647395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4A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LEVEL 3  </a:t>
            </a:r>
            <a:pPr indent="0" marL="0">
              <a:buNone/>
            </a:pPr>
            <a:r>
              <a:rPr lang="en-US" sz="9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Chuyển động vật lý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028432" y="6400800"/>
            <a:ext cx="2377440" cy="45720"/>
          </a:xfrm>
          <a:prstGeom prst="rect">
            <a:avLst/>
          </a:prstGeom>
          <a:solidFill>
            <a:srgbClr val="C92A6A"/>
          </a:solidFill>
          <a:ln/>
        </p:spPr>
      </p:sp>
      <p:sp>
        <p:nvSpPr>
          <p:cNvPr id="40" name="Text 38"/>
          <p:cNvSpPr/>
          <p:nvPr/>
        </p:nvSpPr>
        <p:spPr>
          <a:xfrm>
            <a:off x="8028432" y="647395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2A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LEVEL 4  </a:t>
            </a:r>
            <a:pPr indent="0" marL="0">
              <a:buNone/>
            </a:pPr>
            <a:r>
              <a:rPr lang="en-US" sz="900" dirty="0">
                <a:solidFill>
                  <a:srgbClr val="C92A6A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Biến dạng tại điểm chạm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801277"/>
            <a:ext cx="6537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C92A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LEVEL 4 · CÁCH LÀM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2313341"/>
            <a:ext cx="6537960" cy="574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12151C"/>
                </a:solidFill>
                <a:latin typeface="Bricolage Grotesque 96pt" pitchFamily="34" charset="0"/>
                <a:ea typeface="Bricolage Grotesque 96pt" pitchFamily="34" charset="-122"/>
                <a:cs typeface="Bricolage Grotesque 96pt" pitchFamily="34" charset="-120"/>
              </a:rPr>
              <a:t>Shader modifier và ripple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3107527"/>
            <a:ext cx="54864" cy="451104"/>
          </a:xfrm>
          <a:prstGeom prst="rect">
            <a:avLst/>
          </a:prstGeom>
          <a:solidFill>
            <a:srgbClr val="C92A6A"/>
          </a:solidFill>
          <a:ln/>
        </p:spPr>
      </p:sp>
      <p:sp>
        <p:nvSpPr>
          <p:cNvPr id="5" name="Text 3"/>
          <p:cNvSpPr/>
          <p:nvPr/>
        </p:nvSpPr>
        <p:spPr>
          <a:xfrm>
            <a:off x="786384" y="3107527"/>
            <a:ext cx="6318504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A303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So với ảnh gốc: 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215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đổi màu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A303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, 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215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dời pixel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A303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, 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215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trộn pixel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A303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66928" y="3778087"/>
            <a:ext cx="6537960" cy="384048"/>
          </a:xfrm>
          <a:prstGeom prst="roundRect">
            <a:avLst>
              <a:gd name="adj" fmla="val 19048"/>
            </a:avLst>
          </a:prstGeom>
          <a:solidFill>
            <a:srgbClr val="E6F6EA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" y="3778087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8A3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GOOD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35608" y="3778087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215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ripple: </a:t>
            </a:r>
            <a:pPr indent="0" marL="0">
              <a:buNone/>
            </a:pPr>
            <a:r>
              <a:rPr lang="en-US" sz="1118" dirty="0">
                <a:solidFill>
                  <a:srgbClr val="12151C"/>
                </a:solidFill>
                <a:highlight>
                  <a:srgbClr val="E6F6EA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isEnabled: t &gt; 0 &amp;&amp; t &lt; 1.5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928" y="4235287"/>
            <a:ext cx="6537960" cy="384048"/>
          </a:xfrm>
          <a:prstGeom prst="roundRect">
            <a:avLst>
              <a:gd name="adj" fmla="val 19048"/>
            </a:avLst>
          </a:prstGeom>
          <a:solidFill>
            <a:srgbClr val="FCE8E7"/>
          </a:solidFill>
          <a:ln/>
        </p:spPr>
      </p:sp>
      <p:sp>
        <p:nvSpPr>
          <p:cNvPr id="10" name="Text 8"/>
          <p:cNvSpPr/>
          <p:nvPr/>
        </p:nvSpPr>
        <p:spPr>
          <a:xfrm>
            <a:off x="694944" y="4235287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2362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435608" y="4235287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215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ripple: </a:t>
            </a:r>
            <a:pPr indent="0" marL="0">
              <a:buNone/>
            </a:pPr>
            <a:r>
              <a:rPr lang="en-US" sz="1118" dirty="0">
                <a:solidFill>
                  <a:srgbClr val="12151C"/>
                </a:solidFill>
                <a:highlight>
                  <a:srgbClr val="FCE8E7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layerEffect</a:t>
            </a:r>
            <a:pPr indent="0" marL="0">
              <a:buNone/>
            </a:pPr>
            <a:r>
              <a:rPr lang="en-US" sz="1300" dirty="0">
                <a:solidFill>
                  <a:srgbClr val="1215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luôn bật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6928" y="4838791"/>
            <a:ext cx="6537960" cy="492252"/>
          </a:xfrm>
          <a:prstGeom prst="roundRect">
            <a:avLst>
              <a:gd name="adj" fmla="val 18576"/>
            </a:avLst>
          </a:prstGeom>
          <a:solidFill>
            <a:srgbClr val="FFF3E2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4975951"/>
            <a:ext cx="566928" cy="256032"/>
          </a:xfrm>
          <a:prstGeom prst="roundRect">
            <a:avLst>
              <a:gd name="adj" fmla="val 21429"/>
            </a:avLst>
          </a:prstGeom>
          <a:solidFill>
            <a:srgbClr val="A64B0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975951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BẪY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463040" y="4948519"/>
            <a:ext cx="5486400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64B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 áp </a:t>
            </a:r>
            <a:pPr indent="0" marL="0">
              <a:buNone/>
            </a:pPr>
            <a:r>
              <a:rPr lang="en-US" sz="1118" dirty="0">
                <a:solidFill>
                  <a:srgbClr val="A64B00"/>
                </a:solidFill>
                <a:highlight>
                  <a:srgbClr val="FBE6CC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layerEffect</a:t>
            </a:r>
            <a:pPr indent="0" marL="0">
              <a:buNone/>
            </a:pPr>
            <a:r>
              <a:rPr lang="en-US" sz="1300" dirty="0">
                <a:solidFill>
                  <a:srgbClr val="A64B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 </a:t>
            </a:r>
            <a:pPr indent="0" marL="0">
              <a:buNone/>
            </a:pPr>
            <a:r>
              <a:rPr lang="en-US" sz="1118" dirty="0">
                <a:solidFill>
                  <a:srgbClr val="A64B00"/>
                </a:solidFill>
                <a:highlight>
                  <a:srgbClr val="FBE6CC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List</a:t>
            </a:r>
            <a:pPr indent="0" marL="0">
              <a:buNone/>
            </a:pPr>
            <a:r>
              <a:rPr lang="en-US" sz="1300" dirty="0">
                <a:solidFill>
                  <a:srgbClr val="A64B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/</a:t>
            </a:r>
            <a:pPr indent="0" marL="0">
              <a:buNone/>
            </a:pPr>
            <a:r>
              <a:rPr lang="en-US" sz="1118" dirty="0">
                <a:solidFill>
                  <a:srgbClr val="A64B00"/>
                </a:solidFill>
                <a:highlight>
                  <a:srgbClr val="FBE6CC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ScrollView</a:t>
            </a:r>
            <a:pPr indent="0" marL="0">
              <a:buNone/>
            </a:pPr>
            <a:r>
              <a:rPr lang="en-US" sz="1300" dirty="0">
                <a:solidFill>
                  <a:srgbClr val="A64B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635240" y="1143000"/>
            <a:ext cx="3986784" cy="148132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sx="100000" sy="100000" kx="0" ky="0" algn="bl" rotWithShape="0" blurRad="127000" dist="38100" dir="5400000">
              <a:srgbClr val="1C2433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635240" y="1344168"/>
            <a:ext cx="64008" cy="1078992"/>
          </a:xfrm>
          <a:prstGeom prst="rect">
            <a:avLst/>
          </a:prstGeom>
          <a:solidFill>
            <a:srgbClr val="C92A6A"/>
          </a:solidFill>
          <a:ln/>
        </p:spPr>
      </p:sp>
      <p:sp>
        <p:nvSpPr>
          <p:cNvPr id="18" name="Text 16"/>
          <p:cNvSpPr/>
          <p:nvPr/>
        </p:nvSpPr>
        <p:spPr>
          <a:xfrm>
            <a:off x="7927848" y="1362456"/>
            <a:ext cx="3483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92A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colorEffect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927848" y="1783080"/>
            <a:ext cx="34838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A303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Đổi màu, hình giữ nguyên.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635240" y="2825496"/>
            <a:ext cx="3986784" cy="148132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sx="100000" sy="100000" kx="0" ky="0" algn="bl" rotWithShape="0" blurRad="127000" dist="38100" dir="5400000">
              <a:srgbClr val="1C2433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635240" y="3026664"/>
            <a:ext cx="64008" cy="1078992"/>
          </a:xfrm>
          <a:prstGeom prst="rect">
            <a:avLst/>
          </a:prstGeom>
          <a:solidFill>
            <a:srgbClr val="C92A6A"/>
          </a:solidFill>
          <a:ln/>
        </p:spPr>
      </p:sp>
      <p:sp>
        <p:nvSpPr>
          <p:cNvPr id="22" name="Text 20"/>
          <p:cNvSpPr/>
          <p:nvPr/>
        </p:nvSpPr>
        <p:spPr>
          <a:xfrm>
            <a:off x="7927848" y="3044952"/>
            <a:ext cx="3483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92A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distortionEffect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927848" y="3465576"/>
            <a:ext cx="34838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A303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Dời pixel, màu giữ nguyên.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635240" y="4507992"/>
            <a:ext cx="3986784" cy="148132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sx="100000" sy="100000" kx="0" ky="0" algn="bl" rotWithShape="0" blurRad="127000" dist="38100" dir="5400000">
              <a:srgbClr val="1C2433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635240" y="4709160"/>
            <a:ext cx="64008" cy="1078992"/>
          </a:xfrm>
          <a:prstGeom prst="rect">
            <a:avLst/>
          </a:prstGeom>
          <a:solidFill>
            <a:srgbClr val="C92A6A"/>
          </a:solidFill>
          <a:ln/>
        </p:spPr>
      </p:sp>
      <p:sp>
        <p:nvSpPr>
          <p:cNvPr id="26" name="Text 24"/>
          <p:cNvSpPr/>
          <p:nvPr/>
        </p:nvSpPr>
        <p:spPr>
          <a:xfrm>
            <a:off x="7927848" y="4727448"/>
            <a:ext cx="3483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92A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layerEffect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927848" y="5148072"/>
            <a:ext cx="34838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A303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Trộn nhiều pixel.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66928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5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Liquid Glass · Level by Level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023360" y="292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 thiệu</a:t>
            </a:r>
            <a:pPr algn="r" indent="0" marL="0">
              <a:buNone/>
            </a:pPr>
            <a:r>
              <a:rPr lang="en-US" sz="10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Level 1</a:t>
            </a:r>
            <a:pPr algn="r" indent="0" marL="0">
              <a:buNone/>
            </a:pPr>
            <a:r>
              <a:rPr lang="en-US" sz="10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Level 2</a:t>
            </a:r>
            <a:pPr algn="r" indent="0" marL="0">
              <a:buNone/>
            </a:pPr>
            <a:r>
              <a:rPr lang="en-US" sz="10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Level 3</a:t>
            </a:r>
            <a:pPr algn="r" indent="0" marL="0">
              <a:buNone/>
            </a:pPr>
            <a:r>
              <a:rPr lang="en-US" sz="1000" dirty="0">
                <a:solidFill>
                  <a:srgbClr val="C92A6A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  Level 4</a:t>
            </a:r>
            <a:pPr algn="r" indent="0" marL="0">
              <a:buNone/>
            </a:pPr>
            <a:r>
              <a:rPr lang="en-US" sz="10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Cấu hình</a:t>
            </a:r>
            <a:pPr algn="r" indent="0" marL="0">
              <a:buNone/>
            </a:pPr>
            <a:r>
              <a:rPr lang="en-US" sz="10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Ví dụ</a:t>
            </a:r>
            <a:pPr algn="r" indent="0" marL="0">
              <a:buNone/>
            </a:pPr>
            <a:r>
              <a:rPr lang="en-US" sz="10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Nguyên tắc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0607040" y="246888"/>
            <a:ext cx="1014984" cy="329184"/>
          </a:xfrm>
          <a:prstGeom prst="roundRect">
            <a:avLst>
              <a:gd name="adj" fmla="val 22222"/>
            </a:avLst>
          </a:prstGeom>
          <a:solidFill>
            <a:srgbClr val="C92A6A"/>
          </a:solidFill>
          <a:ln/>
        </p:spPr>
      </p:sp>
      <p:sp>
        <p:nvSpPr>
          <p:cNvPr id="31" name="Text 29"/>
          <p:cNvSpPr/>
          <p:nvPr/>
        </p:nvSpPr>
        <p:spPr>
          <a:xfrm>
            <a:off x="10607040" y="246888"/>
            <a:ext cx="1014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DEMO 4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66928" y="6400800"/>
            <a:ext cx="2377440" cy="45720"/>
          </a:xfrm>
          <a:prstGeom prst="rect">
            <a:avLst/>
          </a:prstGeom>
          <a:solidFill>
            <a:srgbClr val="C9CED8"/>
          </a:solidFill>
          <a:ln/>
        </p:spPr>
      </p:sp>
      <p:sp>
        <p:nvSpPr>
          <p:cNvPr id="33" name="Text 31"/>
          <p:cNvSpPr/>
          <p:nvPr/>
        </p:nvSpPr>
        <p:spPr>
          <a:xfrm>
            <a:off x="566928" y="647395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4A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LEVEL 1  </a:t>
            </a:r>
            <a:pPr indent="0" marL="0">
              <a:buNone/>
            </a:pPr>
            <a:r>
              <a:rPr lang="en-US" sz="9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Phản hồi chạm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054096" y="6400800"/>
            <a:ext cx="2377440" cy="45720"/>
          </a:xfrm>
          <a:prstGeom prst="rect">
            <a:avLst/>
          </a:prstGeom>
          <a:solidFill>
            <a:srgbClr val="C9CED8"/>
          </a:solidFill>
          <a:ln/>
        </p:spPr>
      </p:sp>
      <p:sp>
        <p:nvSpPr>
          <p:cNvPr id="35" name="Text 33"/>
          <p:cNvSpPr/>
          <p:nvPr/>
        </p:nvSpPr>
        <p:spPr>
          <a:xfrm>
            <a:off x="3054096" y="647395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4A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LEVEL 2  </a:t>
            </a:r>
            <a:pPr indent="0" marL="0">
              <a:buNone/>
            </a:pPr>
            <a:r>
              <a:rPr lang="en-US" sz="9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Chuyển trạng thái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541264" y="6400800"/>
            <a:ext cx="2377440" cy="45720"/>
          </a:xfrm>
          <a:prstGeom prst="rect">
            <a:avLst/>
          </a:prstGeom>
          <a:solidFill>
            <a:srgbClr val="C9CED8"/>
          </a:solidFill>
          <a:ln/>
        </p:spPr>
      </p:sp>
      <p:sp>
        <p:nvSpPr>
          <p:cNvPr id="37" name="Text 35"/>
          <p:cNvSpPr/>
          <p:nvPr/>
        </p:nvSpPr>
        <p:spPr>
          <a:xfrm>
            <a:off x="5541264" y="647395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4A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LEVEL 3  </a:t>
            </a:r>
            <a:pPr indent="0" marL="0">
              <a:buNone/>
            </a:pPr>
            <a:r>
              <a:rPr lang="en-US" sz="9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Chuyển động vật lý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8028432" y="6400800"/>
            <a:ext cx="2377440" cy="45720"/>
          </a:xfrm>
          <a:prstGeom prst="rect">
            <a:avLst/>
          </a:prstGeom>
          <a:solidFill>
            <a:srgbClr val="C92A6A"/>
          </a:solidFill>
          <a:ln/>
        </p:spPr>
      </p:sp>
      <p:sp>
        <p:nvSpPr>
          <p:cNvPr id="39" name="Text 37"/>
          <p:cNvSpPr/>
          <p:nvPr/>
        </p:nvSpPr>
        <p:spPr>
          <a:xfrm>
            <a:off x="8028432" y="647395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2A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LEVEL 4  </a:t>
            </a:r>
            <a:pPr indent="0" marL="0">
              <a:buNone/>
            </a:pPr>
            <a:r>
              <a:rPr lang="en-US" sz="900" dirty="0">
                <a:solidFill>
                  <a:srgbClr val="C92A6A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Biến dạng tại điểm chạm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64423"/>
            <a:ext cx="6537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2457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CẤU HÌNH · NGƯỜI DÙNG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1576487"/>
            <a:ext cx="6537960" cy="574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12151C"/>
                </a:solidFill>
                <a:latin typeface="Bricolage Grotesque 96pt" pitchFamily="34" charset="0"/>
                <a:ea typeface="Bricolage Grotesque 96pt" pitchFamily="34" charset="-122"/>
                <a:cs typeface="Bricolage Grotesque 96pt" pitchFamily="34" charset="-120"/>
              </a:rPr>
              <a:t>Glass theo cài đặt người dùng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2370673"/>
            <a:ext cx="54864" cy="719328"/>
          </a:xfrm>
          <a:prstGeom prst="rect">
            <a:avLst/>
          </a:prstGeom>
          <a:solidFill>
            <a:srgbClr val="2457F5"/>
          </a:solidFill>
          <a:ln/>
        </p:spPr>
      </p:sp>
      <p:sp>
        <p:nvSpPr>
          <p:cNvPr id="5" name="Text 3"/>
          <p:cNvSpPr/>
          <p:nvPr/>
        </p:nvSpPr>
        <p:spPr>
          <a:xfrm>
            <a:off x="786384" y="2370673"/>
            <a:ext cx="6318504" cy="719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A303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Glass hệ thống 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215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tự thích ứng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A303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. Code tự viết phải 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215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tự đọc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A303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indent="0" marL="0">
              <a:lnSpc>
                <a:spcPct val="120000"/>
              </a:lnSpc>
              <a:buNone/>
            </a:pPr>
            <a:r>
              <a:rPr lang="en-US" sz="1376" dirty="0">
                <a:solidFill>
                  <a:srgbClr val="2A303C"/>
                </a:solidFill>
                <a:highlight>
                  <a:srgbClr val="EEF1F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@Environment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A303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66928" y="3346033"/>
            <a:ext cx="292608" cy="292608"/>
          </a:xfrm>
          <a:prstGeom prst="ellipse">
            <a:avLst/>
          </a:prstGeom>
          <a:solidFill>
            <a:srgbClr val="2457F5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3346033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3309457"/>
            <a:ext cx="6099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15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Giảm độ trong suốt</a:t>
            </a:r>
            <a:pPr indent="0" marL="0">
              <a:buNone/>
            </a:pPr>
            <a:r>
              <a:rPr lang="en-US" sz="1500" dirty="0">
                <a:solidFill>
                  <a:srgbClr val="2A303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 glass đục hơn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66928" y="3711793"/>
            <a:ext cx="292608" cy="292608"/>
          </a:xfrm>
          <a:prstGeom prst="ellipse">
            <a:avLst/>
          </a:prstGeom>
          <a:solidFill>
            <a:srgbClr val="2457F5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3711793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3675217"/>
            <a:ext cx="6099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15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Tăng độ tương phản</a:t>
            </a:r>
            <a:pPr indent="0" marL="0">
              <a:buNone/>
            </a:pPr>
            <a:r>
              <a:rPr lang="en-US" sz="1500" dirty="0">
                <a:solidFill>
                  <a:srgbClr val="2A303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 viền rõ hơn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66928" y="4077553"/>
            <a:ext cx="292608" cy="292608"/>
          </a:xfrm>
          <a:prstGeom prst="ellipse">
            <a:avLst/>
          </a:prstGeom>
          <a:solidFill>
            <a:srgbClr val="2457F5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4077553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4040977"/>
            <a:ext cx="6099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15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Giảm chuyển động</a:t>
            </a:r>
            <a:pPr indent="0" marL="0">
              <a:buNone/>
            </a:pPr>
            <a:r>
              <a:rPr lang="en-US" sz="1500" dirty="0">
                <a:solidFill>
                  <a:srgbClr val="2A303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 bỏ nảy, tắt ripple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66928" y="4443313"/>
            <a:ext cx="292608" cy="292608"/>
          </a:xfrm>
          <a:prstGeom prst="ellipse">
            <a:avLst/>
          </a:prstGeom>
          <a:solidFill>
            <a:srgbClr val="2457F5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4443313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4406737"/>
            <a:ext cx="6099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15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Sáng / Tối</a:t>
            </a:r>
            <a:pPr indent="0" marL="0">
              <a:buNone/>
            </a:pPr>
            <a:r>
              <a:rPr lang="en-US" sz="1500" dirty="0">
                <a:solidFill>
                  <a:srgbClr val="2A303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 glass đổi theo giao diện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66928" y="4809073"/>
            <a:ext cx="292608" cy="292608"/>
          </a:xfrm>
          <a:prstGeom prst="ellipse">
            <a:avLst/>
          </a:prstGeom>
          <a:solidFill>
            <a:srgbClr val="2457F5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" y="4809073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05840" y="4772497"/>
            <a:ext cx="6099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15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Trong / Nhuộm màu</a:t>
            </a:r>
            <a:pPr indent="0" marL="0">
              <a:buNone/>
            </a:pPr>
            <a:r>
              <a:rPr lang="en-US" sz="1500" dirty="0">
                <a:solidFill>
                  <a:srgbClr val="2A303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(iOS 26.1+): không có API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66928" y="5357713"/>
            <a:ext cx="6537960" cy="710184"/>
          </a:xfrm>
          <a:prstGeom prst="roundRect">
            <a:avLst>
              <a:gd name="adj" fmla="val 12876"/>
            </a:avLst>
          </a:prstGeom>
          <a:solidFill>
            <a:srgbClr val="FFF3E2"/>
          </a:solidFill>
          <a:ln/>
        </p:spPr>
      </p:sp>
      <p:sp>
        <p:nvSpPr>
          <p:cNvPr id="22" name="Shape 20"/>
          <p:cNvSpPr/>
          <p:nvPr/>
        </p:nvSpPr>
        <p:spPr>
          <a:xfrm>
            <a:off x="731520" y="5494873"/>
            <a:ext cx="566928" cy="256032"/>
          </a:xfrm>
          <a:prstGeom prst="roundRect">
            <a:avLst>
              <a:gd name="adj" fmla="val 21429"/>
            </a:avLst>
          </a:prstGeom>
          <a:solidFill>
            <a:srgbClr val="A64B00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5494873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BẪY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463040" y="5467441"/>
            <a:ext cx="5486400" cy="49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64B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Hệ thống chỉ lo glass của hệ thống. Shader, spring tự viết phải tự đọc cài đặt.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635240" y="1143000"/>
            <a:ext cx="3986784" cy="148132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sx="100000" sy="100000" kx="0" ky="0" algn="bl" rotWithShape="0" blurRad="127000" dist="38100" dir="5400000">
              <a:srgbClr val="1C2433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635240" y="1344168"/>
            <a:ext cx="64008" cy="1078992"/>
          </a:xfrm>
          <a:prstGeom prst="rect">
            <a:avLst/>
          </a:prstGeom>
          <a:solidFill>
            <a:srgbClr val="2457F5"/>
          </a:solidFill>
          <a:ln/>
        </p:spPr>
      </p:sp>
      <p:sp>
        <p:nvSpPr>
          <p:cNvPr id="27" name="Text 25"/>
          <p:cNvSpPr/>
          <p:nvPr/>
        </p:nvSpPr>
        <p:spPr>
          <a:xfrm>
            <a:off x="7927848" y="1362456"/>
            <a:ext cx="3483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57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accessibilityReduceTransparency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927848" y="1783080"/>
            <a:ext cx="34838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4" dirty="0">
                <a:solidFill>
                  <a:srgbClr val="2A303C"/>
                </a:solidFill>
                <a:highlight>
                  <a:srgbClr val="EEF1F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.regular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A303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 nền đặc.</a:t>
            </a:r>
            <a:endParaRPr lang="en-US" sz="1204" dirty="0"/>
          </a:p>
        </p:txBody>
      </p:sp>
      <p:sp>
        <p:nvSpPr>
          <p:cNvPr id="29" name="Shape 27"/>
          <p:cNvSpPr/>
          <p:nvPr/>
        </p:nvSpPr>
        <p:spPr>
          <a:xfrm>
            <a:off x="7635240" y="2825496"/>
            <a:ext cx="3986784" cy="148132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sx="100000" sy="100000" kx="0" ky="0" algn="bl" rotWithShape="0" blurRad="127000" dist="38100" dir="5400000">
              <a:srgbClr val="1C2433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635240" y="3026664"/>
            <a:ext cx="64008" cy="1078992"/>
          </a:xfrm>
          <a:prstGeom prst="rect">
            <a:avLst/>
          </a:prstGeom>
          <a:solidFill>
            <a:srgbClr val="2457F5"/>
          </a:solidFill>
          <a:ln/>
        </p:spPr>
      </p:sp>
      <p:sp>
        <p:nvSpPr>
          <p:cNvPr id="31" name="Text 29"/>
          <p:cNvSpPr/>
          <p:nvPr/>
        </p:nvSpPr>
        <p:spPr>
          <a:xfrm>
            <a:off x="7927848" y="3044952"/>
            <a:ext cx="3483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457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colorSchemeContrast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927848" y="3465576"/>
            <a:ext cx="34838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A303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Tăng viền.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635240" y="4507992"/>
            <a:ext cx="3986784" cy="148132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sx="100000" sy="100000" kx="0" ky="0" algn="bl" rotWithShape="0" blurRad="127000" dist="38100" dir="5400000">
              <a:srgbClr val="1C2433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635240" y="4709160"/>
            <a:ext cx="64008" cy="1078992"/>
          </a:xfrm>
          <a:prstGeom prst="rect">
            <a:avLst/>
          </a:prstGeom>
          <a:solidFill>
            <a:srgbClr val="2457F5"/>
          </a:solidFill>
          <a:ln/>
        </p:spPr>
      </p:sp>
      <p:sp>
        <p:nvSpPr>
          <p:cNvPr id="35" name="Text 33"/>
          <p:cNvSpPr/>
          <p:nvPr/>
        </p:nvSpPr>
        <p:spPr>
          <a:xfrm>
            <a:off x="7927848" y="4727448"/>
            <a:ext cx="3483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57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accessibilityReduceMotion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927848" y="5148072"/>
            <a:ext cx="34838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A303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Tắt ripple, bỏ nảy.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66928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5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Liquid Glass · Level by Level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023360" y="292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 thiệu</a:t>
            </a:r>
            <a:pPr algn="r" indent="0" marL="0">
              <a:buNone/>
            </a:pPr>
            <a:r>
              <a:rPr lang="en-US" sz="10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Level 1</a:t>
            </a:r>
            <a:pPr algn="r" indent="0" marL="0">
              <a:buNone/>
            </a:pPr>
            <a:r>
              <a:rPr lang="en-US" sz="10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Level 2</a:t>
            </a:r>
            <a:pPr algn="r" indent="0" marL="0">
              <a:buNone/>
            </a:pPr>
            <a:r>
              <a:rPr lang="en-US" sz="10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Level 3</a:t>
            </a:r>
            <a:pPr algn="r" indent="0" marL="0">
              <a:buNone/>
            </a:pPr>
            <a:r>
              <a:rPr lang="en-US" sz="10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Level 4</a:t>
            </a:r>
            <a:pPr algn="r" indent="0" marL="0">
              <a:buNone/>
            </a:pPr>
            <a:r>
              <a:rPr lang="en-US" sz="1000" dirty="0">
                <a:solidFill>
                  <a:srgbClr val="2457F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  Cấu hình</a:t>
            </a:r>
            <a:pPr algn="r" indent="0" marL="0">
              <a:buNone/>
            </a:pPr>
            <a:r>
              <a:rPr lang="en-US" sz="10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Ví dụ</a:t>
            </a:r>
            <a:pPr algn="r" indent="0" marL="0">
              <a:buNone/>
            </a:pPr>
            <a:r>
              <a:rPr lang="en-US" sz="10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Nguyên tắc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0607040" y="246888"/>
            <a:ext cx="1014984" cy="329184"/>
          </a:xfrm>
          <a:prstGeom prst="roundRect">
            <a:avLst>
              <a:gd name="adj" fmla="val 22222"/>
            </a:avLst>
          </a:prstGeom>
          <a:solidFill>
            <a:srgbClr val="2457F5"/>
          </a:solidFill>
          <a:ln/>
        </p:spPr>
      </p:sp>
      <p:sp>
        <p:nvSpPr>
          <p:cNvPr id="40" name="Text 38"/>
          <p:cNvSpPr/>
          <p:nvPr/>
        </p:nvSpPr>
        <p:spPr>
          <a:xfrm>
            <a:off x="10607040" y="246888"/>
            <a:ext cx="1014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DEMO cfg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416467"/>
            <a:ext cx="6537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2457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CẤU HÌNH · APP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1928531"/>
            <a:ext cx="6537960" cy="574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12151C"/>
                </a:solidFill>
                <a:latin typeface="Bricolage Grotesque 96pt" pitchFamily="34" charset="0"/>
                <a:ea typeface="Bricolage Grotesque 96pt" pitchFamily="34" charset="-122"/>
                <a:cs typeface="Bricolage Grotesque 96pt" pitchFamily="34" charset="-120"/>
              </a:rPr>
              <a:t>Cấu hình của app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2722717"/>
            <a:ext cx="54864" cy="451104"/>
          </a:xfrm>
          <a:prstGeom prst="rect">
            <a:avLst/>
          </a:prstGeom>
          <a:solidFill>
            <a:srgbClr val="2457F5"/>
          </a:solidFill>
          <a:ln/>
        </p:spPr>
      </p:sp>
      <p:sp>
        <p:nvSpPr>
          <p:cNvPr id="5" name="Text 3"/>
          <p:cNvSpPr/>
          <p:nvPr/>
        </p:nvSpPr>
        <p:spPr>
          <a:xfrm>
            <a:off x="786384" y="2722717"/>
            <a:ext cx="6318504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A303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App quyết định 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215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có glass hay không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A303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 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215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chạy ở bao nhiêu Hz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A303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03504" y="3484717"/>
            <a:ext cx="82296" cy="82296"/>
          </a:xfrm>
          <a:prstGeom prst="rect">
            <a:avLst/>
          </a:prstGeom>
          <a:solidFill>
            <a:srgbClr val="2457F5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3393277"/>
            <a:ext cx="6263640" cy="542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4" dirty="0">
                <a:solidFill>
                  <a:srgbClr val="2A303C"/>
                </a:solidFill>
                <a:highlight>
                  <a:srgbClr val="EEF1F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UIDesignRequiresCompatibility = YES</a:t>
            </a:r>
            <a:pPr indent="0" marL="0">
              <a:buNone/>
            </a:pPr>
            <a:r>
              <a:rPr lang="en-US" sz="1400" dirty="0">
                <a:solidFill>
                  <a:srgbClr val="2A303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(Info.plist): giữ giao diện cũ khi build bằng SDK 26</a:t>
            </a:r>
            <a:endParaRPr lang="en-US" sz="1204" dirty="0"/>
          </a:p>
        </p:txBody>
      </p:sp>
      <p:sp>
        <p:nvSpPr>
          <p:cNvPr id="8" name="Shape 6"/>
          <p:cNvSpPr/>
          <p:nvPr/>
        </p:nvSpPr>
        <p:spPr>
          <a:xfrm>
            <a:off x="603504" y="4027261"/>
            <a:ext cx="82296" cy="82296"/>
          </a:xfrm>
          <a:prstGeom prst="rect">
            <a:avLst/>
          </a:prstGeom>
          <a:solidFill>
            <a:srgbClr val="2457F5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3935821"/>
            <a:ext cx="6263640" cy="542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A303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Target dưới iOS 26: gói </a:t>
            </a:r>
            <a:pPr indent="0" marL="0">
              <a:buNone/>
            </a:pPr>
            <a:r>
              <a:rPr lang="en-US" sz="1204" dirty="0">
                <a:solidFill>
                  <a:srgbClr val="2A303C"/>
                </a:solidFill>
                <a:highlight>
                  <a:srgbClr val="EEF1F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#available</a:t>
            </a:r>
            <a:pPr indent="0" marL="0">
              <a:buNone/>
            </a:pPr>
            <a:r>
              <a:rPr lang="en-US" sz="1400" dirty="0">
                <a:solidFill>
                  <a:srgbClr val="2A303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 một </a:t>
            </a:r>
            <a:pPr indent="0" marL="0">
              <a:buNone/>
            </a:pPr>
            <a:r>
              <a:rPr lang="en-US" sz="1204" dirty="0">
                <a:solidFill>
                  <a:srgbClr val="2A303C"/>
                </a:solidFill>
                <a:highlight>
                  <a:srgbClr val="EEF1F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ViewModifier</a:t>
            </a:r>
            <a:pPr indent="0" marL="0">
              <a:buNone/>
            </a:pPr>
            <a:r>
              <a:rPr lang="en-US" sz="1400" dirty="0">
                <a:solidFill>
                  <a:srgbClr val="2A303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, fallback </a:t>
            </a:r>
            <a:pPr indent="0" marL="0">
              <a:buNone/>
            </a:pPr>
            <a:r>
              <a:rPr lang="en-US" sz="1204" dirty="0">
                <a:solidFill>
                  <a:srgbClr val="2A303C"/>
                </a:solidFill>
                <a:highlight>
                  <a:srgbClr val="EEF1F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Material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3504" y="4569805"/>
            <a:ext cx="82296" cy="82296"/>
          </a:xfrm>
          <a:prstGeom prst="rect">
            <a:avLst/>
          </a:prstGeom>
          <a:solidFill>
            <a:srgbClr val="2457F5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4478365"/>
            <a:ext cx="6263640" cy="307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4" dirty="0">
                <a:solidFill>
                  <a:srgbClr val="2A303C"/>
                </a:solidFill>
                <a:highlight>
                  <a:srgbClr val="EEF1F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CADisableMinimumFrameDurationOnPhone</a:t>
            </a:r>
            <a:pPr indent="0" marL="0">
              <a:buNone/>
            </a:pPr>
            <a:r>
              <a:rPr lang="en-US" sz="1400" dirty="0">
                <a:solidFill>
                  <a:srgbClr val="2A303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 cho phép 120 Hz trên ProMotion</a:t>
            </a:r>
            <a:endParaRPr lang="en-US" sz="1204" dirty="0"/>
          </a:p>
        </p:txBody>
      </p:sp>
      <p:sp>
        <p:nvSpPr>
          <p:cNvPr id="12" name="Shape 10"/>
          <p:cNvSpPr/>
          <p:nvPr/>
        </p:nvSpPr>
        <p:spPr>
          <a:xfrm>
            <a:off x="566928" y="5005669"/>
            <a:ext cx="6537960" cy="710184"/>
          </a:xfrm>
          <a:prstGeom prst="roundRect">
            <a:avLst>
              <a:gd name="adj" fmla="val 12876"/>
            </a:avLst>
          </a:prstGeom>
          <a:solidFill>
            <a:srgbClr val="FFF3E2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5142829"/>
            <a:ext cx="566928" cy="256032"/>
          </a:xfrm>
          <a:prstGeom prst="roundRect">
            <a:avLst>
              <a:gd name="adj" fmla="val 21429"/>
            </a:avLst>
          </a:prstGeom>
          <a:solidFill>
            <a:srgbClr val="A64B0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5142829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BẪY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463040" y="5115397"/>
            <a:ext cx="5486400" cy="49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64B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Key compatibility chỉ là tạm thời. SDK 27.1 vẫn chạy: kiểm tra lại với mỗi SDK mới.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635240" y="1143000"/>
            <a:ext cx="3986784" cy="148132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sx="100000" sy="100000" kx="0" ky="0" algn="bl" rotWithShape="0" blurRad="127000" dist="38100" dir="5400000">
              <a:srgbClr val="1C2433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635240" y="1344168"/>
            <a:ext cx="64008" cy="1078992"/>
          </a:xfrm>
          <a:prstGeom prst="rect">
            <a:avLst/>
          </a:prstGeom>
          <a:solidFill>
            <a:srgbClr val="2457F5"/>
          </a:solidFill>
          <a:ln/>
        </p:spPr>
      </p:sp>
      <p:sp>
        <p:nvSpPr>
          <p:cNvPr id="18" name="Text 16"/>
          <p:cNvSpPr/>
          <p:nvPr/>
        </p:nvSpPr>
        <p:spPr>
          <a:xfrm>
            <a:off x="7927848" y="1362456"/>
            <a:ext cx="3483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57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UIDesignRequiresCompatibility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927848" y="1783080"/>
            <a:ext cx="34838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A303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Tạm hoãn Liquid Glass.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635240" y="2825496"/>
            <a:ext cx="3986784" cy="148132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sx="100000" sy="100000" kx="0" ky="0" algn="bl" rotWithShape="0" blurRad="127000" dist="38100" dir="5400000">
              <a:srgbClr val="1C2433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635240" y="3026664"/>
            <a:ext cx="64008" cy="1078992"/>
          </a:xfrm>
          <a:prstGeom prst="rect">
            <a:avLst/>
          </a:prstGeom>
          <a:solidFill>
            <a:srgbClr val="2457F5"/>
          </a:solidFill>
          <a:ln/>
        </p:spPr>
      </p:sp>
      <p:sp>
        <p:nvSpPr>
          <p:cNvPr id="22" name="Text 20"/>
          <p:cNvSpPr/>
          <p:nvPr/>
        </p:nvSpPr>
        <p:spPr>
          <a:xfrm>
            <a:off x="7927848" y="3044952"/>
            <a:ext cx="3483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457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#available(iOS 26, *)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927848" y="3465576"/>
            <a:ext cx="34838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A303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 modifier, không rải khắp nơi.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635240" y="4507992"/>
            <a:ext cx="3986784" cy="148132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sx="100000" sy="100000" kx="0" ky="0" algn="bl" rotWithShape="0" blurRad="127000" dist="38100" dir="5400000">
              <a:srgbClr val="1C2433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635240" y="4709160"/>
            <a:ext cx="64008" cy="1078992"/>
          </a:xfrm>
          <a:prstGeom prst="rect">
            <a:avLst/>
          </a:prstGeom>
          <a:solidFill>
            <a:srgbClr val="2457F5"/>
          </a:solidFill>
          <a:ln/>
        </p:spPr>
      </p:sp>
      <p:sp>
        <p:nvSpPr>
          <p:cNvPr id="26" name="Text 24"/>
          <p:cNvSpPr/>
          <p:nvPr/>
        </p:nvSpPr>
        <p:spPr>
          <a:xfrm>
            <a:off x="7927848" y="4727448"/>
            <a:ext cx="3483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57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CADisableMinimumFrameDurationOnPhone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927848" y="5148072"/>
            <a:ext cx="34838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A303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120 Hz cho animation tự viết.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66928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5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Liquid Glass · Level by Level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023360" y="292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 thiệu</a:t>
            </a:r>
            <a:pPr algn="r" indent="0" marL="0">
              <a:buNone/>
            </a:pPr>
            <a:r>
              <a:rPr lang="en-US" sz="10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Level 1</a:t>
            </a:r>
            <a:pPr algn="r" indent="0" marL="0">
              <a:buNone/>
            </a:pPr>
            <a:r>
              <a:rPr lang="en-US" sz="10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Level 2</a:t>
            </a:r>
            <a:pPr algn="r" indent="0" marL="0">
              <a:buNone/>
            </a:pPr>
            <a:r>
              <a:rPr lang="en-US" sz="10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Level 3</a:t>
            </a:r>
            <a:pPr algn="r" indent="0" marL="0">
              <a:buNone/>
            </a:pPr>
            <a:r>
              <a:rPr lang="en-US" sz="10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Level 4</a:t>
            </a:r>
            <a:pPr algn="r" indent="0" marL="0">
              <a:buNone/>
            </a:pPr>
            <a:r>
              <a:rPr lang="en-US" sz="1000" dirty="0">
                <a:solidFill>
                  <a:srgbClr val="2457F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  Cấu hình</a:t>
            </a:r>
            <a:pPr algn="r" indent="0" marL="0">
              <a:buNone/>
            </a:pPr>
            <a:r>
              <a:rPr lang="en-US" sz="10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Ví dụ</a:t>
            </a:r>
            <a:pPr algn="r" indent="0" marL="0">
              <a:buNone/>
            </a:pPr>
            <a:r>
              <a:rPr lang="en-US" sz="10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Nguyên tắc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41848" y="2697480"/>
            <a:ext cx="914400" cy="73152"/>
          </a:xfrm>
          <a:prstGeom prst="rect">
            <a:avLst/>
          </a:prstGeom>
          <a:solidFill>
            <a:srgbClr val="2457F5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971800"/>
            <a:ext cx="103601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12151C"/>
                </a:solidFill>
                <a:latin typeface="Bricolage Grotesque 96pt" pitchFamily="34" charset="0"/>
                <a:ea typeface="Bricolage Grotesque 96pt" pitchFamily="34" charset="-122"/>
                <a:cs typeface="Bricolage Grotesque 96pt" pitchFamily="34" charset="-120"/>
              </a:rPr>
              <a:t>Ví dụ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66928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5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Liquid Glass · Level by Level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023360" y="292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 thiệu</a:t>
            </a:r>
            <a:pPr algn="r" indent="0" marL="0">
              <a:buNone/>
            </a:pPr>
            <a:r>
              <a:rPr lang="en-US" sz="10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Level 1</a:t>
            </a:r>
            <a:pPr algn="r" indent="0" marL="0">
              <a:buNone/>
            </a:pPr>
            <a:r>
              <a:rPr lang="en-US" sz="10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Level 2</a:t>
            </a:r>
            <a:pPr algn="r" indent="0" marL="0">
              <a:buNone/>
            </a:pPr>
            <a:r>
              <a:rPr lang="en-US" sz="10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Level 3</a:t>
            </a:r>
            <a:pPr algn="r" indent="0" marL="0">
              <a:buNone/>
            </a:pPr>
            <a:r>
              <a:rPr lang="en-US" sz="10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Level 4</a:t>
            </a:r>
            <a:pPr algn="r" indent="0" marL="0">
              <a:buNone/>
            </a:pPr>
            <a:r>
              <a:rPr lang="en-US" sz="10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Cấu hình</a:t>
            </a:r>
            <a:pPr algn="r" indent="0" marL="0">
              <a:buNone/>
            </a:pPr>
            <a:r>
              <a:rPr lang="en-US" sz="1000" dirty="0">
                <a:solidFill>
                  <a:srgbClr val="2457F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  Ví dụ</a:t>
            </a:r>
            <a:pPr algn="r" indent="0" marL="0">
              <a:buNone/>
            </a:pPr>
            <a:r>
              <a:rPr lang="en-US" sz="10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Nguyên tắc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27847"/>
            <a:ext cx="6537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2457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NGUYÊN TẮC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1539911"/>
            <a:ext cx="6537960" cy="574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12151C"/>
                </a:solidFill>
                <a:latin typeface="Bricolage Grotesque 96pt" pitchFamily="34" charset="0"/>
                <a:ea typeface="Bricolage Grotesque 96pt" pitchFamily="34" charset="-122"/>
                <a:cs typeface="Bricolage Grotesque 96pt" pitchFamily="34" charset="-120"/>
              </a:rPr>
              <a:t>Nguyên tắc cốt lõi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2334097"/>
            <a:ext cx="54864" cy="451104"/>
          </a:xfrm>
          <a:prstGeom prst="rect">
            <a:avLst/>
          </a:prstGeom>
          <a:solidFill>
            <a:srgbClr val="2457F5"/>
          </a:solidFill>
          <a:ln/>
        </p:spPr>
      </p:sp>
      <p:sp>
        <p:nvSpPr>
          <p:cNvPr id="5" name="Text 3"/>
          <p:cNvSpPr/>
          <p:nvPr/>
        </p:nvSpPr>
        <p:spPr>
          <a:xfrm>
            <a:off x="786384" y="2334097"/>
            <a:ext cx="6318504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A303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Sáu điều kiểm tra 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215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trước khi ship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A303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66928" y="3041233"/>
            <a:ext cx="292608" cy="292608"/>
          </a:xfrm>
          <a:prstGeom prst="ellipse">
            <a:avLst/>
          </a:prstGeom>
          <a:solidFill>
            <a:srgbClr val="2457F5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3041233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3004657"/>
            <a:ext cx="6099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303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Glass cho lớp điều khiển nổi. </a:t>
            </a:r>
            <a:pPr indent="0" marL="0">
              <a:buNone/>
            </a:pPr>
            <a:r>
              <a:rPr lang="en-US" sz="1500" dirty="0">
                <a:solidFill>
                  <a:srgbClr val="1215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Không glass trên glass.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66928" y="3406993"/>
            <a:ext cx="292608" cy="292608"/>
          </a:xfrm>
          <a:prstGeom prst="ellipse">
            <a:avLst/>
          </a:prstGeom>
          <a:solidFill>
            <a:srgbClr val="2457F5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3406993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3370417"/>
            <a:ext cx="6099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303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Chạm là phản hồi: </a:t>
            </a:r>
            <a:pPr indent="0" marL="0">
              <a:buNone/>
            </a:pPr>
            <a:r>
              <a:rPr lang="en-US" sz="1290" dirty="0">
                <a:solidFill>
                  <a:srgbClr val="2A303C"/>
                </a:solidFill>
                <a:highlight>
                  <a:srgbClr val="EEF1F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.interactive()</a:t>
            </a:r>
            <a:pPr indent="0" marL="0">
              <a:buNone/>
            </a:pPr>
            <a:r>
              <a:rPr lang="en-US" sz="1500" dirty="0">
                <a:solidFill>
                  <a:srgbClr val="2A303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+ haptic theo state.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66928" y="3772753"/>
            <a:ext cx="292608" cy="292608"/>
          </a:xfrm>
          <a:prstGeom prst="ellipse">
            <a:avLst/>
          </a:prstGeom>
          <a:solidFill>
            <a:srgbClr val="2457F5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3772753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3736177"/>
            <a:ext cx="6099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303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 nhóm thì chung container. Đổi state: </a:t>
            </a:r>
            <a:pPr indent="0" marL="0">
              <a:buNone/>
            </a:pPr>
            <a:r>
              <a:rPr lang="en-US" sz="1290" dirty="0">
                <a:solidFill>
                  <a:srgbClr val="2A303C"/>
                </a:solidFill>
                <a:highlight>
                  <a:srgbClr val="EEF1F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withAnimation</a:t>
            </a:r>
            <a:pPr indent="0" marL="0">
              <a:buNone/>
            </a:pPr>
            <a:r>
              <a:rPr lang="en-US" sz="1500" dirty="0">
                <a:solidFill>
                  <a:srgbClr val="2A303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66928" y="4138513"/>
            <a:ext cx="292608" cy="292608"/>
          </a:xfrm>
          <a:prstGeom prst="ellipse">
            <a:avLst/>
          </a:prstGeom>
          <a:solidFill>
            <a:srgbClr val="2457F5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4138513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4101937"/>
            <a:ext cx="6099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303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Chuyển động theo tay: spring giữ vận tốc.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66928" y="4504273"/>
            <a:ext cx="292608" cy="292608"/>
          </a:xfrm>
          <a:prstGeom prst="ellipse">
            <a:avLst/>
          </a:prstGeom>
          <a:solidFill>
            <a:srgbClr val="2457F5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" y="4504273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05840" y="4467697"/>
            <a:ext cx="6099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303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Shader đặt dưới glass, tắt khi không chạy.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66928" y="4870033"/>
            <a:ext cx="292608" cy="292608"/>
          </a:xfrm>
          <a:prstGeom prst="ellipse">
            <a:avLst/>
          </a:prstGeom>
          <a:solidFill>
            <a:srgbClr val="2457F5"/>
          </a:solidFill>
          <a:ln/>
        </p:spPr>
      </p:sp>
      <p:sp>
        <p:nvSpPr>
          <p:cNvPr id="22" name="Text 20"/>
          <p:cNvSpPr/>
          <p:nvPr/>
        </p:nvSpPr>
        <p:spPr>
          <a:xfrm>
            <a:off x="566928" y="4870033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05840" y="4833457"/>
            <a:ext cx="6099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303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Code tự viết tự đọc cài đặt. </a:t>
            </a:r>
            <a:pPr indent="0" marL="0">
              <a:buNone/>
            </a:pPr>
            <a:r>
              <a:rPr lang="en-US" sz="1500" dirty="0">
                <a:solidFill>
                  <a:srgbClr val="1215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Đo GPU trên máy thật.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66928" y="5418673"/>
            <a:ext cx="6537960" cy="685800"/>
          </a:xfrm>
          <a:prstGeom prst="roundRect">
            <a:avLst>
              <a:gd name="adj" fmla="val 16000"/>
            </a:avLst>
          </a:prstGeom>
          <a:solidFill>
            <a:srgbClr val="E8EEFF"/>
          </a:solidFill>
          <a:ln/>
        </p:spPr>
      </p:sp>
      <p:sp>
        <p:nvSpPr>
          <p:cNvPr id="25" name="Text 23"/>
          <p:cNvSpPr/>
          <p:nvPr/>
        </p:nvSpPr>
        <p:spPr>
          <a:xfrm>
            <a:off x="841248" y="5418673"/>
            <a:ext cx="5989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51C"/>
                </a:solidFill>
                <a:latin typeface="Bricolage Grotesque 96pt" pitchFamily="34" charset="0"/>
                <a:ea typeface="Bricolage Grotesque 96pt" pitchFamily="34" charset="-122"/>
                <a:cs typeface="Bricolage Grotesque 96pt" pitchFamily="34" charset="-120"/>
              </a:rPr>
              <a:t>“Mỗi phần tử Liquid Glass phải trả lời được: chạm vào thì phản hồi gì?”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7635240" y="1143000"/>
            <a:ext cx="3986784" cy="148132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sx="100000" sy="100000" kx="0" ky="0" algn="bl" rotWithShape="0" blurRad="127000" dist="38100" dir="5400000">
              <a:srgbClr val="1C2433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635240" y="1344168"/>
            <a:ext cx="64008" cy="1078992"/>
          </a:xfrm>
          <a:prstGeom prst="rect">
            <a:avLst/>
          </a:prstGeom>
          <a:solidFill>
            <a:srgbClr val="2457F5"/>
          </a:solidFill>
          <a:ln/>
        </p:spPr>
      </p:sp>
      <p:sp>
        <p:nvSpPr>
          <p:cNvPr id="28" name="Text 26"/>
          <p:cNvSpPr/>
          <p:nvPr/>
        </p:nvSpPr>
        <p:spPr>
          <a:xfrm>
            <a:off x="7927848" y="1362456"/>
            <a:ext cx="3483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457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Dùng đúng chỗ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927848" y="1783080"/>
            <a:ext cx="34838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A303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Glass nổi trên nội dung, không thay nội dung.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635240" y="2825496"/>
            <a:ext cx="3986784" cy="148132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sx="100000" sy="100000" kx="0" ky="0" algn="bl" rotWithShape="0" blurRad="127000" dist="38100" dir="5400000">
              <a:srgbClr val="1C2433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635240" y="3026664"/>
            <a:ext cx="64008" cy="1078992"/>
          </a:xfrm>
          <a:prstGeom prst="rect">
            <a:avLst/>
          </a:prstGeom>
          <a:solidFill>
            <a:srgbClr val="2457F5"/>
          </a:solidFill>
          <a:ln/>
        </p:spPr>
      </p:sp>
      <p:sp>
        <p:nvSpPr>
          <p:cNvPr id="32" name="Text 30"/>
          <p:cNvSpPr/>
          <p:nvPr/>
        </p:nvSpPr>
        <p:spPr>
          <a:xfrm>
            <a:off x="7927848" y="3044952"/>
            <a:ext cx="3483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457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Phản hồi cộng dồn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927848" y="3465576"/>
            <a:ext cx="34838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A303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 level thêm một lớp, không bỏ lớp trước.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7635240" y="4507992"/>
            <a:ext cx="3986784" cy="148132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sx="100000" sy="100000" kx="0" ky="0" algn="bl" rotWithShape="0" blurRad="127000" dist="38100" dir="5400000">
              <a:srgbClr val="1C2433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635240" y="4709160"/>
            <a:ext cx="64008" cy="1078992"/>
          </a:xfrm>
          <a:prstGeom prst="rect">
            <a:avLst/>
          </a:prstGeom>
          <a:solidFill>
            <a:srgbClr val="2457F5"/>
          </a:solidFill>
          <a:ln/>
        </p:spPr>
      </p:sp>
      <p:sp>
        <p:nvSpPr>
          <p:cNvPr id="36" name="Text 34"/>
          <p:cNvSpPr/>
          <p:nvPr/>
        </p:nvSpPr>
        <p:spPr>
          <a:xfrm>
            <a:off x="7927848" y="4727448"/>
            <a:ext cx="3483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457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Đo, không đoán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7927848" y="5148072"/>
            <a:ext cx="34838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A303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Instruments trên iPhone thật.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66928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5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Liquid Glass · Level by Level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023360" y="292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 thiệu</a:t>
            </a:r>
            <a:pPr algn="r" indent="0" marL="0">
              <a:buNone/>
            </a:pPr>
            <a:r>
              <a:rPr lang="en-US" sz="10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Level 1</a:t>
            </a:r>
            <a:pPr algn="r" indent="0" marL="0">
              <a:buNone/>
            </a:pPr>
            <a:r>
              <a:rPr lang="en-US" sz="10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Level 2</a:t>
            </a:r>
            <a:pPr algn="r" indent="0" marL="0">
              <a:buNone/>
            </a:pPr>
            <a:r>
              <a:rPr lang="en-US" sz="10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Level 3</a:t>
            </a:r>
            <a:pPr algn="r" indent="0" marL="0">
              <a:buNone/>
            </a:pPr>
            <a:r>
              <a:rPr lang="en-US" sz="10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Level 4</a:t>
            </a:r>
            <a:pPr algn="r" indent="0" marL="0">
              <a:buNone/>
            </a:pPr>
            <a:r>
              <a:rPr lang="en-US" sz="10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Cấu hình</a:t>
            </a:r>
            <a:pPr algn="r" indent="0" marL="0">
              <a:buNone/>
            </a:pPr>
            <a:r>
              <a:rPr lang="en-US" sz="10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Ví dụ</a:t>
            </a:r>
            <a:pPr algn="r" indent="0" marL="0">
              <a:buNone/>
            </a:pPr>
            <a:r>
              <a:rPr lang="en-US" sz="1000" dirty="0">
                <a:solidFill>
                  <a:srgbClr val="2457F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  Nguyên tắc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962059"/>
            <a:ext cx="6537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2457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NGUYÊN TẮC · ĐO, KHÔNG ĐOÁN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2474123"/>
            <a:ext cx="6537960" cy="574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12151C"/>
                </a:solidFill>
                <a:latin typeface="Bricolage Grotesque 96pt" pitchFamily="34" charset="0"/>
                <a:ea typeface="Bricolage Grotesque 96pt" pitchFamily="34" charset="-122"/>
                <a:cs typeface="Bricolage Grotesque 96pt" pitchFamily="34" charset="-120"/>
              </a:rPr>
              <a:t>Đo GPU trên máy thật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3268309"/>
            <a:ext cx="54864" cy="451104"/>
          </a:xfrm>
          <a:prstGeom prst="rect">
            <a:avLst/>
          </a:prstGeom>
          <a:solidFill>
            <a:srgbClr val="2457F5"/>
          </a:solidFill>
          <a:ln/>
        </p:spPr>
      </p:sp>
      <p:sp>
        <p:nvSpPr>
          <p:cNvPr id="5" name="Text 3"/>
          <p:cNvSpPr/>
          <p:nvPr/>
        </p:nvSpPr>
        <p:spPr>
          <a:xfrm>
            <a:off x="786384" y="3268309"/>
            <a:ext cx="6318504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A303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Glass vẽ trên GPU: 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215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dùng Instruments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A303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, không đoán.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03504" y="4030309"/>
            <a:ext cx="82296" cy="82296"/>
          </a:xfrm>
          <a:prstGeom prst="rect">
            <a:avLst/>
          </a:prstGeom>
          <a:solidFill>
            <a:srgbClr val="2457F5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3938869"/>
            <a:ext cx="6263640" cy="307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A303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Ngân sách: 16,7 ms (60 Hz) · 8,3 ms (120 Hz)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03504" y="4338157"/>
            <a:ext cx="82296" cy="82296"/>
          </a:xfrm>
          <a:prstGeom prst="rect">
            <a:avLst/>
          </a:prstGeom>
          <a:solidFill>
            <a:srgbClr val="2457F5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4246717"/>
            <a:ext cx="6263640" cy="307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A303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Nhiều phần tử glass: gom chung </a:t>
            </a:r>
            <a:pPr indent="0" marL="0">
              <a:buNone/>
            </a:pPr>
            <a:r>
              <a:rPr lang="en-US" sz="1204" dirty="0">
                <a:solidFill>
                  <a:srgbClr val="2A303C"/>
                </a:solidFill>
                <a:highlight>
                  <a:srgbClr val="EEF1F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GlassEffectContainer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3504" y="4646005"/>
            <a:ext cx="82296" cy="82296"/>
          </a:xfrm>
          <a:prstGeom prst="rect">
            <a:avLst/>
          </a:prstGeom>
          <a:solidFill>
            <a:srgbClr val="2457F5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4554565"/>
            <a:ext cx="6263640" cy="307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A303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Shader: </a:t>
            </a:r>
            <a:pPr indent="0" marL="0">
              <a:buNone/>
            </a:pPr>
            <a:r>
              <a:rPr lang="en-US" sz="1204" dirty="0">
                <a:solidFill>
                  <a:srgbClr val="2A303C"/>
                </a:solidFill>
                <a:highlight>
                  <a:srgbClr val="EEF1F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isEnabled: false</a:t>
            </a:r>
            <a:pPr indent="0" marL="0">
              <a:buNone/>
            </a:pPr>
            <a:r>
              <a:rPr lang="en-US" sz="1400" dirty="0">
                <a:solidFill>
                  <a:srgbClr val="2A303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 không chạy, compile trước lúc khởi động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03504" y="4953853"/>
            <a:ext cx="82296" cy="82296"/>
          </a:xfrm>
          <a:prstGeom prst="rect">
            <a:avLst/>
          </a:prstGeom>
          <a:solidFill>
            <a:srgbClr val="2457F5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4862413"/>
            <a:ext cx="6263640" cy="307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A303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Đo trên iPhone thật, ghi rõ model: simulator không phản ánh GPU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635240" y="1143000"/>
            <a:ext cx="3986784" cy="148132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sx="100000" sy="100000" kx="0" ky="0" algn="bl" rotWithShape="0" blurRad="127000" dist="38100" dir="5400000">
              <a:srgbClr val="1C2433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635240" y="1344168"/>
            <a:ext cx="64008" cy="1078992"/>
          </a:xfrm>
          <a:prstGeom prst="rect">
            <a:avLst/>
          </a:prstGeom>
          <a:solidFill>
            <a:srgbClr val="2457F5"/>
          </a:solidFill>
          <a:ln/>
        </p:spPr>
      </p:sp>
      <p:sp>
        <p:nvSpPr>
          <p:cNvPr id="16" name="Text 14"/>
          <p:cNvSpPr/>
          <p:nvPr/>
        </p:nvSpPr>
        <p:spPr>
          <a:xfrm>
            <a:off x="7927848" y="1362456"/>
            <a:ext cx="3483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457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Metal System Trace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927848" y="1783080"/>
            <a:ext cx="34838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A303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GPU mỗi frame.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635240" y="2825496"/>
            <a:ext cx="3986784" cy="148132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sx="100000" sy="100000" kx="0" ky="0" algn="bl" rotWithShape="0" blurRad="127000" dist="38100" dir="5400000">
              <a:srgbClr val="1C2433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635240" y="3026664"/>
            <a:ext cx="64008" cy="1078992"/>
          </a:xfrm>
          <a:prstGeom prst="rect">
            <a:avLst/>
          </a:prstGeom>
          <a:solidFill>
            <a:srgbClr val="2457F5"/>
          </a:solidFill>
          <a:ln/>
        </p:spPr>
      </p:sp>
      <p:sp>
        <p:nvSpPr>
          <p:cNvPr id="20" name="Text 18"/>
          <p:cNvSpPr/>
          <p:nvPr/>
        </p:nvSpPr>
        <p:spPr>
          <a:xfrm>
            <a:off x="7927848" y="3044952"/>
            <a:ext cx="3483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457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Shader.compile(as:)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927848" y="3465576"/>
            <a:ext cx="34838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A303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Tránh khựng lần đầu.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35240" y="4507992"/>
            <a:ext cx="3986784" cy="148132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sx="100000" sy="100000" kx="0" ky="0" algn="bl" rotWithShape="0" blurRad="127000" dist="38100" dir="5400000">
              <a:srgbClr val="1C2433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635240" y="4709160"/>
            <a:ext cx="64008" cy="1078992"/>
          </a:xfrm>
          <a:prstGeom prst="rect">
            <a:avLst/>
          </a:prstGeom>
          <a:solidFill>
            <a:srgbClr val="2457F5"/>
          </a:solidFill>
          <a:ln/>
        </p:spPr>
      </p:sp>
      <p:sp>
        <p:nvSpPr>
          <p:cNvPr id="24" name="Text 22"/>
          <p:cNvSpPr/>
          <p:nvPr/>
        </p:nvSpPr>
        <p:spPr>
          <a:xfrm>
            <a:off x="7927848" y="4727448"/>
            <a:ext cx="3483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457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isEnabled: false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927848" y="5148072"/>
            <a:ext cx="34838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A303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Tắt shader khi không cần.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66928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5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Liquid Glass · Level by Level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023360" y="292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 thiệu</a:t>
            </a:r>
            <a:pPr algn="r" indent="0" marL="0">
              <a:buNone/>
            </a:pPr>
            <a:r>
              <a:rPr lang="en-US" sz="10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Level 1</a:t>
            </a:r>
            <a:pPr algn="r" indent="0" marL="0">
              <a:buNone/>
            </a:pPr>
            <a:r>
              <a:rPr lang="en-US" sz="10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Level 2</a:t>
            </a:r>
            <a:pPr algn="r" indent="0" marL="0">
              <a:buNone/>
            </a:pPr>
            <a:r>
              <a:rPr lang="en-US" sz="10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Level 3</a:t>
            </a:r>
            <a:pPr algn="r" indent="0" marL="0">
              <a:buNone/>
            </a:pPr>
            <a:r>
              <a:rPr lang="en-US" sz="10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Level 4</a:t>
            </a:r>
            <a:pPr algn="r" indent="0" marL="0">
              <a:buNone/>
            </a:pPr>
            <a:r>
              <a:rPr lang="en-US" sz="10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Cấu hình</a:t>
            </a:r>
            <a:pPr algn="r" indent="0" marL="0">
              <a:buNone/>
            </a:pPr>
            <a:r>
              <a:rPr lang="en-US" sz="1000" dirty="0">
                <a:solidFill>
                  <a:srgbClr val="8C94A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 Ví dụ</a:t>
            </a:r>
            <a:pPr algn="r" indent="0" marL="0">
              <a:buNone/>
            </a:pPr>
            <a:r>
              <a:rPr lang="en-US" sz="1000" dirty="0">
                <a:solidFill>
                  <a:srgbClr val="2457F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  Nguyên tắc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41848" y="2377440"/>
            <a:ext cx="914400" cy="73152"/>
          </a:xfrm>
          <a:prstGeom prst="rect">
            <a:avLst/>
          </a:prstGeom>
          <a:solidFill>
            <a:srgbClr val="2457F5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697480"/>
            <a:ext cx="10360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2151C"/>
                </a:solidFill>
                <a:latin typeface="Bricolage Grotesque 96pt" pitchFamily="34" charset="0"/>
                <a:ea typeface="Bricolage Grotesque 96pt" pitchFamily="34" charset="-122"/>
                <a:cs typeface="Bricolage Grotesque 96pt" pitchFamily="34" charset="-120"/>
              </a:rPr>
              <a:t>Hỏi &amp; đáp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731520" y="3931920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D657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Demo </a:t>
            </a:r>
            <a:pPr algn="ctr" indent="0" marL="0">
              <a:buNone/>
            </a:pPr>
            <a:r>
              <a:rPr lang="en-US" sz="1800" dirty="0">
                <a:solidFill>
                  <a:srgbClr val="1215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LiquidGlassAdvanced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Trải nghiệm người dùng xuất sắc với Liquid Glass</dc:title>
  <dc:subject>Giới thiệu, 4 level, cấu hình hệ thống, ví dụ, nguyên tắc Liquid Glass</dc:subject>
  <dc:creator>PptxGenJS</dc:creator>
  <cp:lastModifiedBy>PptxGenJS</cp:lastModifiedBy>
  <cp:revision>1</cp:revision>
  <dcterms:created xsi:type="dcterms:W3CDTF">2026-10-05T17:55:55Z</dcterms:created>
  <dcterms:modified xsi:type="dcterms:W3CDTF">2026-10-05T17:55:55Z</dcterms:modified>
</cp:coreProperties>
</file>